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RCmQ084Hw1KiFJHJqXrKbUTp3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E66720-A712-47DA-8398-AA741A15ECEB}">
  <a:tblStyle styleId="{DEE66720-A712-47DA-8398-AA741A15EC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1920240"/>
            <a:ext cx="1072865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3429000"/>
            <a:ext cx="107286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TinyML 1D-CNN Encoder cho ESP32-S3 — Ước lượng AQI từ cảm biến giá rẻ</a:t>
            </a:r>
            <a:endParaRPr b="0" i="0" sz="2000" u="none" cap="none" strike="noStrike">
              <a:solidFill>
                <a:srgbClr val="DDEB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31520" y="4305672"/>
            <a:ext cx="10728655" cy="349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Ước lượng mức chất lượng không khí (AQI) từ Nhiệt độ, Độ ẩm, CO, NO2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Tháng 9,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457200" y="172730"/>
            <a:ext cx="112772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Triển khai phần cứng</a:t>
            </a:r>
            <a:endParaRPr b="1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Schematic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1469" y="1791120"/>
            <a:ext cx="5725638" cy="397984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472440" y="1271955"/>
            <a:ext cx="11247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Schematic</a:t>
            </a:r>
            <a:endParaRPr b="1" i="0" sz="1600" u="none" cap="none" strike="noStrike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Bối cảnh &amp; Mục tiêu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PCB Front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112" y="1933139"/>
            <a:ext cx="3835729" cy="383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5159" y="1933138"/>
            <a:ext cx="3835729" cy="383572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472440" y="1271955"/>
            <a:ext cx="11247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3D Model</a:t>
            </a:r>
            <a:endParaRPr b="1" i="0" sz="1600" u="none" cap="none" strike="noStrike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Bối cảnh &amp; Mục tiêu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472440" y="1271955"/>
            <a:ext cx="11247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Assemly</a:t>
            </a:r>
            <a:endParaRPr b="1" i="0" sz="1600" u="none" cap="none" strike="noStrike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5625" y="2013246"/>
            <a:ext cx="3755621" cy="3755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mbly View B" id="123" name="Google Shape;1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0536" y="2013245"/>
            <a:ext cx="3755621" cy="3755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Bối cảnh &amp; Mục tiêu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Xây dựng AI 1D-CNN siêu nhẹ (TinyML) chạy trực tiếp trên ESP32-S3 của hệ thống smart-air-cps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548640" y="1965960"/>
            <a:ext cx="5486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SHT3x</a:t>
            </a: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Nhiệt độ / Độ ẩm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GM702B</a:t>
            </a: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Nồng độ khí CO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GM102B</a:t>
            </a: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Nồng độ khí NO2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309360" y="1920240"/>
            <a:ext cx="5486400" cy="35661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6537960" y="2103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Chức năng chính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6537960" y="2571800"/>
            <a:ext cx="5029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Suy luận AQI cục bộ (4 lớp) → điều khiển relay/buzzer tại biên</a:t>
            </a:r>
            <a:endParaRPr b="0" i="0" sz="1400" u="none" cap="none" strike="noStrik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" y="5394960"/>
            <a:ext cx="11247120" cy="1051560"/>
          </a:xfrm>
          <a:prstGeom prst="rect">
            <a:avLst/>
          </a:prstGeom>
          <a:solidFill>
            <a:srgbClr val="FBE9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77240" y="548640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9770E"/>
                </a:solidFill>
                <a:latin typeface="Calibri"/>
                <a:ea typeface="Calibri"/>
                <a:cs typeface="Calibri"/>
                <a:sym typeface="Calibri"/>
              </a:rPr>
              <a:t>⚠ Ràng buộc cốt lõi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777240" y="58064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Thiết bị KHÔNG có cảm biến PM2.5 → bài toán virtual sensor / weak supervision: ước lượng AQI (định nghĩa theo PM2.5) chỉ từ 4 cảm biến rẻ, gián tiếp.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Kiến trúc mô hình AI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1D-CNN Encoder — thiết kế cho TinyML trên ESP32-S3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457200" y="16002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Tensor (Batch, 4, 24)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Cửa sổ 24 giờ × 4 kênh: [Temperature, Humidity, CO, NO2]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(khớp 100% thứ tự cảm biến phần cứng thật)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49427" y="2606040"/>
            <a:ext cx="1691640" cy="86868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Stem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Conv1D (k=5)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2141067" y="2907792"/>
            <a:ext cx="2286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369667" y="2606040"/>
            <a:ext cx="1691640" cy="86868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DW-Sep Conv1D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(k=5, s=2)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061307" y="2907792"/>
            <a:ext cx="2286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289907" y="2606040"/>
            <a:ext cx="1691640" cy="86868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DW-Sep Conv1D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(k=3, s=2)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981547" y="2907792"/>
            <a:ext cx="2286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210147" y="2606040"/>
            <a:ext cx="1691640" cy="86868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DW-Sep Conv1D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(k=3, s=1)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7901787" y="2907792"/>
            <a:ext cx="2286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130387" y="2606040"/>
            <a:ext cx="1691640" cy="868680"/>
          </a:xfrm>
          <a:prstGeom prst="roundRect">
            <a:avLst>
              <a:gd fmla="val 16667" name="adj"/>
            </a:avLst>
          </a:prstGeom>
          <a:solidFill>
            <a:srgbClr val="1AB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Avg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9822027" y="2907792"/>
            <a:ext cx="2286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0050627" y="2606040"/>
            <a:ext cx="1691640" cy="86868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 → 4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Toàn bộ dùng ReLU6 → lượng tử hoá INT8 ổn định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48640" y="4297680"/>
            <a:ext cx="5394960" cy="123444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731520" y="4389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Nhánh (a): logits (Batch, 4)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731520" y="475488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Softmax → 4 lớp AQI (Tốt/Trung bình/Kém/Xấu→Nguy hại)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Điều khiển relay/buzzer cục bộ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217920" y="4297680"/>
            <a:ext cx="5394960" cy="1234440"/>
          </a:xfrm>
          <a:prstGeom prst="rect">
            <a:avLst/>
          </a:prstGeom>
          <a:solidFill>
            <a:srgbClr val="DD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765E"/>
                </a:solidFill>
                <a:latin typeface="Calibri"/>
                <a:ea typeface="Calibri"/>
                <a:cs typeface="Calibri"/>
                <a:sym typeface="Calibri"/>
              </a:rPr>
              <a:t>Nhánh (b): embedding (Batch, 64)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6400800" y="475488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Lấy từ Global Average Pooling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Gửi lên Cloud cho LLM diễn giải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4.660 tham số (đã fold BatchNorm) · ~4,7 KB INT8 · &lt;1-2 ms suy luận trên ESP32-S3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Nhãn AQI — Ngưỡng phân loại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Theo QĐ 1459/QĐ-TCMT — dùng để tạo nhãn huấn luyện từ PM2.5</a:t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03707" y="1828800"/>
            <a:ext cx="2606040" cy="2011680"/>
          </a:xfrm>
          <a:prstGeom prst="roundRect">
            <a:avLst>
              <a:gd fmla="val 16667" name="adj"/>
            </a:avLst>
          </a:prstGeom>
          <a:solidFill>
            <a:srgbClr val="27AE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Tốt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≤ 25 µg/m³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329787" y="1828800"/>
            <a:ext cx="2606040" cy="2011680"/>
          </a:xfrm>
          <a:prstGeom prst="roundRect">
            <a:avLst>
              <a:gd fmla="val 16667" name="adj"/>
            </a:avLst>
          </a:prstGeom>
          <a:solidFill>
            <a:srgbClr val="F1C4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Trung bình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25 - 50 µg/m³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255867" y="1828800"/>
            <a:ext cx="2606040" cy="2011680"/>
          </a:xfrm>
          <a:prstGeom prst="roundRect">
            <a:avLst>
              <a:gd fmla="val 16667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Kém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50 - 80 µg/m³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9181947" y="1828800"/>
            <a:ext cx="2606040" cy="201168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Xấu → Nguy hại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 80 µg/m³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31520" y="4343400"/>
            <a:ext cx="106984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960120" y="448056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Ghi chú quan trọng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960120" y="4846320"/>
            <a:ext cx="10241280" cy="61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3 mức cao nhất (Kém, Xấu, Nguy hại) được gộp thành "Xấu → Nguy hại" vì dữ liệu ở các mức này quá thưa (chỉ 0,7% tổng số mẫu). Bài toán trở thành phân loại 4 lớp thay vì 5 lớp gốc.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Tập dữ liệu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Dữ liệu chính dùng để huấn luyện mô hình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57200" y="1280160"/>
            <a:ext cx="5394960" cy="44805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Phương án A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640080" y="17830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Air Quality Ho Chi Minh City.csv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640080" y="237744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52.548 dòng · 6 trạm</a:t>
            </a:r>
            <a:endParaRPr b="0" i="0" sz="1300" u="none" cap="none" strike="noStrik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23/02/2021 – 21/06/2022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Vai trò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Huấn luyện chính</a:t>
            </a:r>
            <a:endParaRPr b="0" i="0" sz="1200" u="none" cap="none" strike="noStrik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Nguồn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HealthyAir Project (Mendeley DOI 10.17632/pk6tzrjks8.1, bài báo PMC9720438)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Lưu ý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Đo bằng trạm tham chiếu, KHÔNG phải cảm biến giá rẻ thật</a:t>
            </a:r>
            <a:endParaRPr b="0" i="0" sz="1200" u="none" cap="none" strike="noStrik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309360" y="1280160"/>
            <a:ext cx="5394960" cy="4480560"/>
          </a:xfrm>
          <a:prstGeom prst="rect">
            <a:avLst/>
          </a:prstGeom>
          <a:solidFill>
            <a:srgbClr val="DD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6492240" y="14173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765E"/>
                </a:solidFill>
                <a:latin typeface="Calibri"/>
                <a:ea typeface="Calibri"/>
                <a:cs typeface="Calibri"/>
                <a:sym typeface="Calibri"/>
              </a:rPr>
              <a:t>Phương án B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6492240" y="17830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UCI Air Quality (De Vito et al.)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6492240" y="237744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9.357 giờ dữ liệu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Vai trò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Học đặc tính nhiễu cảm biến giá rẻ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Nguồn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archive.ics.uci.edu/dataset/360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Đặc điểm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Cảm biến MOX thật so với máy phân tích chuẩn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công khai khác đã khảo sát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Chưa dùng — đề xuất cho mở rộng trong tương lai</a:t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UCI Beijing Multi-Site Air-Quality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Beijing PM2.5 (Zenodo)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OpenAQ (dữ liệu toàn cầu, có Việt Nam)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Zenodo HCMC 2022-2026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SensEURCity</a:t>
            </a: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85 cảm biến giá rẻ thật, 3 thành phố châu Âu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Rouen NO2</a:t>
            </a: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9 cảm biến điện hoá thật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Bài báo tham khảo đã khảo sát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57200" y="1234440"/>
            <a:ext cx="3611880" cy="50292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640080" y="132588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1. Dự báo/Dữ liệu PM2.5 TP.HCM</a:t>
            </a:r>
            <a:endParaRPr/>
          </a:p>
        </p:txBody>
      </p:sp>
      <p:sp>
        <p:nvSpPr>
          <p:cNvPr id="229" name="Google Shape;229;p10"/>
          <p:cNvSpPr txBox="1"/>
          <p:nvPr/>
        </p:nvSpPr>
        <p:spPr>
          <a:xfrm>
            <a:off x="640080" y="1737360"/>
            <a:ext cx="32461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AI-based PM2.5 forecasting HCMC (ScienceDirect)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Spatio-temporal PM2.5 HCMC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Tác động của imputation dữ liệu lên dự báo AQ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251960" y="1234440"/>
            <a:ext cx="3611880" cy="50292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4434840" y="132588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2. Hiệu chuẩn cảm biến giá rẻ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4434840" y="1737360"/>
            <a:ext cx="32461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ML calibration IoT AQ sensors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Intelligent Calibration &amp; Virtual Sensing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ML calibration NO2/PM10 site-transferability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Few-shot calibration meta-learning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Vu et al.</a:t>
            </a:r>
            <a:r>
              <a:rPr b="0" i="0" lang="en-US" sz="10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Low-Cost CO Sensor Calibration Using 1D-CNN (hình mẫu trực tiếp)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SensEURCity dataset paper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Domain Adaptation-Based Deep Calibration PM2.5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8046720" y="1234440"/>
            <a:ext cx="3657600" cy="50292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8229600" y="1325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765E"/>
                </a:solidFill>
                <a:latin typeface="Calibri"/>
                <a:ea typeface="Calibri"/>
                <a:cs typeface="Calibri"/>
                <a:sym typeface="Calibri"/>
              </a:rPr>
              <a:t>3. TinyML / Edge AI cho AQ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8229600" y="1737360"/>
            <a:ext cx="32918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TinyML Models for Low-cost AQ Device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Real-Time AQ Predictions using TinyML (ACM)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Rethinking Temporal Models for TinyML (LSTM vs 1D-CNN)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Edge-deployable indoor AQ monitoring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Mã nguồn &amp; Pipeline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Các thành phần chính đã xây dựng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57200" y="1280160"/>
            <a:ext cx="11247120" cy="6583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594360" y="128016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src/data.py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3429000" y="1280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Load CSV, forward-fill, sinh nhãn AQI, chia 70/15/15, cửa sổ trượt L=24, Z-score</a:t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457200" y="1938528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594360" y="1938528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src/model.py</a:t>
            </a:r>
            <a:endParaRPr/>
          </a:p>
        </p:txBody>
      </p:sp>
      <p:sp>
        <p:nvSpPr>
          <p:cNvPr id="251" name="Google Shape;251;p11"/>
          <p:cNvSpPr txBox="1"/>
          <p:nvPr/>
        </p:nvSpPr>
        <p:spPr>
          <a:xfrm>
            <a:off x="3429000" y="193852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Kiến trúc CNN1DEncoder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57200" y="2596896"/>
            <a:ext cx="11247120" cy="6583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594360" y="2596896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src/losses.py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3429000" y="2596896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Class weights + Focal Loss — xử lý mất cân bằng lớp 67:1 ~ 108:1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457200" y="3255264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594360" y="3255264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src/dataset.py</a:t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3429000" y="325526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WindowDataset PyTorch + Gaussian jitter augmentation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57200" y="3913632"/>
            <a:ext cx="11247120" cy="6583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594360" y="3913632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src/train.py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3429000" y="391363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AdamW + ReduceLROnPlateau, early stopping theo F1-macro</a:t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57200" y="4572000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594360" y="457200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src/uci_calibration.py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3429000" y="45720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Phương án B: mô phỏng nhiễu cảm biến giá rẻ từ UCI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57200" y="5230368"/>
            <a:ext cx="11247120" cy="6583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594360" y="5230368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src/predict.py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3429000" y="523036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Test tay + cảnh báo Out-of-Distribution (OOD)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Kết quả huấn luyện — So sánh 2 phương án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Tập test</a:t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276" name="Google Shape;276;p12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graphicFrame>
        <p:nvGraphicFramePr>
          <p:cNvPr id="277" name="Google Shape;277;p12"/>
          <p:cNvGraphicFramePr/>
          <p:nvPr/>
        </p:nvGraphicFramePr>
        <p:xfrm>
          <a:off x="182880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{DEE66720-A712-47DA-8398-AA741A15ECEB}</a:tableStyleId>
              </a:tblPr>
              <a:tblGrid>
                <a:gridCol w="3931925"/>
                <a:gridCol w="2286000"/>
                <a:gridCol w="22860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Chỉ số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Phương án 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Phương án 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4E79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22222"/>
                          </a:solidFill>
                        </a:rPr>
                        <a:t>F1-macro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</a:rPr>
                        <a:t>0.309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</a:rPr>
                        <a:t>0.285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22222"/>
                          </a:solidFill>
                        </a:rPr>
                        <a:t>Balanced 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</a:rPr>
                        <a:t>0.438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</a:rPr>
                        <a:t>0.430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5F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22222"/>
                          </a:solidFill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</a:rPr>
                        <a:t>0.614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</a:rPr>
                        <a:t>0.617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22222"/>
                          </a:solidFill>
                        </a:rPr>
                        <a:t>Tham số mô hình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</a:rPr>
                        <a:t>4.660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22222"/>
                          </a:solidFill>
                        </a:rPr>
                        <a:t>4.660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p12"/>
          <p:cNvSpPr/>
          <p:nvPr/>
        </p:nvSpPr>
        <p:spPr>
          <a:xfrm>
            <a:off x="731520" y="4160520"/>
            <a:ext cx="10698480" cy="10515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960120" y="4279392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F1-macro giảm nhẹ ở Phương án B là kỳ vọng đúng — không phải mô hình kém đi, mà phản ánh input thực tế khó hơn (có nhiễu/cross-sensitivity giống cảm biến giá rẻ thật).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731520" y="5394960"/>
            <a:ext cx="10698480" cy="1051560"/>
          </a:xfrm>
          <a:prstGeom prst="rect">
            <a:avLst/>
          </a:prstGeom>
          <a:solidFill>
            <a:srgbClr val="FBE9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960120" y="5468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9770E"/>
                </a:solidFill>
                <a:latin typeface="Calibri"/>
                <a:ea typeface="Calibri"/>
                <a:cs typeface="Calibri"/>
                <a:sym typeface="Calibri"/>
              </a:rPr>
              <a:t>Phát hiện đáng chú ý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960120" y="576072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NO2 giá rẻ gần như không tương quan với nồng độ thật khi đứng một mình (R²=0,025), bị chi phối bởi nhiệt độ (hệ số 0,976) → minh chứng vấn đề cross-sensitivity của GM102B.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Công cụ kiểm thử &amp; Phát hiện OOD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src/predict.py</a:t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FE77F"/>
                </a:solidFill>
                <a:latin typeface="Consolas"/>
                <a:ea typeface="Consolas"/>
                <a:cs typeface="Consolas"/>
                <a:sym typeface="Consolas"/>
              </a:rPr>
              <a:t>python -m src.predict --window_csv vi_du_24h.csv          # 24 giờ dữ liệu thật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FE77F"/>
                </a:solidFill>
                <a:latin typeface="Consolas"/>
                <a:ea typeface="Consolas"/>
                <a:cs typeface="Consolas"/>
                <a:sym typeface="Consolas"/>
              </a:rPr>
              <a:t>python -m src.predict --temp 28.5 --humidity 65 --co 1200 --no2 90   # test nhanh</a:t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640080" y="3200400"/>
            <a:ext cx="108813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Nhập giá trị cảm biến (nhanh hoặc CSV 24 giờ đầy đủ)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●  Chạy suy luận, in xác suất 4 lớp AQI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Cảnh báo OOD</a:t>
            </a: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Tự động phát hiện nếu input vượt quá 3 độ lệch chuẩn so với phân bố huấn luyện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●  Ví dụ</a:t>
            </a: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—  Thử với nhiệt độ vùng lạnh 8°C sẽ bị gắn cờ Out-of-Distribution ngay lập tức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Giới hạn đã xác nhận &amp; Khuyến nghị</a:t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304" name="Google Shape;304;p14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548640" y="1444752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6" name="Google Shape;306;p14"/>
          <p:cNvSpPr txBox="1"/>
          <p:nvPr/>
        </p:nvSpPr>
        <p:spPr>
          <a:xfrm>
            <a:off x="1234440" y="13716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Không tổng quát hoá qua vùng địa lý khác</a:t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1234440" y="1755648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Chỉ đúng với khí hậu/nguồn ô nhiễm TP.HCM (18,5–42,8°C) — cần fine-tune riêng theo vùng triển khai.</a:t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1234440" y="257860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Cảm biến thật chưa được xác nhận</a:t>
            </a:r>
            <a:endParaRPr/>
          </a:p>
        </p:txBody>
      </p:sp>
      <p:sp>
        <p:nvSpPr>
          <p:cNvPr id="310" name="Google Shape;310;p14"/>
          <p:cNvSpPr txBox="1"/>
          <p:nvPr/>
        </p:nvSpPr>
        <p:spPr>
          <a:xfrm>
            <a:off x="1234440" y="2962656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Dữ liệu huấn luyện đo bằng trạm tham chiếu, không phải GM702B/GM102B thật — cần đối chiếu thực địa.</a:t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548640" y="3858768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1234440" y="378561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Một số trạm mất dữ liệu kéo dài</a:t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1234440" y="4169664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Trạm 1, 2, 5 mất dữ liệu ở nửa sau chuỗi thời gian — giảm đa dạng mẫu val/test.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548640" y="5065776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5" name="Google Shape;315;p14"/>
          <p:cNvSpPr txBox="1"/>
          <p:nvPr/>
        </p:nvSpPr>
        <p:spPr>
          <a:xfrm>
            <a:off x="1234440" y="4992624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Lớp "Xấu → Nguy hại" quá ít mẫu</a:t>
            </a:r>
            <a:endParaRPr/>
          </a:p>
        </p:txBody>
      </p:sp>
      <p:sp>
        <p:nvSpPr>
          <p:cNvPr id="316" name="Google Shape;316;p14"/>
          <p:cNvSpPr txBox="1"/>
          <p:nvPr/>
        </p:nvSpPr>
        <p:spPr>
          <a:xfrm>
            <a:off x="1234440" y="5376672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Chỉ 198/12/7 mẫu train/val/test — số liệu trên lớp này cần diễn giải thận trọng.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Chưa làm — Giai đoạn 3 tiếp theo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457200" y="65836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Nằm ngoài phạm vi hiện tại</a:t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365760" y="65105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Smart-Air — TinyML 1D-CNN cho ESP32-S3</a:t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11094415" y="651052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548640" y="1554480"/>
            <a:ext cx="3611880" cy="420624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548640" y="1554480"/>
            <a:ext cx="361188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777240" y="178308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Export ONNX → TFLite → INT8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777240" y="2651760"/>
            <a:ext cx="31546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Thiết kế đã sẵn sàng nhưng máy chưa cài onnx, onnx2tf, tensorflow. Input/output shape tĩnh, chỉ dùng op TFLite Micro hỗ trợ.</a:t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4343400" y="1554480"/>
            <a:ext cx="3611880" cy="420624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4572000" y="178308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Firmware C++ (ESP-IDF)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4572000" y="2651760"/>
            <a:ext cx="31546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Repo smart-air-cps chưa có module TFLite/inference trong firmware/components — cần bổ sung ở giai đoạn 4.</a:t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8138160" y="1554480"/>
            <a:ext cx="3611880" cy="420624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8138160" y="1554480"/>
            <a:ext cx="361188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8366760" y="178308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Hiệu chuẩn thực địa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8366760" y="2651760"/>
            <a:ext cx="31546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Chưa thực hiện đợt đối chiếu board thật với trạm tham chiếu (Phương án A đầy đủ).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 txBox="1"/>
          <p:nvPr/>
        </p:nvSpPr>
        <p:spPr>
          <a:xfrm>
            <a:off x="731520" y="1188720"/>
            <a:ext cx="107286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Tóm tắt &amp; Kết luận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1188720" y="2286000"/>
            <a:ext cx="9814255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 Mô hình 1D-CNN 4.660 tham số, ~4,7 KB INT8, phù hợp ESP32-S3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 Đã huấn luyện thành công 2 phương án (dữ liệu sạch &amp; mô phỏng nhiễu)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 Xác định rõ giới hạn: cần fine-tune theo vùng, cần hiệu chuẩn thực địa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 Tiếp theo: export TFLite INT8 + tích hợp firmware ESP-IDF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DDEBF7"/>
                </a:solidFill>
                <a:latin typeface="Calibri"/>
                <a:ea typeface="Calibri"/>
                <a:cs typeface="Calibri"/>
                <a:sym typeface="Calibri"/>
              </a:rPr>
              <a:t>Cảm ơn đã theo dõi!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