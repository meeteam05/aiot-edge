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6" r:id="rId2"/>
    <p:sldId id="305" r:id="rId3"/>
    <p:sldId id="306" r:id="rId4"/>
    <p:sldId id="307" r:id="rId5"/>
    <p:sldId id="308" r:id="rId6"/>
    <p:sldId id="309" r:id="rId7"/>
    <p:sldId id="297" r:id="rId8"/>
    <p:sldId id="300" r:id="rId9"/>
    <p:sldId id="303" r:id="rId10"/>
    <p:sldId id="304" r:id="rId11"/>
    <p:sldId id="264" r:id="rId12"/>
    <p:sldId id="265" r:id="rId13"/>
    <p:sldId id="266" r:id="rId14"/>
    <p:sldId id="301" r:id="rId15"/>
    <p:sldId id="302" r:id="rId16"/>
    <p:sldId id="275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8" autoAdjust="0"/>
    <p:restoredTop sz="95657" autoAdjust="0"/>
  </p:normalViewPr>
  <p:slideViewPr>
    <p:cSldViewPr>
      <p:cViewPr varScale="1">
        <p:scale>
          <a:sx n="102" d="100"/>
          <a:sy n="102" d="100"/>
        </p:scale>
        <p:origin x="144" y="18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9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15.2.%20Di%20&#273;&#7897;ng%20-%20Tu&#7847;n%202_CK%20.ppt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eTeam05/smart-air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Môn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Phát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triển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ứng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động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Tuần</a:t>
            </a:r>
            <a:r>
              <a:rPr lang="en-US" dirty="0">
                <a:solidFill>
                  <a:srgbClr val="FF0000"/>
                </a:solidFill>
              </a:rPr>
              <a:t> 4-Project </a:t>
            </a:r>
            <a:r>
              <a:rPr lang="en-US" dirty="0" err="1">
                <a:solidFill>
                  <a:srgbClr val="FF0000"/>
                </a:solidFill>
              </a:rPr>
              <a:t>cuối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kì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vi-VN" sz="2800" b="1" i="0" dirty="0">
                <a:solidFill>
                  <a:srgbClr val="1B2A4A"/>
                </a:solidFill>
                <a:latin typeface="Calibri"/>
              </a:rPr>
              <a:t>Pipeline đã xây </a:t>
            </a:r>
            <a:r>
              <a:rPr lang="vi-VN" sz="2800" b="1" i="0">
                <a:solidFill>
                  <a:srgbClr val="1B2A4A"/>
                </a:solidFill>
                <a:latin typeface="Calibri"/>
              </a:rPr>
              <a:t>dựng (TypeScript</a:t>
            </a:r>
            <a:r>
              <a:rPr lang="vi-VN" sz="2800" b="1" i="0" dirty="0">
                <a:solidFill>
                  <a:srgbClr val="1B2A4A"/>
                </a:solidFill>
                <a:latin typeface="Calibri"/>
              </a:rPr>
              <a:t>/React Native)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323E2-617E-42A4-9B01-BBACDCD0A0D7}"/>
              </a:ext>
            </a:extLst>
          </p:cNvPr>
          <p:cNvSpPr txBox="1"/>
          <p:nvPr/>
        </p:nvSpPr>
        <p:spPr>
          <a:xfrm>
            <a:off x="640080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app/ (Expo Router)  Toàn bộ route: (app), (auth), devices/[id], homes, provision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src/theme/  Design System: palette, tokens, icons, textStyles, useColors — hoàn thành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src/components/atoms, shell  Thành phần UI dùng chung, xây mới theo phong cách thiết kế của bản Flutter gốc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src/queries/  React Query: useDevices(), useHomes()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A3EB4-766E-40B7-B0FF-7B4E574F35B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4696" y="1828800"/>
            <a:ext cx="58674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src/stores/authStore.ts  Zustand — quản lý state đăng nhập</a:t>
            </a:r>
            <a:endParaRPr lang="en-US" sz="1500" dirty="0">
              <a:solidFill>
                <a:srgbClr val="1B2A4A"/>
              </a:solidFill>
              <a:latin typeface="Calibri"/>
            </a:endParaRPr>
          </a:p>
          <a:p>
            <a:pPr marL="0" indent="0">
              <a:spcAft>
                <a:spcPts val="1800"/>
              </a:spcAft>
              <a:buNone/>
            </a:pPr>
            <a:endParaRPr sz="1500" dirty="0">
              <a:solidFill>
                <a:srgbClr val="1B2A4A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src/models/device.ts  Định nghĩa type Device (TypeScript strict)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src/api/  Lớp gọi API — hiện còn trống, chưa nối server thật</a:t>
            </a:r>
            <a:endParaRPr sz="1500" dirty="0">
              <a:solidFill>
                <a:srgbClr val="1B2A4A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package.json / tsconfig.json  Stack: Expo SDK 57, TypeScript, StyleSheet thuần</a:t>
            </a:r>
          </a:p>
        </p:txBody>
      </p:sp>
    </p:spTree>
    <p:extLst>
      <p:ext uri="{BB962C8B-B14F-4D97-AF65-F5344CB8AC3E}">
        <p14:creationId xmlns:p14="http://schemas.microsoft.com/office/powerpoint/2010/main" val="22377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Tiến độ xây dựng theo module (App)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DCDD-6532-4D56-8CD4-699327D8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52F6B3-3B26-49C3-9B69-74050CECF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52933"/>
              </p:ext>
            </p:extLst>
          </p:nvPr>
        </p:nvGraphicFramePr>
        <p:xfrm>
          <a:off x="508000" y="1295400"/>
          <a:ext cx="11074400" cy="5170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6200" marR="76200" marT="38100" marB="38100" anchor="ctr">
                    <a:solidFill>
                      <a:srgbClr val="2E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Trạng thái</a:t>
                      </a:r>
                    </a:p>
                  </a:txBody>
                  <a:tcPr marL="76200" marR="76200" marT="38100" marB="38100" anchor="ctr">
                    <a:solidFill>
                      <a:srgbClr val="2E4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Design System (palette, tokens, icons, textStyles, useColors)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Hoàn thành 5/5 (100%)</a:t>
                      </a:r>
                    </a:p>
                    <a:p>
                      <a:endParaRPr sz="2000" dirty="0" err="1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Atoms (17 component)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4/17 xong (~24%) — thiếu PrimaryButton, Card, Field, RelayCard...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Shell (4 component)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2 xong, 1 đang sửa (BottomNav), 1 chưa xác nhận (AppShell)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Navigation (Expo Router)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Đã dựng xong cấu trúc route, đã fix lỗi thiếu Tabs.Screen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Screens — Home / Provision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Home đang test; Provision route vào được, chưa test kỹ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688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Screens — Devices / Homes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Chưa test (0/5 và 0/2 màn hình)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56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5400" y="531876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1B2A4A"/>
                </a:solidFill>
                <a:latin typeface="Calibri"/>
              </a:rPr>
              <a:t>Tổng kết tiến độ — App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874506"/>
              </p:ext>
            </p:extLst>
          </p:nvPr>
        </p:nvGraphicFramePr>
        <p:xfrm>
          <a:off x="670560" y="2078736"/>
          <a:ext cx="6035040" cy="2913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Hạng mục</a:t>
                      </a:r>
                    </a:p>
                  </a:txBody>
                  <a:tcPr marL="76200" marR="76200" marT="38100" marB="38100" anchor="ctr">
                    <a:solidFill>
                      <a:srgbClr val="E8A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Trạng thái</a:t>
                      </a:r>
                    </a:p>
                  </a:txBody>
                  <a:tcPr marL="76200" marR="76200" marT="38100" marB="38100" anchor="ctr">
                    <a:solidFill>
                      <a:srgbClr val="E8A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Kết quả</a:t>
                      </a:r>
                    </a:p>
                  </a:txBody>
                  <a:tcPr marL="76200" marR="76200" marT="38100" marB="38100" anchor="ctr">
                    <a:solidFill>
                      <a:srgbClr val="E8A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Design System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Hoàn thành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5/5 file (Palette, Tokens, Icons, TextStyles, useColors)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1B2A4A"/>
                          </a:solidFill>
                          <a:latin typeface="Calibri"/>
                        </a:rPr>
                        <a:t>Navigation</a:t>
                      </a:r>
                      <a:endParaRPr sz="140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Hoàn thành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Cấu trúc route đầy đủ bằng Expo Router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Atoms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Đang làm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4/17 component đã </a:t>
                      </a:r>
                      <a:r>
                        <a:rPr lang="en-US" sz="1400">
                          <a:solidFill>
                            <a:srgbClr val="1B2A4A"/>
                          </a:solidFill>
                          <a:latin typeface="Calibri"/>
                        </a:rPr>
                        <a:t>hoàn thành</a:t>
                      </a:r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 (GhostButton, Pill, EmptyState, DotLogo)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Shell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Đang làm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B2A4A"/>
                          </a:solidFill>
                          <a:latin typeface="Calibri"/>
                        </a:rPr>
                        <a:t>2/4 component </a:t>
                      </a:r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đã </a:t>
                      </a:r>
                      <a:r>
                        <a:rPr lang="en-US" sz="1400">
                          <a:solidFill>
                            <a:srgbClr val="1B2A4A"/>
                          </a:solidFill>
                          <a:latin typeface="Calibri"/>
                        </a:rPr>
                        <a:t>hoàn thành</a:t>
                      </a:r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B2A4A"/>
                          </a:solidFill>
                          <a:latin typeface="Calibri"/>
                        </a:rPr>
                        <a:t>(AppBar, BleStepShell)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40880" y="1691640"/>
            <a:ext cx="4480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A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600" b="1">
                <a:solidFill>
                  <a:srgbClr val="B05A00"/>
                </a:solidFill>
                <a:latin typeface="Calibri"/>
              </a:rPr>
              <a:t>✓ Nền tảng UI (Design System + Navigation) đã hoàn thiện.</a:t>
            </a:r>
          </a:p>
          <a:p>
            <a:pPr>
              <a:spcBef>
                <a:spcPts val="1200"/>
              </a:spcBef>
            </a:pPr>
            <a:r>
              <a:rPr sz="1450">
                <a:solidFill>
                  <a:srgbClr val="1B2A4A"/>
                </a:solidFill>
                <a:latin typeface="Calibri"/>
              </a:rPr>
              <a:t>Đang tiếp tục ráp các Atoms và Shell còn lại để hoàn thiện màn hình chính.</a:t>
            </a:r>
          </a:p>
          <a:p>
            <a:pPr>
              <a:spcBef>
                <a:spcPts val="1200"/>
              </a:spcBef>
            </a:pPr>
            <a:r>
              <a:rPr sz="1450" i="1">
                <a:solidFill>
                  <a:srgbClr val="5A5A5A"/>
                </a:solidFill>
                <a:latin typeface="Calibri"/>
              </a:rPr>
              <a:t>→ Sau khi xong khung UI sẽ chuyển sang nối dữ liệu thật.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Smart-Air — App mới (TypeScript/React Native)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320040"/>
            <a:ext cx="643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3EB489"/>
                </a:solidFill>
                <a:latin typeface="Calibri"/>
              </a:rPr>
              <a:t>HƯỚNG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6124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App — việc còn lại trước khi nối backend thật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05840" cy="38100"/>
          </a:xfrm>
          <a:prstGeom prst="rect">
            <a:avLst/>
          </a:prstGeom>
          <a:solidFill>
            <a:srgbClr val="3E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 dirty="0">
                <a:solidFill>
                  <a:srgbClr val="3EB489"/>
                </a:solidFill>
                <a:latin typeface="Calibri"/>
              </a:rPr>
              <a:t>●  Hoàn tất 13 Atoms còn thiếu (ưu tiên PrimaryButton, Card, Field) rồi test đủ luồng UI (Devices, Homes hiện mới 20%).</a:t>
            </a:r>
          </a:p>
          <a:p>
            <a:pPr>
              <a:spcAft>
                <a:spcPts val="1800"/>
              </a:spcAft>
            </a:pPr>
            <a:r>
              <a:rPr sz="1700" b="1" dirty="0">
                <a:solidFill>
                  <a:srgbClr val="3EB489"/>
                </a:solidFill>
                <a:latin typeface="Calibri"/>
              </a:rPr>
              <a:t>●  Nối API/auth thật — hiện 100% đang chạy bằng mock data, chưa có token thật.</a:t>
            </a:r>
          </a:p>
          <a:p>
            <a:pPr>
              <a:spcAft>
                <a:spcPts val="1800"/>
              </a:spcAft>
            </a:pPr>
            <a:r>
              <a:rPr sz="1700" b="1" dirty="0">
                <a:solidFill>
                  <a:srgbClr val="3EB489"/>
                </a:solidFill>
                <a:latin typeface="Calibri"/>
              </a:rPr>
              <a:t>●  Tham khảo lại bản Flutter gốc để đảm bảo giao diện nhất quán, không cần khớp pixel tuyệt đối.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Smart-Air — App mới (TypeScript/React Native)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320040"/>
            <a:ext cx="643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3EB489"/>
                </a:solidFill>
                <a:latin typeface="Calibri"/>
              </a:rPr>
              <a:t>DEMO 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6124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Một số màn hình đã dựng được (App)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05840" cy="38100"/>
          </a:xfrm>
          <a:prstGeom prst="rect">
            <a:avLst/>
          </a:prstGeom>
          <a:solidFill>
            <a:srgbClr val="3E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Smart-Air — App mới (TypeScript/React Native)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CD4FA0-873E-961B-04C5-41776D96F6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00904"/>
            <a:ext cx="1802205" cy="4231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A51EB3-AE79-0F89-9F3A-82BFF1094C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0" y="1497095"/>
            <a:ext cx="1802205" cy="42311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36F512-342C-56D1-9DCA-4BA4B2FE55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800" y="1500904"/>
            <a:ext cx="1802205" cy="4231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FB51D6-E431-590F-4965-838A0390D4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0" y="1483828"/>
            <a:ext cx="1802205" cy="42311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04063E-0961-8BBC-968F-25C94AEC07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1483828"/>
            <a:ext cx="1802205" cy="42311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711262-EA80-50EC-5851-2CAE684F0F2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0" y="1483828"/>
            <a:ext cx="1802205" cy="4231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vi-VN" sz="2800" b="1" i="0" dirty="0">
                <a:solidFill>
                  <a:srgbClr val="1B2A4A"/>
                </a:solidFill>
                <a:latin typeface="Calibri"/>
              </a:rPr>
              <a:t>Pipeline đã xây dựng (thư mục src/)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323E2-617E-42A4-9B01-BBACDCD0A0D7}"/>
              </a:ext>
            </a:extLst>
          </p:cNvPr>
          <p:cNvSpPr txBox="1"/>
          <p:nvPr/>
        </p:nvSpPr>
        <p:spPr>
          <a:xfrm>
            <a:off x="640080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train.py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Huấn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luyện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AdamW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+ early stopping,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xuất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checkpoint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cho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firmware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uci_calibration.py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Mô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phỏng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nhiễu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cảm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biến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giá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rẻ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(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Phương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án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B)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predict.py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Test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tay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+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cảnh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báo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out-of-distribution (OOD)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calibrate_bias.py / ensemble_eval.py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Hiệu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chuẩn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bias + ensemble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nhiều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checkpoint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A3EB4-766E-40B7-B0FF-7B4E574F35B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4696" y="1828800"/>
            <a:ext cx="58674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data.py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Load CSV, forward-fill,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sinh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nhãn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AQI, </a:t>
            </a:r>
            <a:endParaRPr lang="en-US" sz="1500" dirty="0">
              <a:solidFill>
                <a:srgbClr val="1B2A4A"/>
              </a:solidFill>
              <a:latin typeface="Calibri"/>
            </a:endParaRPr>
          </a:p>
          <a:p>
            <a:pPr marL="0" indent="0">
              <a:spcAft>
                <a:spcPts val="1800"/>
              </a:spcAft>
              <a:buNone/>
            </a:pPr>
            <a:r>
              <a:rPr sz="1500" dirty="0">
                <a:solidFill>
                  <a:srgbClr val="1B2A4A"/>
                </a:solidFill>
                <a:latin typeface="Calibri"/>
              </a:rPr>
              <a:t>chia train/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val</a:t>
            </a:r>
            <a:r>
              <a:rPr sz="1500" dirty="0">
                <a:solidFill>
                  <a:srgbClr val="1B2A4A"/>
                </a:solidFill>
                <a:latin typeface="Calibri"/>
              </a:rPr>
              <a:t>/test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theo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thời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gian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/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trạm</a:t>
            </a:r>
            <a:endParaRPr sz="1500" dirty="0">
              <a:solidFill>
                <a:srgbClr val="1B2A4A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model.py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Kiến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trúc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CNN1DEncoder</a:t>
            </a: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losses.py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Class weights + Focal Loss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xử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lý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mất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cân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bằng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lớp</a:t>
            </a:r>
            <a:endParaRPr sz="1500" dirty="0">
              <a:solidFill>
                <a:srgbClr val="1B2A4A"/>
              </a:solidFill>
              <a:latin typeface="Calibri"/>
            </a:endParaRPr>
          </a:p>
          <a:p>
            <a:pPr>
              <a:spcAft>
                <a:spcPts val="1800"/>
              </a:spcAft>
            </a:pPr>
            <a:r>
              <a:rPr sz="1500" b="1" dirty="0">
                <a:solidFill>
                  <a:srgbClr val="3EB489"/>
                </a:solidFill>
                <a:latin typeface="Calibri"/>
              </a:rPr>
              <a:t>●  dataset.py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WindowDataset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+ augmentation</a:t>
            </a:r>
          </a:p>
        </p:txBody>
      </p:sp>
    </p:spTree>
    <p:extLst>
      <p:ext uri="{BB962C8B-B14F-4D97-AF65-F5344CB8AC3E}">
        <p14:creationId xmlns:p14="http://schemas.microsoft.com/office/powerpoint/2010/main" val="223777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Các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thay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đổi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mã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nguồn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đã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thực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hiện</a:t>
            </a:r>
            <a:r>
              <a:rPr lang="en-US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1B2A4A"/>
                </a:solidFill>
                <a:latin typeface="Calibri"/>
              </a:rPr>
              <a:t>để</a:t>
            </a:r>
            <a:r>
              <a:rPr lang="en-US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1B2A4A"/>
                </a:solidFill>
                <a:latin typeface="Calibri"/>
              </a:rPr>
              <a:t>tối</a:t>
            </a:r>
            <a:r>
              <a:rPr lang="en-US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1B2A4A"/>
                </a:solidFill>
                <a:latin typeface="Calibri"/>
              </a:rPr>
              <a:t>ưu</a:t>
            </a:r>
            <a:r>
              <a:rPr lang="en-US" dirty="0">
                <a:solidFill>
                  <a:srgbClr val="1B2A4A"/>
                </a:solidFill>
                <a:latin typeface="Calibri"/>
              </a:rPr>
              <a:t> accuracy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DCDD-6532-4D56-8CD4-699327D8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52F6B3-3B26-49C3-9B69-74050CECF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76321"/>
              </p:ext>
            </p:extLst>
          </p:nvPr>
        </p:nvGraphicFramePr>
        <p:xfrm>
          <a:off x="508000" y="1295400"/>
          <a:ext cx="11074400" cy="5109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6200" marR="76200" marT="38100" marB="38100" anchor="ctr">
                    <a:solidFill>
                      <a:srgbClr val="2E4B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Thay đổi chính</a:t>
                      </a:r>
                    </a:p>
                  </a:txBody>
                  <a:tcPr marL="76200" marR="76200" marT="38100" marB="38100" anchor="ctr">
                    <a:solidFill>
                      <a:srgbClr val="2E4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model.py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Mở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rộng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filter 16→32→64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thành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32→64→128;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thêm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embedding hour/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dow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; Dropout 0.3</a:t>
                      </a:r>
                    </a:p>
                    <a:p>
                      <a:r>
                        <a:rPr sz="1600" dirty="0"/>
                        <a:t>(4,660 → 16,752 </a:t>
                      </a:r>
                      <a:r>
                        <a:rPr sz="1600" dirty="0" err="1"/>
                        <a:t>tham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số</a:t>
                      </a:r>
                      <a:r>
                        <a:rPr sz="1600" dirty="0"/>
                        <a:t>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data.py / dataset.py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Trích xuất + truyền thêm hour_of_day, day_of_week vào input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train.py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Thêm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cờ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--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no_class_weight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(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tắt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class-weighting);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chọn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checkpoint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theo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val_accuracy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thay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vì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val_f1_macro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predict.py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Hỗ trợ ensemble nhiều checkpoint + --calibration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calibrate_bias.py (mới)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Hiệu chuẩn bias (logit adjustment) cho các lớp hiếm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688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B2A4A"/>
                          </a:solidFill>
                          <a:latin typeface="Calibri"/>
                        </a:rPr>
                        <a:t>ensemble_eval.py (mới)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Đánh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giá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+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xuất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gói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triển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khai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ensemble </a:t>
                      </a:r>
                      <a:r>
                        <a:rPr sz="2000" dirty="0" err="1">
                          <a:solidFill>
                            <a:srgbClr val="1B2A4A"/>
                          </a:solidFill>
                          <a:latin typeface="Calibri"/>
                        </a:rPr>
                        <a:t>nhiều</a:t>
                      </a:r>
                      <a:r>
                        <a:rPr sz="2000" dirty="0">
                          <a:solidFill>
                            <a:srgbClr val="1B2A4A"/>
                          </a:solidFill>
                          <a:latin typeface="Calibri"/>
                        </a:rPr>
                        <a:t> checkpoint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561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Đòn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bẩy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chính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&amp;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lộ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trình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cải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thiện</a:t>
            </a:r>
            <a:endParaRPr lang="en-US" sz="28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1CEFE0-585E-484B-9D7E-C79ACB510B4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Phát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hiện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gốc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rễ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baseline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ngây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thơ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(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luôn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đoán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"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Tốt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")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đã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đạt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79.9% — model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có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class-weighting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chỉ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61.4%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vì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chủ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động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đánh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đổi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Accuracy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để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bắt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lớp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hiếm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--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no_class_weight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đòn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bẩy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lớn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nhất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, +16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điểm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(0.603 → 0.763).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LR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thấp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hơn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+ patience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dài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hơn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+1.7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điểm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Tắt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jitter augmentation: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+0.7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điểm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→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đợt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1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dừng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ở 78.64% (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gần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kiến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trúc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/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dữ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liệu</a:t>
            </a:r>
            <a:r>
              <a:rPr sz="1550" dirty="0">
                <a:solidFill>
                  <a:srgbClr val="1B2A4A"/>
                </a:solidFill>
                <a:latin typeface="Calibri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Kiểm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chứng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bằng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RandomForest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/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GradientBoosting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xác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nhận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85% KHÔNG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khả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—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nằm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ở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lượng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thông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tin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từ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4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cảm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biến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,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không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phải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do CNN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nhỏ</a:t>
            </a:r>
            <a:r>
              <a:rPr sz="15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Hiệu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chuẩn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bias + Ensemble 6 checkpoint: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cải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thiện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thực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chất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cuối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cùng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,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không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đổi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kiến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trúc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→ 80.25%.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0EBFC1-E611-44B0-8FFB-3BF34BB05A17}"/>
              </a:ext>
            </a:extLst>
          </p:cNvPr>
          <p:cNvSpPr/>
          <p:nvPr/>
        </p:nvSpPr>
        <p:spPr>
          <a:xfrm>
            <a:off x="685800" y="507492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5875">
            <a:solidFill>
              <a:srgbClr val="3EB4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t"/>
          <a:lstStyle/>
          <a:p>
            <a:pPr algn="ctr"/>
            <a:r>
              <a:rPr sz="1500" b="1" dirty="0">
                <a:solidFill>
                  <a:srgbClr val="1B2A4A"/>
                </a:solidFill>
                <a:latin typeface="Calibri"/>
              </a:rPr>
              <a:t>61.4%</a:t>
            </a:r>
          </a:p>
          <a:p>
            <a:pPr algn="ctr"/>
            <a:r>
              <a:rPr sz="1150" dirty="0">
                <a:solidFill>
                  <a:srgbClr val="5A5A5A"/>
                </a:solidFill>
                <a:latin typeface="Calibri"/>
              </a:rPr>
              <a:t>Model </a:t>
            </a:r>
            <a:r>
              <a:rPr sz="1150" dirty="0" err="1">
                <a:solidFill>
                  <a:srgbClr val="5A5A5A"/>
                </a:solidFill>
                <a:latin typeface="Calibri"/>
              </a:rPr>
              <a:t>gốc</a:t>
            </a:r>
            <a:r>
              <a:rPr sz="1150" dirty="0">
                <a:solidFill>
                  <a:srgbClr val="5A5A5A"/>
                </a:solidFill>
                <a:latin typeface="Calibri"/>
              </a:rPr>
              <a:t> (class-weighting)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83E0F-18F9-4777-B447-9BEE5F538DE2}"/>
              </a:ext>
            </a:extLst>
          </p:cNvPr>
          <p:cNvSpPr/>
          <p:nvPr/>
        </p:nvSpPr>
        <p:spPr>
          <a:xfrm>
            <a:off x="4343400" y="507492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5875">
            <a:solidFill>
              <a:srgbClr val="3EB4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t"/>
          <a:lstStyle/>
          <a:p>
            <a:pPr algn="ctr"/>
            <a:r>
              <a:rPr sz="1500" b="1" dirty="0">
                <a:solidFill>
                  <a:srgbClr val="1B2A4A"/>
                </a:solidFill>
                <a:latin typeface="Calibri"/>
              </a:rPr>
              <a:t>78.64%</a:t>
            </a:r>
          </a:p>
          <a:p>
            <a:pPr algn="ctr"/>
            <a:r>
              <a:rPr sz="1150" dirty="0">
                <a:solidFill>
                  <a:srgbClr val="5A5A5A"/>
                </a:solidFill>
                <a:latin typeface="Calibri"/>
              </a:rPr>
              <a:t>--</a:t>
            </a:r>
            <a:r>
              <a:rPr sz="1150" dirty="0" err="1">
                <a:solidFill>
                  <a:srgbClr val="5A5A5A"/>
                </a:solidFill>
                <a:latin typeface="Calibri"/>
              </a:rPr>
              <a:t>no_class_weight</a:t>
            </a:r>
            <a:r>
              <a:rPr sz="1150" dirty="0">
                <a:solidFill>
                  <a:srgbClr val="5A5A5A"/>
                </a:solidFill>
                <a:latin typeface="Calibri"/>
              </a:rPr>
              <a:t> + tuning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AD085E-0CE9-46C2-9748-3FD3846A2E68}"/>
              </a:ext>
            </a:extLst>
          </p:cNvPr>
          <p:cNvSpPr/>
          <p:nvPr/>
        </p:nvSpPr>
        <p:spPr>
          <a:xfrm>
            <a:off x="8001000" y="507492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E9F7F0"/>
          </a:solidFill>
          <a:ln w="15875">
            <a:solidFill>
              <a:srgbClr val="3EB4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t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80.25%</a:t>
            </a:r>
          </a:p>
          <a:p>
            <a:pPr algn="ctr"/>
            <a:r>
              <a:rPr sz="1150">
                <a:solidFill>
                  <a:srgbClr val="5A5A5A"/>
                </a:solidFill>
                <a:latin typeface="Calibri"/>
              </a:rPr>
              <a:t>+ Hiệu chuẩn bias + Ensemble</a:t>
            </a:r>
          </a:p>
        </p:txBody>
      </p:sp>
    </p:spTree>
    <p:extLst>
      <p:ext uri="{BB962C8B-B14F-4D97-AF65-F5344CB8AC3E}">
        <p14:creationId xmlns:p14="http://schemas.microsoft.com/office/powerpoint/2010/main" val="89458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Đòn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bẩy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chính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&amp;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lộ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trình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cải</a:t>
            </a:r>
            <a:r>
              <a:rPr lang="en-US" sz="28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US" sz="2800" b="1" i="0" dirty="0" err="1">
                <a:solidFill>
                  <a:srgbClr val="1B2A4A"/>
                </a:solidFill>
                <a:latin typeface="Calibri"/>
              </a:rPr>
              <a:t>thiện</a:t>
            </a:r>
            <a:endParaRPr lang="en-US" sz="28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1CEFE0-585E-484B-9D7E-C79ACB510B4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Phát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hiện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gốc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rễ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baseline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ngây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thơ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(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luôn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đoán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"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Tốt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")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đã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đạt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79.9% — model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có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class-weighting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chỉ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61.4%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vì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chủ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động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đánh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đổi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Accuracy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để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bắt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lớp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hiếm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--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no_class_weight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đòn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bẩy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lớn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nhất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, +16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điểm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(0.603 → 0.763).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LR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thấp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hơn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+ patience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dài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hơn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+1.7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điểm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Tắt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jitter augmentation: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+0.7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điểm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→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đợt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1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dừng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ở 78.64% (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gần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kiến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trúc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/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dữ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liệu</a:t>
            </a:r>
            <a:r>
              <a:rPr sz="1550" dirty="0">
                <a:solidFill>
                  <a:srgbClr val="1B2A4A"/>
                </a:solidFill>
                <a:latin typeface="Calibri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Kiểm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chứng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bằng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RandomForest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/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GradientBoosting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xác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nhận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85% KHÔNG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khả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—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nằm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ở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lượng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thông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tin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từ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4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cảm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biến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,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không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phải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do CNN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nhỏ</a:t>
            </a:r>
            <a:r>
              <a:rPr sz="15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5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Hiệu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3EB489"/>
                </a:solidFill>
                <a:latin typeface="Calibri"/>
              </a:rPr>
              <a:t>chuẩn</a:t>
            </a:r>
            <a:r>
              <a:rPr sz="1550" b="1" dirty="0">
                <a:solidFill>
                  <a:srgbClr val="3EB489"/>
                </a:solidFill>
                <a:latin typeface="Calibri"/>
              </a:rPr>
              <a:t> bias + Ensemble 6 checkpoint: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cải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thiện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thực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chất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cuối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cùng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,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không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cần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đổi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kiến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1B2A4A"/>
                </a:solidFill>
                <a:latin typeface="Calibri"/>
              </a:rPr>
              <a:t>trúc</a:t>
            </a:r>
            <a:r>
              <a:rPr sz="1550" dirty="0">
                <a:solidFill>
                  <a:srgbClr val="1B2A4A"/>
                </a:solidFill>
                <a:latin typeface="Calibri"/>
              </a:rPr>
              <a:t> → 80.25%.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0EBFC1-E611-44B0-8FFB-3BF34BB05A17}"/>
              </a:ext>
            </a:extLst>
          </p:cNvPr>
          <p:cNvSpPr/>
          <p:nvPr/>
        </p:nvSpPr>
        <p:spPr>
          <a:xfrm>
            <a:off x="685800" y="507492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5875">
            <a:solidFill>
              <a:srgbClr val="3EB4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t"/>
          <a:lstStyle/>
          <a:p>
            <a:pPr algn="ctr"/>
            <a:r>
              <a:rPr sz="1500" b="1" dirty="0">
                <a:solidFill>
                  <a:srgbClr val="1B2A4A"/>
                </a:solidFill>
                <a:latin typeface="Calibri"/>
              </a:rPr>
              <a:t>61.4%</a:t>
            </a:r>
          </a:p>
          <a:p>
            <a:pPr algn="ctr"/>
            <a:r>
              <a:rPr sz="1150" dirty="0">
                <a:solidFill>
                  <a:srgbClr val="5A5A5A"/>
                </a:solidFill>
                <a:latin typeface="Calibri"/>
              </a:rPr>
              <a:t>Model </a:t>
            </a:r>
            <a:r>
              <a:rPr sz="1150" dirty="0" err="1">
                <a:solidFill>
                  <a:srgbClr val="5A5A5A"/>
                </a:solidFill>
                <a:latin typeface="Calibri"/>
              </a:rPr>
              <a:t>gốc</a:t>
            </a:r>
            <a:r>
              <a:rPr sz="1150" dirty="0">
                <a:solidFill>
                  <a:srgbClr val="5A5A5A"/>
                </a:solidFill>
                <a:latin typeface="Calibri"/>
              </a:rPr>
              <a:t> (class-weighting)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83E0F-18F9-4777-B447-9BEE5F538DE2}"/>
              </a:ext>
            </a:extLst>
          </p:cNvPr>
          <p:cNvSpPr/>
          <p:nvPr/>
        </p:nvSpPr>
        <p:spPr>
          <a:xfrm>
            <a:off x="4343400" y="507492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F3F5FA"/>
          </a:solidFill>
          <a:ln w="15875">
            <a:solidFill>
              <a:srgbClr val="3EB4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t"/>
          <a:lstStyle/>
          <a:p>
            <a:pPr algn="ctr"/>
            <a:r>
              <a:rPr sz="1500" b="1" dirty="0">
                <a:solidFill>
                  <a:srgbClr val="1B2A4A"/>
                </a:solidFill>
                <a:latin typeface="Calibri"/>
              </a:rPr>
              <a:t>78.64%</a:t>
            </a:r>
          </a:p>
          <a:p>
            <a:pPr algn="ctr"/>
            <a:r>
              <a:rPr sz="1150" dirty="0">
                <a:solidFill>
                  <a:srgbClr val="5A5A5A"/>
                </a:solidFill>
                <a:latin typeface="Calibri"/>
              </a:rPr>
              <a:t>--</a:t>
            </a:r>
            <a:r>
              <a:rPr sz="1150" dirty="0" err="1">
                <a:solidFill>
                  <a:srgbClr val="5A5A5A"/>
                </a:solidFill>
                <a:latin typeface="Calibri"/>
              </a:rPr>
              <a:t>no_class_weight</a:t>
            </a:r>
            <a:r>
              <a:rPr sz="1150" dirty="0">
                <a:solidFill>
                  <a:srgbClr val="5A5A5A"/>
                </a:solidFill>
                <a:latin typeface="Calibri"/>
              </a:rPr>
              <a:t> + tuning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AD085E-0CE9-46C2-9748-3FD3846A2E68}"/>
              </a:ext>
            </a:extLst>
          </p:cNvPr>
          <p:cNvSpPr/>
          <p:nvPr/>
        </p:nvSpPr>
        <p:spPr>
          <a:xfrm>
            <a:off x="8001000" y="507492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E9F7F0"/>
          </a:solidFill>
          <a:ln w="15875">
            <a:solidFill>
              <a:srgbClr val="3EB4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91440" rtlCol="0" anchor="t"/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80.25%</a:t>
            </a:r>
          </a:p>
          <a:p>
            <a:pPr algn="ctr"/>
            <a:r>
              <a:rPr sz="1150">
                <a:solidFill>
                  <a:srgbClr val="5A5A5A"/>
                </a:solidFill>
                <a:latin typeface="Calibri"/>
              </a:rPr>
              <a:t>+ Hiệu chuẩn bias + Ensemble</a:t>
            </a:r>
          </a:p>
        </p:txBody>
      </p:sp>
    </p:spTree>
    <p:extLst>
      <p:ext uri="{BB962C8B-B14F-4D97-AF65-F5344CB8AC3E}">
        <p14:creationId xmlns:p14="http://schemas.microsoft.com/office/powerpoint/2010/main" val="71840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5400" y="531876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1B2A4A"/>
                </a:solidFill>
                <a:latin typeface="Calibri"/>
              </a:rPr>
              <a:t>Đánh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đổi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Accuracy vs An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toàn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cảnh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báo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91640"/>
          <a:ext cx="6035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Lớp AQI</a:t>
                      </a:r>
                    </a:p>
                  </a:txBody>
                  <a:tcPr marL="76200" marR="76200" marT="38100" marB="38100" anchor="ctr">
                    <a:solidFill>
                      <a:srgbClr val="E8A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E8A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E8A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Tốt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87.9%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87.3%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1B2A4A"/>
                          </a:solidFill>
                          <a:latin typeface="Calibri"/>
                        </a:rPr>
                        <a:t>Trung</a:t>
                      </a:r>
                      <a:r>
                        <a:rPr sz="1400" dirty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1400" dirty="0" err="1">
                          <a:solidFill>
                            <a:srgbClr val="1B2A4A"/>
                          </a:solidFill>
                          <a:latin typeface="Calibri"/>
                        </a:rPr>
                        <a:t>bình</a:t>
                      </a:r>
                      <a:endParaRPr sz="140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43.6%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48.0%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Kém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Xấu → Nguy hại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B2A4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6200" marR="76200" marT="38100" marB="38100" anchor="ctr"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40880" y="1691640"/>
            <a:ext cx="4480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A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/>
            <a:r>
              <a:rPr sz="1600" b="1">
                <a:solidFill>
                  <a:srgbClr val="B05A00"/>
                </a:solidFill>
                <a:latin typeface="Calibri"/>
              </a:rPr>
              <a:t>⚠ Model tối ưu Accuracy gần như không phát hiện được mức ô nhiễm nguy hiểm nhất.</a:t>
            </a:r>
          </a:p>
          <a:p>
            <a:pPr>
              <a:spcBef>
                <a:spcPts val="1200"/>
              </a:spcBef>
            </a:pPr>
            <a:r>
              <a:rPr sz="1450">
                <a:solidFill>
                  <a:srgbClr val="1B2A4A"/>
                </a:solidFill>
                <a:latin typeface="Calibri"/>
              </a:rPr>
              <a:t>Nếu đưa lên firmware điều khiển relay/buzzer thật, hệ thống sẽ "im lặng" ngay cả khi không khí thực sự xấu.</a:t>
            </a:r>
          </a:p>
          <a:p>
            <a:pPr>
              <a:spcBef>
                <a:spcPts val="1200"/>
              </a:spcBef>
            </a:pPr>
            <a:r>
              <a:rPr sz="1450" i="1">
                <a:solidFill>
                  <a:srgbClr val="5A5A5A"/>
                </a:solidFill>
                <a:latin typeface="Calibri"/>
              </a:rPr>
              <a:t>→ Chỉ dùng model này để báo cáo số Accuracy. Triển khai thực tế nên dùng model cân bằng lớp gốc (class-weighting bật).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Smart-Air — TinyML AQI trên ESP32-S3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3EB489"/>
                </a:solidFill>
                <a:latin typeface="Calibri"/>
              </a:rPr>
              <a:t>NHÌN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47625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1B2A4A"/>
                </a:solidFill>
                <a:latin typeface="Calibri"/>
              </a:rPr>
              <a:t>Giới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hạn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đã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xác</a:t>
            </a:r>
            <a:r>
              <a:rPr sz="3000" b="1" i="0" dirty="0">
                <a:solidFill>
                  <a:srgbClr val="1B2A4A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B2A4A"/>
                </a:solidFill>
                <a:latin typeface="Calibri"/>
              </a:rPr>
              <a:t>nhận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05840" cy="38100"/>
          </a:xfrm>
          <a:prstGeom prst="rect">
            <a:avLst/>
          </a:prstGeom>
          <a:solidFill>
            <a:srgbClr val="3E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50" b="1">
                <a:solidFill>
                  <a:srgbClr val="3EB489"/>
                </a:solidFill>
                <a:latin typeface="Calibri"/>
              </a:rPr>
              <a:t>●  Không tổng quát hoá vùng địa lý:</a:t>
            </a:r>
            <a:r>
              <a:rPr sz="1650">
                <a:solidFill>
                  <a:srgbClr val="1B2A4A"/>
                </a:solidFill>
                <a:latin typeface="Calibri"/>
              </a:rPr>
              <a:t>  chỉ huấn luyện trên khí hậu/nguồn ô nhiễm TP.HCM — vùng khác cần huấn luyện lại.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3EB489"/>
                </a:solidFill>
                <a:latin typeface="Calibri"/>
              </a:rPr>
              <a:t>●  Cảm biến thật chưa được đối chiếu:</a:t>
            </a:r>
            <a:r>
              <a:rPr sz="1650">
                <a:solidFill>
                  <a:srgbClr val="1B2A4A"/>
                </a:solidFill>
                <a:latin typeface="Calibri"/>
              </a:rPr>
              <a:t>  dữ liệu huấn luyện đo bằng trạm chuẩn, chưa phải GM702B/GM102B thật.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3EB489"/>
                </a:solidFill>
                <a:latin typeface="Calibri"/>
              </a:rPr>
              <a:t>●  Một số trạm mất dữ liệu kéo dài</a:t>
            </a:r>
            <a:r>
              <a:rPr sz="1650">
                <a:solidFill>
                  <a:srgbClr val="1B2A4A"/>
                </a:solidFill>
                <a:latin typeface="Calibri"/>
              </a:rPr>
              <a:t>  ở nửa sau chuỗi thời gian → giảm đa dạng mẫu val/test.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3EB489"/>
                </a:solidFill>
                <a:latin typeface="Calibri"/>
              </a:rPr>
              <a:t>●  Lớp "Xấu→Nguy hại" rất hiếm</a:t>
            </a:r>
            <a:r>
              <a:rPr sz="1650">
                <a:solidFill>
                  <a:srgbClr val="1B2A4A"/>
                </a:solidFill>
                <a:latin typeface="Calibri"/>
              </a:rPr>
              <a:t>  chỉ 198/12/7 mẫu train/val/test — số liệu trên lớp này cần diễn giải thận trọng.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3EB489"/>
                </a:solidFill>
                <a:latin typeface="Calibri"/>
              </a:rPr>
              <a:t>●  85% Accuracy đã được kiểm chứng là KHÔNG khả thi</a:t>
            </a:r>
            <a:r>
              <a:rPr sz="1650">
                <a:solidFill>
                  <a:srgbClr val="1B2A4A"/>
                </a:solidFill>
                <a:latin typeface="Calibri"/>
              </a:rPr>
              <a:t>  với 4 cảm biến hiện tại (thử cả RandomForest/GradientBoosting) — đây là trần dữ liệu, không phải trần kiến trúc.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Smart-Air — TinyML AQI trên ESP32-S3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320040"/>
            <a:ext cx="643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3EB489"/>
                </a:solidFill>
                <a:latin typeface="Calibri"/>
              </a:rPr>
              <a:t>HƯỚNG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Chưa làm — nằm ngoài phạm vi hiện tại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05840" cy="38100"/>
          </a:xfrm>
          <a:prstGeom prst="rect">
            <a:avLst/>
          </a:prstGeom>
          <a:solidFill>
            <a:srgbClr val="3E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 dirty="0">
                <a:solidFill>
                  <a:srgbClr val="3EB489"/>
                </a:solidFill>
                <a:latin typeface="Calibri"/>
              </a:rPr>
              <a:t>●  Export ONNX → </a:t>
            </a:r>
            <a:r>
              <a:rPr sz="1700" b="1" dirty="0" err="1">
                <a:solidFill>
                  <a:srgbClr val="3EB489"/>
                </a:solidFill>
                <a:latin typeface="Calibri"/>
              </a:rPr>
              <a:t>TFLite</a:t>
            </a:r>
            <a:r>
              <a:rPr sz="1700" b="1" dirty="0">
                <a:solidFill>
                  <a:srgbClr val="3EB489"/>
                </a:solidFill>
                <a:latin typeface="Calibri"/>
              </a:rPr>
              <a:t> → INT8 + C header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cho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firmware (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thiết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kế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đã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sẵn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sàng</a:t>
            </a:r>
            <a:r>
              <a:rPr sz="1700" dirty="0">
                <a:solidFill>
                  <a:srgbClr val="1B2A4A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chưa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cài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công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cụ</a:t>
            </a:r>
            <a:r>
              <a:rPr sz="1700" dirty="0">
                <a:solidFill>
                  <a:srgbClr val="1B2A4A"/>
                </a:solidFill>
                <a:latin typeface="Calibri"/>
              </a:rPr>
              <a:t>/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thực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thi</a:t>
            </a:r>
            <a:r>
              <a:rPr sz="1700" dirty="0">
                <a:solidFill>
                  <a:srgbClr val="1B2A4A"/>
                </a:solidFill>
                <a:latin typeface="Calibri"/>
              </a:rPr>
              <a:t>).</a:t>
            </a:r>
          </a:p>
          <a:p>
            <a:pPr>
              <a:spcAft>
                <a:spcPts val="1800"/>
              </a:spcAft>
            </a:pPr>
            <a:r>
              <a:rPr sz="1700" b="1" dirty="0">
                <a:solidFill>
                  <a:srgbClr val="3EB489"/>
                </a:solidFill>
                <a:latin typeface="Calibri"/>
              </a:rPr>
              <a:t>●  Firmware C++ (ESP-IDF)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 repo smart-air-cps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chưa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có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module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TFLite</a:t>
            </a:r>
            <a:r>
              <a:rPr sz="1700" dirty="0">
                <a:solidFill>
                  <a:srgbClr val="1B2A4A"/>
                </a:solidFill>
                <a:latin typeface="Calibri"/>
              </a:rPr>
              <a:t>/inference.</a:t>
            </a:r>
          </a:p>
          <a:p>
            <a:pPr>
              <a:spcAft>
                <a:spcPts val="1800"/>
              </a:spcAft>
            </a:pPr>
            <a:r>
              <a:rPr sz="1700" b="1" dirty="0">
                <a:solidFill>
                  <a:srgbClr val="3EB489"/>
                </a:solidFill>
                <a:latin typeface="Calibri"/>
              </a:rPr>
              <a:t>●  </a:t>
            </a:r>
            <a:r>
              <a:rPr sz="1700" b="1" dirty="0" err="1">
                <a:solidFill>
                  <a:srgbClr val="3EB489"/>
                </a:solidFill>
                <a:latin typeface="Calibri"/>
              </a:rPr>
              <a:t>Hiệu</a:t>
            </a:r>
            <a:r>
              <a:rPr sz="170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EB489"/>
                </a:solidFill>
                <a:latin typeface="Calibri"/>
              </a:rPr>
              <a:t>chuẩn</a:t>
            </a:r>
            <a:r>
              <a:rPr sz="170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EB489"/>
                </a:solidFill>
                <a:latin typeface="Calibri"/>
              </a:rPr>
              <a:t>thực</a:t>
            </a:r>
            <a:r>
              <a:rPr sz="1700" b="1" dirty="0">
                <a:solidFill>
                  <a:srgbClr val="3EB489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3EB489"/>
                </a:solidFill>
                <a:latin typeface="Calibri"/>
              </a:rPr>
              <a:t>địa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chưa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đối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chiếu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board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thật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với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trạm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tham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chiếu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(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Phương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án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A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đầy</a:t>
            </a:r>
            <a:r>
              <a:rPr sz="1700" dirty="0">
                <a:solidFill>
                  <a:srgbClr val="1B2A4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B2A4A"/>
                </a:solidFill>
                <a:latin typeface="Calibri"/>
              </a:rPr>
              <a:t>đủ</a:t>
            </a:r>
            <a:r>
              <a:rPr sz="1700" dirty="0">
                <a:solidFill>
                  <a:srgbClr val="1B2A4A"/>
                </a:solidFill>
                <a:latin typeface="Calibri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Smart-Air — TinyML AQI trên ESP32-S3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(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D7D8-9C34-42BE-9B45-DBF7B9C2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Link:https</a:t>
            </a:r>
            <a:r>
              <a:rPr lang="en-US" sz="2000" dirty="0"/>
              <a:t>:</a:t>
            </a:r>
            <a:r>
              <a:rPr lang="en-US" sz="2000" dirty="0">
                <a:hlinkClick r:id="rId2" action="ppaction://hlinkpres?slideindex=1&amp;slidetitle="/>
              </a:rPr>
              <a:t>//docs.google.com/spreadsheets/d/1qN74SvrrdN4LHQbeoC8bmP_FywuzR8jE/</a:t>
            </a:r>
            <a:r>
              <a:rPr lang="en-US" sz="2000" dirty="0" err="1">
                <a:hlinkClick r:id="rId2" action="ppaction://hlinkpres?slideindex=1&amp;slidetitle="/>
              </a:rPr>
              <a:t>edit?usp</a:t>
            </a:r>
            <a:r>
              <a:rPr lang="en-US" sz="2000" dirty="0">
                <a:hlinkClick r:id="rId2" action="ppaction://hlinkpres?slideindex=1&amp;slidetitle="/>
              </a:rPr>
              <a:t>=</a:t>
            </a:r>
            <a:r>
              <a:rPr lang="en-US" sz="2000" dirty="0" err="1">
                <a:hlinkClick r:id="rId2" action="ppaction://hlinkpres?slideindex=1&amp;slidetitle="/>
              </a:rPr>
              <a:t>sharing&amp;ouid</a:t>
            </a:r>
            <a:r>
              <a:rPr lang="en-US" sz="2000" dirty="0">
                <a:hlinkClick r:id="rId2" action="ppaction://hlinkpres?slideindex=1&amp;slidetitle="/>
              </a:rPr>
              <a:t>=100093805528198327086&amp;rtpof=</a:t>
            </a:r>
            <a:r>
              <a:rPr lang="en-US" sz="2000" dirty="0" err="1">
                <a:hlinkClick r:id="rId2" action="ppaction://hlinkpres?slideindex=1&amp;slidetitle="/>
              </a:rPr>
              <a:t>true&amp;sd</a:t>
            </a:r>
            <a:r>
              <a:rPr lang="en-US" sz="2000" dirty="0">
                <a:hlinkClick r:id="rId2" action="ppaction://hlinkpres?slideindex=1&amp;slidetitle="/>
              </a:rPr>
              <a:t>=true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12A518-D97D-0B7C-2815-CA1EA8D3D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981200"/>
            <a:ext cx="9258300" cy="42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0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Report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(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E681-6D67-4CD4-8AC0-AD82662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Link project </a:t>
            </a:r>
            <a:r>
              <a:rPr lang="en-US" dirty="0" err="1"/>
              <a:t>nhóm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https://github.com/meeTeam05</a:t>
            </a:r>
            <a:r>
              <a:rPr lang="en-US">
                <a:hlinkClick r:id="rId2"/>
              </a:rPr>
              <a:t>/smart-air.</a:t>
            </a:r>
            <a:r>
              <a:rPr lang="en-US" dirty="0">
                <a:hlinkClick r:id="rId2"/>
              </a:rPr>
              <a:t>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887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4616</TotalTime>
  <Words>1625</Words>
  <Application>Microsoft Office PowerPoint</Application>
  <PresentationFormat>Widescreen</PresentationFormat>
  <Paragraphs>152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Tahoma</vt:lpstr>
      <vt:lpstr>Verdana</vt:lpstr>
      <vt:lpstr>Wingdings</vt:lpstr>
      <vt:lpstr>cdb2004212gl</vt:lpstr>
      <vt:lpstr>Môn: Phát triển ứng dụng di động (Tuần 4-Project cuối kì)</vt:lpstr>
      <vt:lpstr>Pipeline đã xây dựng (TypeScript/React Native)</vt:lpstr>
      <vt:lpstr>Tiến độ xây dựng theo module (App)</vt:lpstr>
      <vt:lpstr>PowerPoint Presentation</vt:lpstr>
      <vt:lpstr>PowerPoint Presentation</vt:lpstr>
      <vt:lpstr>PowerPoint Presentation</vt:lpstr>
      <vt:lpstr>Pipeline đã xây dựng (thư mục src/)</vt:lpstr>
      <vt:lpstr>Các thay đổi mã nguồn đã thực hiện để tối ưu accuracy</vt:lpstr>
      <vt:lpstr>Đòn bẩy chính &amp; lộ trình cải thiện</vt:lpstr>
      <vt:lpstr>Đòn bẩy chính &amp; lộ trình cải thiện</vt:lpstr>
      <vt:lpstr>PowerPoint Presentation</vt:lpstr>
      <vt:lpstr>PowerPoint Presentation</vt:lpstr>
      <vt:lpstr>PowerPoint Presentation</vt:lpstr>
      <vt:lpstr>Tiến độ thực tế (dự kiến)</vt:lpstr>
      <vt:lpstr>5. Report mỗi tuần (  đồng bộ lên github)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SOS Đà Lạt 3</cp:lastModifiedBy>
  <cp:revision>407</cp:revision>
  <cp:lastPrinted>2018-01-16T10:17:52Z</cp:lastPrinted>
  <dcterms:created xsi:type="dcterms:W3CDTF">2017-11-10T03:20:57Z</dcterms:created>
  <dcterms:modified xsi:type="dcterms:W3CDTF">2026-09-14T03:34:15Z</dcterms:modified>
</cp:coreProperties>
</file>