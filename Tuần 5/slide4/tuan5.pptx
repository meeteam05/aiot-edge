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2"/>
  </p:notesMasterIdLst>
  <p:sldIdLst>
    <p:sldId id="256" r:id="rId4"/>
    <p:sldId id="257" r:id="rId5"/>
    <p:sldId id="258" r:id="rId6"/>
    <p:sldId id="259" r:id="rId7"/>
    <p:sldId id="260" r:id="rId8"/>
    <p:sldId id="261" r:id="rId9"/>
    <p:sldId id="262" r:id="rId10"/>
    <p:sldId id="263" r:id="rId11"/>
    <p:sldId id="274" r:id="rId12"/>
    <p:sldId id="275" r:id="rId13"/>
    <p:sldId id="276" r:id="rId14"/>
    <p:sldId id="277" r:id="rId15"/>
    <p:sldId id="279" r:id="rId16"/>
    <p:sldId id="280" r:id="rId17"/>
    <p:sldId id="269" r:id="rId18"/>
    <p:sldId id="270" r:id="rId19"/>
    <p:sldId id="271"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93" autoAdjust="0"/>
    <p:restoredTop sz="94660"/>
  </p:normalViewPr>
  <p:slideViewPr>
    <p:cSldViewPr snapToGrid="0">
      <p:cViewPr varScale="1">
        <p:scale>
          <a:sx n="107" d="100"/>
          <a:sy n="107" d="100"/>
        </p:scale>
        <p:origin x="4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6"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2800" b="0" strike="noStrike" spc="-1">
                <a:solidFill>
                  <a:srgbClr val="000000"/>
                </a:solidFill>
                <a:latin typeface="Arial"/>
              </a:rPr>
              <a:t>Click to move the slide</a:t>
            </a:r>
          </a:p>
        </p:txBody>
      </p:sp>
      <p:sp>
        <p:nvSpPr>
          <p:cNvPr id="14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14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149" name="PlaceHolder 4"/>
          <p:cNvSpPr>
            <a:spLocks noGrp="1"/>
          </p:cNvSpPr>
          <p:nvPr>
            <p:ph type="dt" idx="6"/>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150" name="PlaceHolder 5"/>
          <p:cNvSpPr>
            <a:spLocks noGrp="1"/>
          </p:cNvSpPr>
          <p:nvPr>
            <p:ph type="ftr" idx="7"/>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151" name="PlaceHolder 6"/>
          <p:cNvSpPr>
            <a:spLocks noGrp="1"/>
          </p:cNvSpPr>
          <p:nvPr>
            <p:ph type="sldNum" idx="8"/>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AD0414DE-DCBE-436D-A093-4F35F9D8174F}"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noRot="1" noChangeAspect="1"/>
          </p:cNvSpPr>
          <p:nvPr>
            <p:ph type="sldImg"/>
          </p:nvPr>
        </p:nvSpPr>
        <p:spPr>
          <a:xfrm>
            <a:off x="381000" y="685800"/>
            <a:ext cx="6096000" cy="3429000"/>
          </a:xfrm>
          <a:prstGeom prst="rect">
            <a:avLst/>
          </a:prstGeom>
          <a:ln w="0">
            <a:noFill/>
          </a:ln>
        </p:spPr>
      </p:sp>
      <p:sp>
        <p:nvSpPr>
          <p:cNvPr id="224" name="PlaceHolder 2"/>
          <p:cNvSpPr>
            <a:spLocks noGrp="1"/>
          </p:cNvSpPr>
          <p:nvPr>
            <p:ph type="body"/>
          </p:nvPr>
        </p:nvSpPr>
        <p:spPr>
          <a:xfrm>
            <a:off x="685800" y="4343400"/>
            <a:ext cx="5486040" cy="4114440"/>
          </a:xfrm>
          <a:prstGeom prst="rect">
            <a:avLst/>
          </a:prstGeom>
          <a:noFill/>
          <a:ln w="0">
            <a:noFill/>
          </a:ln>
        </p:spPr>
        <p:txBody>
          <a:bodyPr anchor="t">
            <a:noAutofit/>
          </a:bodyPr>
          <a:lstStyle/>
          <a:p>
            <a:endParaRPr lang="en-US" sz="2000" b="0" strike="noStrike" spc="-1">
              <a:latin typeface="Arial"/>
            </a:endParaRPr>
          </a:p>
        </p:txBody>
      </p:sp>
      <p:sp>
        <p:nvSpPr>
          <p:cNvPr id="225" name="PlaceHolder 3"/>
          <p:cNvSpPr>
            <a:spLocks noGrp="1"/>
          </p:cNvSpPr>
          <p:nvPr>
            <p:ph type="sldNum" idx="9"/>
          </p:nvPr>
        </p:nvSpPr>
        <p:spPr>
          <a:xfrm>
            <a:off x="3884760" y="8685360"/>
            <a:ext cx="2971440" cy="456840"/>
          </a:xfrm>
          <a:prstGeom prst="rect">
            <a:avLst/>
          </a:prstGeom>
          <a:noFill/>
          <a:ln w="0">
            <a:noFill/>
          </a:ln>
        </p:spPr>
        <p:txBody>
          <a:bodyPr anchor="b">
            <a:noAutofit/>
          </a:bodyPr>
          <a:lstStyle>
            <a:lvl1pPr algn="r">
              <a:lnSpc>
                <a:spcPct val="100000"/>
              </a:lnSpc>
              <a:buNone/>
              <a:defRPr lang="en-US" sz="1200" b="0" strike="noStrike" spc="-1">
                <a:solidFill>
                  <a:srgbClr val="000000"/>
                </a:solidFill>
                <a:latin typeface="Arial"/>
                <a:ea typeface="+mn-ea"/>
              </a:defRPr>
            </a:lvl1pPr>
          </a:lstStyle>
          <a:p>
            <a:pPr algn="r">
              <a:lnSpc>
                <a:spcPct val="100000"/>
              </a:lnSpc>
              <a:buNone/>
            </a:pPr>
            <a:fld id="{A02FA1BD-AF02-4002-BE64-14DFFE0240DF}" type="slidenum">
              <a:rPr lang="en-US" sz="1200" b="0" strike="noStrike" spc="-1">
                <a:solidFill>
                  <a:srgbClr val="000000"/>
                </a:solidFill>
                <a:latin typeface="Arial"/>
                <a:ea typeface="+mn-ea"/>
              </a:rPr>
              <a:t>1</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3759120" y="2666880"/>
            <a:ext cx="7619760" cy="4238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2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2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2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2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2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27"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2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3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31"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33"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34"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3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3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3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39"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41"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42"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43"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44"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45"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46"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64154F5C-8333-4843-8605-681AB5B0CCA6}" type="slidenum">
              <a:t>‹#›</a:t>
            </a:fld>
            <a:endParaRPr/>
          </a:p>
        </p:txBody>
      </p:sp>
      <p:sp>
        <p:nvSpPr>
          <p:cNvPr id="3" name="PlaceHolder 2"/>
          <p:cNvSpPr>
            <a:spLocks noGrp="1"/>
          </p:cNvSpPr>
          <p:nvPr>
            <p:ph type="dt" idx="1"/>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0"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6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sldNum" idx="2"/>
          </p:nvPr>
        </p:nvSpPr>
        <p:spPr/>
        <p:txBody>
          <a:bodyPr/>
          <a:lstStyle/>
          <a:p>
            <a:fld id="{8B979A0C-BCED-4BF1-8378-719325F94D63}"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6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4" name="PlaceHolder 3"/>
          <p:cNvSpPr>
            <a:spLocks noGrp="1"/>
          </p:cNvSpPr>
          <p:nvPr>
            <p:ph type="sldNum" idx="2"/>
          </p:nvPr>
        </p:nvSpPr>
        <p:spPr/>
        <p:txBody>
          <a:bodyPr/>
          <a:lstStyle/>
          <a:p>
            <a:fld id="{EFD739CB-3802-4FF1-B452-39E62E50A895}"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6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6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5" name="PlaceHolder 4"/>
          <p:cNvSpPr>
            <a:spLocks noGrp="1"/>
          </p:cNvSpPr>
          <p:nvPr>
            <p:ph type="sldNum" idx="2"/>
          </p:nvPr>
        </p:nvSpPr>
        <p:spPr/>
        <p:txBody>
          <a:bodyPr/>
          <a:lstStyle/>
          <a:p>
            <a:fld id="{CD457A39-9C86-46FC-9DBF-0AA1F7ACB9F1}"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7"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3" name="PlaceHolder 2"/>
          <p:cNvSpPr>
            <a:spLocks noGrp="1"/>
          </p:cNvSpPr>
          <p:nvPr>
            <p:ph type="sldNum" idx="2"/>
          </p:nvPr>
        </p:nvSpPr>
        <p:spPr/>
        <p:txBody>
          <a:bodyPr/>
          <a:lstStyle/>
          <a:p>
            <a:fld id="{4B11F16B-58A0-46B2-B7BB-B0A024464A3A}"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8" name="PlaceHolder 1"/>
          <p:cNvSpPr>
            <a:spLocks noGrp="1"/>
          </p:cNvSpPr>
          <p:nvPr>
            <p:ph type="subTitle"/>
          </p:nvPr>
        </p:nvSpPr>
        <p:spPr>
          <a:xfrm>
            <a:off x="3759120" y="2666880"/>
            <a:ext cx="7619760" cy="4238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sldNum" idx="2"/>
          </p:nvPr>
        </p:nvSpPr>
        <p:spPr/>
        <p:txBody>
          <a:bodyPr/>
          <a:lstStyle/>
          <a:p>
            <a:fld id="{4075B15A-8848-43B2-879F-3471B6216870}"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7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7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7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6" name="PlaceHolder 5"/>
          <p:cNvSpPr>
            <a:spLocks noGrp="1"/>
          </p:cNvSpPr>
          <p:nvPr>
            <p:ph type="sldNum" idx="2"/>
          </p:nvPr>
        </p:nvSpPr>
        <p:spPr/>
        <p:txBody>
          <a:bodyPr/>
          <a:lstStyle/>
          <a:p>
            <a:fld id="{DFBB1591-3CA6-4DBE-AA37-A2EB870AE9BA}"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7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7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7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6" name="PlaceHolder 5"/>
          <p:cNvSpPr>
            <a:spLocks noGrp="1"/>
          </p:cNvSpPr>
          <p:nvPr>
            <p:ph type="sldNum" idx="2"/>
          </p:nvPr>
        </p:nvSpPr>
        <p:spPr/>
        <p:txBody>
          <a:bodyPr/>
          <a:lstStyle/>
          <a:p>
            <a:fld id="{49A58B53-7426-4EA4-A2B8-76F0363CF538}"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7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7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80"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6" name="PlaceHolder 5"/>
          <p:cNvSpPr>
            <a:spLocks noGrp="1"/>
          </p:cNvSpPr>
          <p:nvPr>
            <p:ph type="sldNum" idx="2"/>
          </p:nvPr>
        </p:nvSpPr>
        <p:spPr/>
        <p:txBody>
          <a:bodyPr/>
          <a:lstStyle/>
          <a:p>
            <a:fld id="{F15E4CB7-6E36-4506-A9A0-73E45EE18EBB}"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82"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83"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5" name="PlaceHolder 4"/>
          <p:cNvSpPr>
            <a:spLocks noGrp="1"/>
          </p:cNvSpPr>
          <p:nvPr>
            <p:ph type="sldNum" idx="2"/>
          </p:nvPr>
        </p:nvSpPr>
        <p:spPr/>
        <p:txBody>
          <a:bodyPr/>
          <a:lstStyle/>
          <a:p>
            <a:fld id="{769626EC-B1EC-4E66-BEDB-8791F1E92FD3}"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8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8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8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8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7" name="PlaceHolder 6"/>
          <p:cNvSpPr>
            <a:spLocks noGrp="1"/>
          </p:cNvSpPr>
          <p:nvPr>
            <p:ph type="sldNum" idx="2"/>
          </p:nvPr>
        </p:nvSpPr>
        <p:spPr/>
        <p:txBody>
          <a:bodyPr/>
          <a:lstStyle/>
          <a:p>
            <a:fld id="{F3751A6B-8A5D-4680-8133-1E37D30AA8E5}"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90"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91"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92"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93"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94"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95"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9" name="PlaceHolder 8"/>
          <p:cNvSpPr>
            <a:spLocks noGrp="1"/>
          </p:cNvSpPr>
          <p:nvPr>
            <p:ph type="sldNum" idx="2"/>
          </p:nvPr>
        </p:nvSpPr>
        <p:spPr/>
        <p:txBody>
          <a:bodyPr/>
          <a:lstStyle/>
          <a:p>
            <a:fld id="{A116BE46-6F1C-4CF0-857A-0EA63745F5D0}" type="slidenum">
              <a:t>‹#›</a:t>
            </a:fld>
            <a:endParaRPr/>
          </a:p>
        </p:txBody>
      </p:sp>
      <p:sp>
        <p:nvSpPr>
          <p:cNvPr id="10" name="PlaceHolder 9"/>
          <p:cNvSpPr>
            <a:spLocks noGrp="1"/>
          </p:cNvSpPr>
          <p:nvPr>
            <p:ph type="dt" idx="1"/>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8892A962-FC71-4449-AF3F-0505A125250A}"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0"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1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861111AC-6FBD-4C15-990B-7268D093F876}"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1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44728ABD-21EF-46A0-93BD-F99D166677D6}"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1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E1B07B8F-504E-40E9-8A1D-FE03D0636C02}"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7"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EC208341-AED8-41F4-908E-786FA9F1BF91}"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8" name="PlaceHolder 1"/>
          <p:cNvSpPr>
            <a:spLocks noGrp="1"/>
          </p:cNvSpPr>
          <p:nvPr>
            <p:ph type="subTitle"/>
          </p:nvPr>
        </p:nvSpPr>
        <p:spPr>
          <a:xfrm>
            <a:off x="3759120" y="2666880"/>
            <a:ext cx="7619760" cy="4238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B3C009E6-2580-4CCC-93F8-D1E28A0EAB4F}"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2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2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2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B5F9233A-0FDE-4497-A516-BC41F87DFA64}"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2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2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44282E41-8D2C-4AAE-8A41-C835CB500215}"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2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2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30"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E9DFA7FF-4BCD-4BD5-8B28-61AD1D090A9B}"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32"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33"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D889B58D-9D82-408B-9D75-19D78FC487EE}"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3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3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3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3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E822BBF9-B81A-4D00-B108-194D6BD8FE14}"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3759120" y="2666880"/>
            <a:ext cx="7619760" cy="914040"/>
          </a:xfrm>
          <a:prstGeom prst="rect">
            <a:avLst/>
          </a:prstGeom>
          <a:noFill/>
          <a:ln w="0">
            <a:noFill/>
          </a:ln>
        </p:spPr>
        <p:txBody>
          <a:bodyPr lIns="0" tIns="0" rIns="0" bIns="0" anchor="ctr">
            <a:noAutofit/>
          </a:bodyPr>
          <a:lstStyle/>
          <a:p>
            <a:endParaRPr lang="en-US" sz="2800" b="0" strike="noStrike" spc="-1">
              <a:solidFill>
                <a:srgbClr val="000000"/>
              </a:solidFill>
              <a:latin typeface="Arial"/>
            </a:endParaRPr>
          </a:p>
        </p:txBody>
      </p:sp>
      <p:sp>
        <p:nvSpPr>
          <p:cNvPr id="140"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41"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42"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43"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44"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145"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2800" b="0" strike="noStrike" spc="-1">
              <a:solidFill>
                <a:srgbClr val="000000"/>
              </a:solidFill>
              <a:latin typeface="Arial"/>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F224A6B3-33B4-4DC2-BD58-848157A3F498}"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grpSp>
        <p:nvGrpSpPr>
          <p:cNvPr id="11" name="Group 79"/>
          <p:cNvGrpSpPr/>
          <p:nvPr/>
        </p:nvGrpSpPr>
        <p:grpSpPr>
          <a:xfrm>
            <a:off x="914400" y="685800"/>
            <a:ext cx="11277360" cy="259920"/>
            <a:chOff x="914400" y="685800"/>
            <a:chExt cx="11277360" cy="259920"/>
          </a:xfrm>
        </p:grpSpPr>
        <p:sp>
          <p:nvSpPr>
            <p:cNvPr id="12" name="Rectangle 77"/>
            <p:cNvSpPr/>
            <p:nvPr/>
          </p:nvSpPr>
          <p:spPr>
            <a:xfrm>
              <a:off x="914400" y="685800"/>
              <a:ext cx="11277360" cy="117360"/>
            </a:xfrm>
            <a:prstGeom prst="rect">
              <a:avLst/>
            </a:prstGeom>
            <a:gradFill rotWithShape="0">
              <a:gsLst>
                <a:gs pos="0">
                  <a:srgbClr val="FFFFFF">
                    <a:alpha val="0"/>
                  </a:srgbClr>
                </a:gs>
                <a:gs pos="100000">
                  <a:srgbClr val="969696">
                    <a:alpha val="27058"/>
                  </a:srgbClr>
                </a:gs>
              </a:gsLst>
              <a:lin ang="0"/>
            </a:gradFill>
            <a:ln w="0">
              <a:noFill/>
            </a:ln>
          </p:spPr>
          <p:style>
            <a:lnRef idx="0">
              <a:scrgbClr r="0" g="0" b="0"/>
            </a:lnRef>
            <a:fillRef idx="0">
              <a:scrgbClr r="0" g="0" b="0"/>
            </a:fillRef>
            <a:effectRef idx="0">
              <a:scrgbClr r="0" g="0" b="0"/>
            </a:effectRef>
            <a:fontRef idx="minor"/>
          </p:style>
        </p:sp>
        <p:sp>
          <p:nvSpPr>
            <p:cNvPr id="2" name="Rectangle 78"/>
            <p:cNvSpPr/>
            <p:nvPr/>
          </p:nvSpPr>
          <p:spPr>
            <a:xfrm>
              <a:off x="914400" y="828360"/>
              <a:ext cx="11277360" cy="117360"/>
            </a:xfrm>
            <a:prstGeom prst="rect">
              <a:avLst/>
            </a:prstGeom>
            <a:gradFill rotWithShape="0">
              <a:gsLst>
                <a:gs pos="0">
                  <a:srgbClr val="FFFFFF">
                    <a:alpha val="0"/>
                  </a:srgbClr>
                </a:gs>
                <a:gs pos="100000">
                  <a:srgbClr val="969696">
                    <a:alpha val="27058"/>
                  </a:srgbClr>
                </a:gs>
              </a:gsLst>
              <a:lin ang="0"/>
            </a:gradFill>
            <a:ln w="0">
              <a:noFill/>
            </a:ln>
          </p:spPr>
          <p:style>
            <a:lnRef idx="0">
              <a:scrgbClr r="0" g="0" b="0"/>
            </a:lnRef>
            <a:fillRef idx="0">
              <a:scrgbClr r="0" g="0" b="0"/>
            </a:fillRef>
            <a:effectRef idx="0">
              <a:scrgbClr r="0" g="0" b="0"/>
            </a:effectRef>
            <a:fontRef idx="minor"/>
          </p:style>
        </p:sp>
      </p:grpSp>
      <p:grpSp>
        <p:nvGrpSpPr>
          <p:cNvPr id="3" name="Group 73"/>
          <p:cNvGrpSpPr/>
          <p:nvPr/>
        </p:nvGrpSpPr>
        <p:grpSpPr>
          <a:xfrm>
            <a:off x="480600" y="457200"/>
            <a:ext cx="711000" cy="609120"/>
            <a:chOff x="480600" y="457200"/>
            <a:chExt cx="711000" cy="609120"/>
          </a:xfrm>
        </p:grpSpPr>
        <p:sp>
          <p:nvSpPr>
            <p:cNvPr id="4" name="Freeform 69"/>
            <p:cNvSpPr/>
            <p:nvPr/>
          </p:nvSpPr>
          <p:spPr>
            <a:xfrm>
              <a:off x="480600" y="457200"/>
              <a:ext cx="371520" cy="29232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5" name="Freeform 70"/>
            <p:cNvSpPr/>
            <p:nvPr/>
          </p:nvSpPr>
          <p:spPr>
            <a:xfrm rot="5400000">
              <a:off x="521280" y="734040"/>
              <a:ext cx="291240" cy="37296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6" name="Freeform 71"/>
            <p:cNvSpPr/>
            <p:nvPr/>
          </p:nvSpPr>
          <p:spPr>
            <a:xfrm>
              <a:off x="818640" y="457200"/>
              <a:ext cx="371520" cy="29232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7" name="Freeform 72"/>
            <p:cNvSpPr/>
            <p:nvPr/>
          </p:nvSpPr>
          <p:spPr>
            <a:xfrm rot="5400000">
              <a:off x="859320" y="734040"/>
              <a:ext cx="291240" cy="37296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grpSp>
      <p:sp>
        <p:nvSpPr>
          <p:cNvPr id="8" name="TextBox 14" hidden="1"/>
          <p:cNvSpPr/>
          <p:nvPr/>
        </p:nvSpPr>
        <p:spPr>
          <a:xfrm>
            <a:off x="5689440" y="6465240"/>
            <a:ext cx="5536800" cy="3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buNone/>
            </a:pPr>
            <a:r>
              <a:rPr lang="en-US" sz="1400" b="1" strike="noStrike" spc="-1">
                <a:solidFill>
                  <a:srgbClr val="FFFFFF"/>
                </a:solidFill>
                <a:latin typeface="Arial"/>
              </a:rPr>
              <a:t>HCMC University of Technology and Education</a:t>
            </a:r>
            <a:endParaRPr lang="en-US" sz="1400" b="0" strike="noStrike" spc="-1">
              <a:latin typeface="Arial"/>
            </a:endParaRPr>
          </a:p>
        </p:txBody>
      </p:sp>
      <p:sp>
        <p:nvSpPr>
          <p:cNvPr id="9" name="PlaceHolder 1"/>
          <p:cNvSpPr>
            <a:spLocks noGrp="1"/>
          </p:cNvSpPr>
          <p:nvPr>
            <p:ph type="title"/>
          </p:nvPr>
        </p:nvSpPr>
        <p:spPr>
          <a:xfrm>
            <a:off x="3759120" y="2666880"/>
            <a:ext cx="7619760" cy="914040"/>
          </a:xfrm>
          <a:prstGeom prst="rect">
            <a:avLst/>
          </a:prstGeom>
          <a:noFill/>
          <a:ln w="0">
            <a:noFill/>
          </a:ln>
        </p:spPr>
        <p:txBody>
          <a:bodyPr numCol="1" spcCol="0" anchor="ctr">
            <a:noAutofit/>
          </a:bodyPr>
          <a:lstStyle/>
          <a:p>
            <a:pPr algn="r">
              <a:lnSpc>
                <a:spcPct val="100000"/>
              </a:lnSpc>
              <a:buNone/>
            </a:pPr>
            <a:r>
              <a:rPr lang="en-US" sz="4000" b="1" strike="noStrike" spc="-1">
                <a:solidFill>
                  <a:srgbClr val="000000"/>
                </a:solidFill>
                <a:latin typeface="Arial"/>
              </a:rPr>
              <a:t>Click to edit Master title style</a:t>
            </a:r>
            <a:endParaRPr lang="en-US" sz="4000" b="0" strike="noStrike" spc="-1">
              <a:solidFill>
                <a:srgbClr val="000000"/>
              </a:solidFill>
              <a:latin typeface="Arial"/>
            </a:endParaRPr>
          </a:p>
        </p:txBody>
      </p:sp>
      <p:sp>
        <p:nvSpPr>
          <p:cNvPr id="1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grpSp>
        <p:nvGrpSpPr>
          <p:cNvPr id="47" name="Group 79"/>
          <p:cNvGrpSpPr/>
          <p:nvPr/>
        </p:nvGrpSpPr>
        <p:grpSpPr>
          <a:xfrm>
            <a:off x="914400" y="685800"/>
            <a:ext cx="11277360" cy="259920"/>
            <a:chOff x="914400" y="685800"/>
            <a:chExt cx="11277360" cy="259920"/>
          </a:xfrm>
        </p:grpSpPr>
        <p:sp>
          <p:nvSpPr>
            <p:cNvPr id="48" name="Rectangle 77"/>
            <p:cNvSpPr/>
            <p:nvPr/>
          </p:nvSpPr>
          <p:spPr>
            <a:xfrm>
              <a:off x="914400" y="685800"/>
              <a:ext cx="11277360" cy="117360"/>
            </a:xfrm>
            <a:prstGeom prst="rect">
              <a:avLst/>
            </a:prstGeom>
            <a:gradFill rotWithShape="0">
              <a:gsLst>
                <a:gs pos="0">
                  <a:srgbClr val="FFFFFF">
                    <a:alpha val="0"/>
                  </a:srgbClr>
                </a:gs>
                <a:gs pos="100000">
                  <a:srgbClr val="969696">
                    <a:alpha val="27058"/>
                  </a:srgbClr>
                </a:gs>
              </a:gsLst>
              <a:lin ang="0"/>
            </a:gradFill>
            <a:ln w="0">
              <a:noFill/>
            </a:ln>
          </p:spPr>
          <p:style>
            <a:lnRef idx="0">
              <a:scrgbClr r="0" g="0" b="0"/>
            </a:lnRef>
            <a:fillRef idx="0">
              <a:scrgbClr r="0" g="0" b="0"/>
            </a:fillRef>
            <a:effectRef idx="0">
              <a:scrgbClr r="0" g="0" b="0"/>
            </a:effectRef>
            <a:fontRef idx="minor"/>
          </p:style>
        </p:sp>
        <p:sp>
          <p:nvSpPr>
            <p:cNvPr id="49" name="Rectangle 78"/>
            <p:cNvSpPr/>
            <p:nvPr/>
          </p:nvSpPr>
          <p:spPr>
            <a:xfrm>
              <a:off x="914400" y="828360"/>
              <a:ext cx="11277360" cy="117360"/>
            </a:xfrm>
            <a:prstGeom prst="rect">
              <a:avLst/>
            </a:prstGeom>
            <a:gradFill rotWithShape="0">
              <a:gsLst>
                <a:gs pos="0">
                  <a:srgbClr val="FFFFFF">
                    <a:alpha val="0"/>
                  </a:srgbClr>
                </a:gs>
                <a:gs pos="100000">
                  <a:srgbClr val="969696">
                    <a:alpha val="27058"/>
                  </a:srgbClr>
                </a:gs>
              </a:gsLst>
              <a:lin ang="0"/>
            </a:gradFill>
            <a:ln w="0">
              <a:noFill/>
            </a:ln>
          </p:spPr>
          <p:style>
            <a:lnRef idx="0">
              <a:scrgbClr r="0" g="0" b="0"/>
            </a:lnRef>
            <a:fillRef idx="0">
              <a:scrgbClr r="0" g="0" b="0"/>
            </a:fillRef>
            <a:effectRef idx="0">
              <a:scrgbClr r="0" g="0" b="0"/>
            </a:effectRef>
            <a:fontRef idx="minor"/>
          </p:style>
        </p:sp>
      </p:grpSp>
      <p:grpSp>
        <p:nvGrpSpPr>
          <p:cNvPr id="50" name="Group 73"/>
          <p:cNvGrpSpPr/>
          <p:nvPr/>
        </p:nvGrpSpPr>
        <p:grpSpPr>
          <a:xfrm>
            <a:off x="480600" y="457200"/>
            <a:ext cx="711000" cy="609120"/>
            <a:chOff x="480600" y="457200"/>
            <a:chExt cx="711000" cy="609120"/>
          </a:xfrm>
        </p:grpSpPr>
        <p:sp>
          <p:nvSpPr>
            <p:cNvPr id="51" name="Freeform 69"/>
            <p:cNvSpPr/>
            <p:nvPr/>
          </p:nvSpPr>
          <p:spPr>
            <a:xfrm>
              <a:off x="480600" y="457200"/>
              <a:ext cx="371520" cy="29232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52" name="Freeform 70"/>
            <p:cNvSpPr/>
            <p:nvPr/>
          </p:nvSpPr>
          <p:spPr>
            <a:xfrm rot="5400000">
              <a:off x="521280" y="734040"/>
              <a:ext cx="291240" cy="37296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53" name="Freeform 71"/>
            <p:cNvSpPr/>
            <p:nvPr/>
          </p:nvSpPr>
          <p:spPr>
            <a:xfrm>
              <a:off x="818640" y="457200"/>
              <a:ext cx="371520" cy="29232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54" name="Freeform 72"/>
            <p:cNvSpPr/>
            <p:nvPr/>
          </p:nvSpPr>
          <p:spPr>
            <a:xfrm rot="5400000">
              <a:off x="859320" y="734040"/>
              <a:ext cx="291240" cy="37296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grpSp>
      <p:sp>
        <p:nvSpPr>
          <p:cNvPr id="55" name="TextBox 14"/>
          <p:cNvSpPr/>
          <p:nvPr/>
        </p:nvSpPr>
        <p:spPr>
          <a:xfrm>
            <a:off x="5689440" y="6465240"/>
            <a:ext cx="5536800" cy="3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buNone/>
            </a:pPr>
            <a:r>
              <a:rPr lang="en-US" sz="1400" b="1" strike="noStrike" spc="-1">
                <a:solidFill>
                  <a:srgbClr val="FFFFFF"/>
                </a:solidFill>
                <a:latin typeface="Arial"/>
              </a:rPr>
              <a:t>HCMC University of Technology and Education</a:t>
            </a:r>
            <a:endParaRPr lang="en-US" sz="1400" b="0" strike="noStrike" spc="-1">
              <a:latin typeface="Arial"/>
            </a:endParaRPr>
          </a:p>
        </p:txBody>
      </p:sp>
      <p:sp>
        <p:nvSpPr>
          <p:cNvPr id="56" name="PlaceHolder 1"/>
          <p:cNvSpPr>
            <a:spLocks noGrp="1"/>
          </p:cNvSpPr>
          <p:nvPr>
            <p:ph type="title"/>
          </p:nvPr>
        </p:nvSpPr>
        <p:spPr>
          <a:xfrm>
            <a:off x="1219320" y="457200"/>
            <a:ext cx="10058040" cy="563040"/>
          </a:xfrm>
          <a:prstGeom prst="rect">
            <a:avLst/>
          </a:prstGeom>
          <a:noFill/>
          <a:ln w="0">
            <a:noFill/>
          </a:ln>
        </p:spPr>
        <p:txBody>
          <a:bodyPr numCol="1" spcCol="0" anchor="ctr">
            <a:noAutofit/>
          </a:bodyPr>
          <a:lstStyle/>
          <a:p>
            <a:pPr>
              <a:lnSpc>
                <a:spcPct val="100000"/>
              </a:lnSpc>
              <a:buNone/>
            </a:pPr>
            <a:r>
              <a:rPr lang="en-US" sz="2800" b="1" strike="noStrike" spc="-1">
                <a:solidFill>
                  <a:srgbClr val="4B546F"/>
                </a:solidFill>
                <a:latin typeface="Arial"/>
              </a:rPr>
              <a:t>Click to edit Master title style</a:t>
            </a:r>
            <a:endParaRPr lang="en-US" sz="2800" b="0" strike="noStrike" spc="-1">
              <a:solidFill>
                <a:srgbClr val="000000"/>
              </a:solidFill>
              <a:latin typeface="Arial"/>
            </a:endParaRPr>
          </a:p>
        </p:txBody>
      </p:sp>
      <p:sp>
        <p:nvSpPr>
          <p:cNvPr id="57" name="PlaceHolder 2"/>
          <p:cNvSpPr>
            <a:spLocks noGrp="1"/>
          </p:cNvSpPr>
          <p:nvPr>
            <p:ph type="body"/>
          </p:nvPr>
        </p:nvSpPr>
        <p:spPr>
          <a:xfrm>
            <a:off x="507960" y="1295280"/>
            <a:ext cx="11073960" cy="4723920"/>
          </a:xfrm>
          <a:prstGeom prst="rect">
            <a:avLst/>
          </a:prstGeom>
          <a:noFill/>
          <a:ln w="0">
            <a:noFill/>
          </a:ln>
        </p:spPr>
        <p:txBody>
          <a:bodyPr numCol="1" spcCol="0" anchor="t">
            <a:noAutofit/>
          </a:bodyPr>
          <a:lstStyle/>
          <a:p>
            <a:pPr marL="343080" indent="-343080">
              <a:lnSpc>
                <a:spcPct val="100000"/>
              </a:lnSpc>
              <a:spcBef>
                <a:spcPts val="561"/>
              </a:spcBef>
              <a:buClr>
                <a:srgbClr val="4B546F"/>
              </a:buClr>
              <a:buFont typeface="Wingdings" charset="2"/>
              <a:buChar char=""/>
            </a:pPr>
            <a:r>
              <a:rPr lang="en-US" sz="2800" b="0" strike="noStrike" spc="-1">
                <a:solidFill>
                  <a:srgbClr val="144082"/>
                </a:solidFill>
                <a:latin typeface="Arial"/>
              </a:rPr>
              <a:t>Click to edit Master text styles</a:t>
            </a:r>
            <a:endParaRPr lang="en-US" sz="2800" b="0" strike="noStrike" spc="-1">
              <a:solidFill>
                <a:srgbClr val="000000"/>
              </a:solidFill>
              <a:latin typeface="Arial"/>
            </a:endParaRPr>
          </a:p>
          <a:p>
            <a:pPr marL="743040" lvl="1" indent="-285840">
              <a:lnSpc>
                <a:spcPct val="100000"/>
              </a:lnSpc>
              <a:spcBef>
                <a:spcPts val="479"/>
              </a:spcBef>
              <a:buClr>
                <a:srgbClr val="4987E3"/>
              </a:buClr>
              <a:buFont typeface="Wingdings" charset="2"/>
              <a:buChar char=""/>
            </a:pPr>
            <a:r>
              <a:rPr lang="en-US" sz="2400" b="0" strike="noStrike" spc="-1">
                <a:solidFill>
                  <a:srgbClr val="000000"/>
                </a:solidFill>
                <a:latin typeface="Arial"/>
              </a:rPr>
              <a:t>Second level</a:t>
            </a:r>
          </a:p>
          <a:p>
            <a:pPr marL="1143000" lvl="2" indent="-228600">
              <a:lnSpc>
                <a:spcPct val="100000"/>
              </a:lnSpc>
              <a:spcBef>
                <a:spcPts val="400"/>
              </a:spcBef>
              <a:buClr>
                <a:srgbClr val="000000"/>
              </a:buClr>
              <a:buFont typeface="Symbol" charset="2"/>
              <a:buChar char=""/>
            </a:pPr>
            <a:r>
              <a:rPr lang="en-US" sz="2000" b="0" strike="noStrike" spc="-1">
                <a:solidFill>
                  <a:srgbClr val="000000"/>
                </a:solidFill>
                <a:latin typeface="Arial"/>
              </a:rPr>
              <a:t>Third level</a:t>
            </a:r>
          </a:p>
          <a:p>
            <a:pPr marL="1600200" lvl="3" indent="-228600">
              <a:lnSpc>
                <a:spcPct val="100000"/>
              </a:lnSpc>
              <a:spcBef>
                <a:spcPts val="360"/>
              </a:spcBef>
              <a:buClr>
                <a:srgbClr val="000000"/>
              </a:buClr>
              <a:buFont typeface="Symbol" charset="2"/>
              <a:buChar char=""/>
            </a:pPr>
            <a:r>
              <a:rPr lang="en-US" sz="1800" b="0" strike="noStrike" spc="-1">
                <a:solidFill>
                  <a:srgbClr val="000000"/>
                </a:solidFill>
                <a:latin typeface="Arial"/>
              </a:rPr>
              <a:t>Fourth level</a:t>
            </a:r>
          </a:p>
          <a:p>
            <a:pPr marL="2057400" lvl="4" indent="-228600">
              <a:lnSpc>
                <a:spcPct val="100000"/>
              </a:lnSpc>
              <a:spcBef>
                <a:spcPts val="360"/>
              </a:spcBef>
              <a:buClr>
                <a:srgbClr val="000000"/>
              </a:buClr>
              <a:buFont typeface="StarSymbol"/>
              <a:buChar char="»"/>
            </a:pPr>
            <a:r>
              <a:rPr lang="en-US" sz="1800" b="0" strike="noStrike" spc="-1">
                <a:solidFill>
                  <a:srgbClr val="000000"/>
                </a:solidFill>
                <a:latin typeface="Arial"/>
              </a:rPr>
              <a:t>Fifth level</a:t>
            </a:r>
          </a:p>
        </p:txBody>
      </p:sp>
      <p:sp>
        <p:nvSpPr>
          <p:cNvPr id="58" name="PlaceHolder 3"/>
          <p:cNvSpPr>
            <a:spLocks noGrp="1"/>
          </p:cNvSpPr>
          <p:nvPr>
            <p:ph type="dt" idx="1"/>
          </p:nvPr>
        </p:nvSpPr>
        <p:spPr>
          <a:xfrm>
            <a:off x="1625760" y="6629400"/>
            <a:ext cx="1828440" cy="228240"/>
          </a:xfrm>
          <a:prstGeom prst="rect">
            <a:avLst/>
          </a:prstGeom>
          <a:noFill/>
          <a:ln w="0">
            <a:noFill/>
          </a:ln>
        </p:spPr>
        <p:txBody>
          <a:bodyPr numCol="1" spcCol="0" anchor="t">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59" name="PlaceHolder 4"/>
          <p:cNvSpPr>
            <a:spLocks noGrp="1"/>
          </p:cNvSpPr>
          <p:nvPr>
            <p:ph type="sldNum" idx="2"/>
          </p:nvPr>
        </p:nvSpPr>
        <p:spPr>
          <a:xfrm>
            <a:off x="4673520" y="6629400"/>
            <a:ext cx="1320480" cy="228240"/>
          </a:xfrm>
          <a:prstGeom prst="rect">
            <a:avLst/>
          </a:prstGeom>
          <a:noFill/>
          <a:ln w="0">
            <a:noFill/>
          </a:ln>
        </p:spPr>
        <p:txBody>
          <a:bodyPr numCol="1" spcCol="0" anchor="t">
            <a:noAutofit/>
          </a:bodyPr>
          <a:lstStyle>
            <a:lvl1pPr algn="ctr">
              <a:lnSpc>
                <a:spcPct val="100000"/>
              </a:lnSpc>
              <a:buNone/>
              <a:defRPr lang="en-US" sz="1200" b="0" strike="noStrike" spc="-1">
                <a:solidFill>
                  <a:srgbClr val="FFFFFF"/>
                </a:solidFill>
                <a:latin typeface="Arial"/>
              </a:defRPr>
            </a:lvl1pPr>
          </a:lstStyle>
          <a:p>
            <a:pPr algn="ctr">
              <a:lnSpc>
                <a:spcPct val="100000"/>
              </a:lnSpc>
              <a:buNone/>
            </a:pPr>
            <a:fld id="{91E88DDC-91AE-4DEE-94A0-E9E55A64A998}" type="slidenum">
              <a:rPr lang="en-US" sz="1200" b="0" strike="noStrike" spc="-1">
                <a:solidFill>
                  <a:srgbClr val="FFFFFF"/>
                </a:solidFill>
                <a:latin typeface="Arial"/>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grpSp>
        <p:nvGrpSpPr>
          <p:cNvPr id="96" name="Group 79"/>
          <p:cNvGrpSpPr/>
          <p:nvPr/>
        </p:nvGrpSpPr>
        <p:grpSpPr>
          <a:xfrm>
            <a:off x="914400" y="685800"/>
            <a:ext cx="11277360" cy="259920"/>
            <a:chOff x="914400" y="685800"/>
            <a:chExt cx="11277360" cy="259920"/>
          </a:xfrm>
        </p:grpSpPr>
        <p:sp>
          <p:nvSpPr>
            <p:cNvPr id="97" name="Rectangle 77"/>
            <p:cNvSpPr/>
            <p:nvPr/>
          </p:nvSpPr>
          <p:spPr>
            <a:xfrm>
              <a:off x="914400" y="685800"/>
              <a:ext cx="11277360" cy="117360"/>
            </a:xfrm>
            <a:prstGeom prst="rect">
              <a:avLst/>
            </a:prstGeom>
            <a:gradFill rotWithShape="0">
              <a:gsLst>
                <a:gs pos="0">
                  <a:srgbClr val="FFFFFF">
                    <a:alpha val="0"/>
                  </a:srgbClr>
                </a:gs>
                <a:gs pos="100000">
                  <a:srgbClr val="969696">
                    <a:alpha val="27058"/>
                  </a:srgbClr>
                </a:gs>
              </a:gsLst>
              <a:lin ang="0"/>
            </a:gradFill>
            <a:ln w="0">
              <a:noFill/>
            </a:ln>
          </p:spPr>
          <p:style>
            <a:lnRef idx="0">
              <a:scrgbClr r="0" g="0" b="0"/>
            </a:lnRef>
            <a:fillRef idx="0">
              <a:scrgbClr r="0" g="0" b="0"/>
            </a:fillRef>
            <a:effectRef idx="0">
              <a:scrgbClr r="0" g="0" b="0"/>
            </a:effectRef>
            <a:fontRef idx="minor"/>
          </p:style>
        </p:sp>
        <p:sp>
          <p:nvSpPr>
            <p:cNvPr id="98" name="Rectangle 78"/>
            <p:cNvSpPr/>
            <p:nvPr/>
          </p:nvSpPr>
          <p:spPr>
            <a:xfrm>
              <a:off x="914400" y="828360"/>
              <a:ext cx="11277360" cy="117360"/>
            </a:xfrm>
            <a:prstGeom prst="rect">
              <a:avLst/>
            </a:prstGeom>
            <a:gradFill rotWithShape="0">
              <a:gsLst>
                <a:gs pos="0">
                  <a:srgbClr val="FFFFFF">
                    <a:alpha val="0"/>
                  </a:srgbClr>
                </a:gs>
                <a:gs pos="100000">
                  <a:srgbClr val="969696">
                    <a:alpha val="27058"/>
                  </a:srgbClr>
                </a:gs>
              </a:gsLst>
              <a:lin ang="0"/>
            </a:gradFill>
            <a:ln w="0">
              <a:noFill/>
            </a:ln>
          </p:spPr>
          <p:style>
            <a:lnRef idx="0">
              <a:scrgbClr r="0" g="0" b="0"/>
            </a:lnRef>
            <a:fillRef idx="0">
              <a:scrgbClr r="0" g="0" b="0"/>
            </a:fillRef>
            <a:effectRef idx="0">
              <a:scrgbClr r="0" g="0" b="0"/>
            </a:effectRef>
            <a:fontRef idx="minor"/>
          </p:style>
        </p:sp>
      </p:grpSp>
      <p:grpSp>
        <p:nvGrpSpPr>
          <p:cNvPr id="99" name="Group 73"/>
          <p:cNvGrpSpPr/>
          <p:nvPr/>
        </p:nvGrpSpPr>
        <p:grpSpPr>
          <a:xfrm>
            <a:off x="480600" y="457200"/>
            <a:ext cx="711000" cy="609120"/>
            <a:chOff x="480600" y="457200"/>
            <a:chExt cx="711000" cy="609120"/>
          </a:xfrm>
        </p:grpSpPr>
        <p:sp>
          <p:nvSpPr>
            <p:cNvPr id="100" name="Freeform 69"/>
            <p:cNvSpPr/>
            <p:nvPr/>
          </p:nvSpPr>
          <p:spPr>
            <a:xfrm>
              <a:off x="480600" y="457200"/>
              <a:ext cx="371520" cy="29232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101" name="Freeform 70"/>
            <p:cNvSpPr/>
            <p:nvPr/>
          </p:nvSpPr>
          <p:spPr>
            <a:xfrm rot="5400000">
              <a:off x="521280" y="734040"/>
              <a:ext cx="291240" cy="37296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102" name="Freeform 71"/>
            <p:cNvSpPr/>
            <p:nvPr/>
          </p:nvSpPr>
          <p:spPr>
            <a:xfrm>
              <a:off x="818640" y="457200"/>
              <a:ext cx="371520" cy="29232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sp>
          <p:nvSpPr>
            <p:cNvPr id="103" name="Freeform 72"/>
            <p:cNvSpPr/>
            <p:nvPr/>
          </p:nvSpPr>
          <p:spPr>
            <a:xfrm rot="5400000">
              <a:off x="859320" y="734040"/>
              <a:ext cx="291240" cy="372960"/>
            </a:xfrm>
            <a:custGeom>
              <a:avLst/>
              <a:gdLst/>
              <a:ahLst/>
              <a:cxnLst/>
              <a:rect l="l" t="t"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w="0">
              <a:noFill/>
            </a:ln>
          </p:spPr>
          <p:style>
            <a:lnRef idx="0">
              <a:scrgbClr r="0" g="0" b="0"/>
            </a:lnRef>
            <a:fillRef idx="0">
              <a:scrgbClr r="0" g="0" b="0"/>
            </a:fillRef>
            <a:effectRef idx="0">
              <a:scrgbClr r="0" g="0" b="0"/>
            </a:effectRef>
            <a:fontRef idx="minor"/>
          </p:style>
        </p:sp>
      </p:grpSp>
      <p:sp>
        <p:nvSpPr>
          <p:cNvPr id="104" name="TextBox 14"/>
          <p:cNvSpPr/>
          <p:nvPr/>
        </p:nvSpPr>
        <p:spPr>
          <a:xfrm>
            <a:off x="5689440" y="6465240"/>
            <a:ext cx="5536800" cy="302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buNone/>
            </a:pPr>
            <a:r>
              <a:rPr lang="en-US" sz="1400" b="1" strike="noStrike" spc="-1">
                <a:solidFill>
                  <a:srgbClr val="FFFFFF"/>
                </a:solidFill>
                <a:latin typeface="Arial"/>
              </a:rPr>
              <a:t>HCMC University of Technology and Education</a:t>
            </a:r>
            <a:endParaRPr lang="en-US" sz="1400" b="0" strike="noStrike" spc="-1">
              <a:latin typeface="Arial"/>
            </a:endParaRPr>
          </a:p>
        </p:txBody>
      </p:sp>
      <p:sp>
        <p:nvSpPr>
          <p:cNvPr id="105" name="PlaceHolder 1"/>
          <p:cNvSpPr>
            <a:spLocks noGrp="1"/>
          </p:cNvSpPr>
          <p:nvPr>
            <p:ph type="dt" idx="3"/>
          </p:nvPr>
        </p:nvSpPr>
        <p:spPr>
          <a:xfrm>
            <a:off x="1625760" y="6622200"/>
            <a:ext cx="1929960" cy="228240"/>
          </a:xfrm>
          <a:prstGeom prst="rect">
            <a:avLst/>
          </a:prstGeom>
          <a:noFill/>
          <a:ln w="0">
            <a:noFill/>
          </a:ln>
        </p:spPr>
        <p:txBody>
          <a:bodyPr numCol="1" spcCol="0" anchor="t">
            <a:noAutofit/>
          </a:bodyPr>
          <a:lstStyle>
            <a:lvl1pPr>
              <a:lnSpc>
                <a:spcPct val="100000"/>
              </a:lnSpc>
              <a:buNone/>
              <a:defRPr lang="en-US" sz="1200" b="0" strike="noStrike" spc="-1">
                <a:solidFill>
                  <a:srgbClr val="FFFFFF"/>
                </a:solidFill>
                <a:latin typeface="Arial"/>
              </a:defRPr>
            </a:lvl1pPr>
          </a:lstStyle>
          <a:p>
            <a:pPr>
              <a:lnSpc>
                <a:spcPct val="100000"/>
              </a:lnSpc>
              <a:buNone/>
            </a:pPr>
            <a:r>
              <a:rPr lang="en-US" sz="1200" b="0" strike="noStrike" spc="-1">
                <a:solidFill>
                  <a:srgbClr val="FFFFFF"/>
                </a:solidFill>
                <a:latin typeface="Arial"/>
              </a:rPr>
              <a:t>&lt;date/time&gt;</a:t>
            </a:r>
            <a:endParaRPr lang="en-US" sz="1200" b="0" strike="noStrike" spc="-1">
              <a:latin typeface="Times New Roman"/>
            </a:endParaRPr>
          </a:p>
        </p:txBody>
      </p:sp>
      <p:sp>
        <p:nvSpPr>
          <p:cNvPr id="106" name="PlaceHolder 2"/>
          <p:cNvSpPr>
            <a:spLocks noGrp="1"/>
          </p:cNvSpPr>
          <p:nvPr>
            <p:ph type="ftr" idx="4"/>
          </p:nvPr>
        </p:nvSpPr>
        <p:spPr>
          <a:xfrm>
            <a:off x="0" y="0"/>
            <a:ext cx="0" cy="0"/>
          </a:xfrm>
          <a:prstGeom prst="rect">
            <a:avLst/>
          </a:prstGeom>
          <a:noFill/>
          <a:ln w="0">
            <a:noFill/>
          </a:ln>
        </p:spPr>
        <p:txBody>
          <a:bodyPr lIns="90000" tIns="90000" rIns="90000" bIns="90000" anchor="t">
            <a:noAutofit/>
          </a:bodyPr>
          <a:lstStyle>
            <a:lvl1pPr algn="ctr">
              <a:buNone/>
              <a:defRPr lang="en-US" sz="1400" b="0" strike="noStrike" spc="-1">
                <a:latin typeface="Times New Roman"/>
              </a:defRPr>
            </a:lvl1pPr>
          </a:lstStyle>
          <a:p>
            <a:pPr algn="ctr">
              <a:buNone/>
            </a:pPr>
            <a:r>
              <a:rPr lang="en-US" sz="1400" b="0" strike="noStrike" spc="-1">
                <a:latin typeface="Times New Roman"/>
              </a:rPr>
              <a:t>&lt;footer&gt;</a:t>
            </a:r>
          </a:p>
        </p:txBody>
      </p:sp>
      <p:sp>
        <p:nvSpPr>
          <p:cNvPr id="107" name="PlaceHolder 3"/>
          <p:cNvSpPr>
            <a:spLocks noGrp="1"/>
          </p:cNvSpPr>
          <p:nvPr>
            <p:ph type="sldNum" idx="5"/>
          </p:nvPr>
        </p:nvSpPr>
        <p:spPr>
          <a:xfrm>
            <a:off x="11250720" y="6619320"/>
            <a:ext cx="964800" cy="228240"/>
          </a:xfrm>
          <a:prstGeom prst="rect">
            <a:avLst/>
          </a:prstGeom>
          <a:noFill/>
          <a:ln w="0">
            <a:noFill/>
          </a:ln>
        </p:spPr>
        <p:txBody>
          <a:bodyPr numCol="1" spcCol="0" anchor="t">
            <a:noAutofit/>
          </a:bodyPr>
          <a:lstStyle>
            <a:lvl1pPr algn="ctr">
              <a:lnSpc>
                <a:spcPct val="100000"/>
              </a:lnSpc>
              <a:buNone/>
              <a:defRPr lang="en-US" sz="1200" b="0" strike="noStrike" spc="-1">
                <a:solidFill>
                  <a:srgbClr val="FFFFFF"/>
                </a:solidFill>
                <a:latin typeface="Arial"/>
              </a:defRPr>
            </a:lvl1pPr>
          </a:lstStyle>
          <a:p>
            <a:pPr algn="ctr">
              <a:lnSpc>
                <a:spcPct val="100000"/>
              </a:lnSpc>
              <a:buNone/>
            </a:pPr>
            <a:fld id="{808831FF-3E1E-418D-A1CF-FEBD6315149F}" type="slidenum">
              <a:rPr lang="en-US" sz="1200" b="0" strike="noStrike" spc="-1">
                <a:solidFill>
                  <a:srgbClr val="FFFFFF"/>
                </a:solidFill>
                <a:latin typeface="Arial"/>
              </a:rPr>
              <a:t>‹#›</a:t>
            </a:fld>
            <a:endParaRPr lang="en-US" sz="1200" b="0" strike="noStrike" spc="-1">
              <a:latin typeface="Times New Roman"/>
            </a:endParaRPr>
          </a:p>
        </p:txBody>
      </p:sp>
      <p:sp>
        <p:nvSpPr>
          <p:cNvPr id="10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2800" b="0" strike="noStrike" spc="-1">
                <a:solidFill>
                  <a:srgbClr val="000000"/>
                </a:solidFill>
                <a:latin typeface="Arial"/>
              </a:rPr>
              <a:t>Click to edit the title text format</a:t>
            </a:r>
          </a:p>
        </p:txBody>
      </p:sp>
      <p:sp>
        <p:nvSpPr>
          <p:cNvPr id="10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25.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file:///\\home\bao\Documents\English\15.2.%20Di%20&#273;&#7897;ng%20-%20Tu&#7847;n%202_CK%20.pptx" TargetMode="Externa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meeTeam05/smart-air.git"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3200400" y="2143080"/>
            <a:ext cx="8610120" cy="1752120"/>
          </a:xfrm>
          <a:prstGeom prst="rect">
            <a:avLst/>
          </a:prstGeom>
          <a:noFill/>
          <a:ln w="0">
            <a:noFill/>
          </a:ln>
        </p:spPr>
        <p:txBody>
          <a:bodyPr numCol="1" spcCol="0" anchor="ctr">
            <a:noAutofit/>
          </a:bodyPr>
          <a:lstStyle/>
          <a:p>
            <a:pPr algn="r">
              <a:lnSpc>
                <a:spcPct val="100000"/>
              </a:lnSpc>
              <a:buNone/>
            </a:pPr>
            <a:r>
              <a:rPr lang="en-US" sz="4000" b="1" strike="noStrike" spc="-1" dirty="0" err="1">
                <a:solidFill>
                  <a:srgbClr val="FF0000"/>
                </a:solidFill>
                <a:latin typeface="Arial"/>
              </a:rPr>
              <a:t>Môn</a:t>
            </a:r>
            <a:r>
              <a:rPr lang="en-US" sz="4000" b="1" strike="noStrike" spc="-1" dirty="0">
                <a:solidFill>
                  <a:srgbClr val="FF0000"/>
                </a:solidFill>
                <a:latin typeface="Arial"/>
              </a:rPr>
              <a:t>: </a:t>
            </a:r>
            <a:r>
              <a:rPr lang="en-US" sz="4000" b="1" strike="noStrike" spc="-1" dirty="0" err="1">
                <a:solidFill>
                  <a:srgbClr val="FF0000"/>
                </a:solidFill>
                <a:latin typeface="Arial"/>
              </a:rPr>
              <a:t>Phát</a:t>
            </a:r>
            <a:r>
              <a:rPr lang="en-US" sz="4000" b="1" strike="noStrike" spc="-1" dirty="0">
                <a:solidFill>
                  <a:srgbClr val="FF0000"/>
                </a:solidFill>
                <a:latin typeface="Arial"/>
              </a:rPr>
              <a:t> </a:t>
            </a:r>
            <a:r>
              <a:rPr lang="en-US" sz="4000" b="1" strike="noStrike" spc="-1" dirty="0" err="1">
                <a:solidFill>
                  <a:srgbClr val="FF0000"/>
                </a:solidFill>
                <a:latin typeface="Arial"/>
              </a:rPr>
              <a:t>triển</a:t>
            </a:r>
            <a:r>
              <a:rPr lang="en-US" sz="4000" b="1" strike="noStrike" spc="-1" dirty="0">
                <a:solidFill>
                  <a:srgbClr val="FF0000"/>
                </a:solidFill>
                <a:latin typeface="Arial"/>
              </a:rPr>
              <a:t> </a:t>
            </a:r>
            <a:r>
              <a:rPr lang="en-US" sz="4000" b="1" strike="noStrike" spc="-1" dirty="0" err="1">
                <a:solidFill>
                  <a:srgbClr val="FF0000"/>
                </a:solidFill>
                <a:latin typeface="Arial"/>
              </a:rPr>
              <a:t>ứng</a:t>
            </a:r>
            <a:r>
              <a:rPr lang="en-US" sz="4000" b="1" strike="noStrike" spc="-1" dirty="0">
                <a:solidFill>
                  <a:srgbClr val="FF0000"/>
                </a:solidFill>
                <a:latin typeface="Arial"/>
              </a:rPr>
              <a:t> </a:t>
            </a:r>
            <a:r>
              <a:rPr lang="en-US" sz="4000" b="1" strike="noStrike" spc="-1" dirty="0" err="1">
                <a:solidFill>
                  <a:srgbClr val="FF0000"/>
                </a:solidFill>
                <a:latin typeface="Arial"/>
              </a:rPr>
              <a:t>dụng</a:t>
            </a:r>
            <a:r>
              <a:rPr lang="en-US" sz="4000" b="1" strike="noStrike" spc="-1" dirty="0">
                <a:solidFill>
                  <a:srgbClr val="FF0000"/>
                </a:solidFill>
                <a:latin typeface="Arial"/>
              </a:rPr>
              <a:t> di </a:t>
            </a:r>
            <a:r>
              <a:rPr lang="en-US" sz="4000" b="1" strike="noStrike" spc="-1" dirty="0" err="1">
                <a:solidFill>
                  <a:srgbClr val="FF0000"/>
                </a:solidFill>
                <a:latin typeface="Arial"/>
              </a:rPr>
              <a:t>động</a:t>
            </a:r>
            <a:br>
              <a:rPr sz="4000" dirty="0"/>
            </a:br>
            <a:r>
              <a:rPr lang="en-US" sz="4000" b="1" strike="noStrike" spc="-1" dirty="0">
                <a:solidFill>
                  <a:srgbClr val="FF0000"/>
                </a:solidFill>
                <a:latin typeface="Arial"/>
              </a:rPr>
              <a:t>(Tuần5 -Project </a:t>
            </a:r>
            <a:r>
              <a:rPr lang="en-US" sz="4000" b="1" strike="noStrike" spc="-1">
                <a:solidFill>
                  <a:srgbClr val="FF0000"/>
                </a:solidFill>
                <a:latin typeface="Arial"/>
              </a:rPr>
              <a:t>ck+gk)</a:t>
            </a:r>
            <a:endParaRPr lang="en-US" sz="4000" b="0" strike="noStrike" spc="-1" dirty="0">
              <a:solidFill>
                <a:srgbClr val="000000"/>
              </a:solidFill>
              <a:latin typeface="Arial"/>
            </a:endParaRPr>
          </a:p>
        </p:txBody>
      </p:sp>
      <p:sp>
        <p:nvSpPr>
          <p:cNvPr id="153" name="Text Box 6"/>
          <p:cNvSpPr/>
          <p:nvPr/>
        </p:nvSpPr>
        <p:spPr>
          <a:xfrm>
            <a:off x="6679080" y="3864240"/>
            <a:ext cx="3613320" cy="54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r">
              <a:lnSpc>
                <a:spcPct val="150000"/>
              </a:lnSpc>
              <a:buNone/>
            </a:pPr>
            <a:r>
              <a:rPr lang="en-US" sz="2000" b="1" strike="noStrike" spc="-1">
                <a:solidFill>
                  <a:srgbClr val="D9520F"/>
                </a:solidFill>
                <a:latin typeface="Tahoma"/>
                <a:ea typeface="Tahoma"/>
              </a:rPr>
              <a:t>Guide: Huỳnh Hoàng Hà</a:t>
            </a:r>
            <a:endParaRPr lang="en-US" sz="2000" b="0" strike="noStrike" spc="-1">
              <a:latin typeface="Arial"/>
            </a:endParaRPr>
          </a:p>
        </p:txBody>
      </p:sp>
      <p:pic>
        <p:nvPicPr>
          <p:cNvPr id="154" name="Hình ảnh 4"/>
          <p:cNvPicPr/>
          <p:nvPr/>
        </p:nvPicPr>
        <p:blipFill>
          <a:blip r:embed="rId4"/>
          <a:stretch/>
        </p:blipFill>
        <p:spPr>
          <a:xfrm>
            <a:off x="0" y="0"/>
            <a:ext cx="12191760" cy="175212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1219320" y="457200"/>
            <a:ext cx="10058040" cy="563040"/>
          </a:xfrm>
          <a:prstGeom prst="rect">
            <a:avLst/>
          </a:prstGeom>
          <a:noFill/>
          <a:ln w="0">
            <a:noFill/>
          </a:ln>
        </p:spPr>
        <p:txBody>
          <a:bodyPr numCol="1" spcCol="0" anchor="ctr">
            <a:noAutofit/>
          </a:bodyPr>
          <a:lstStyle/>
          <a:p>
            <a:pPr>
              <a:lnSpc>
                <a:spcPct val="100000"/>
              </a:lnSpc>
              <a:buNone/>
            </a:pPr>
            <a:r>
              <a:rPr lang="vi-VN" sz="2800" b="1" strike="noStrike" spc="-1">
                <a:solidFill>
                  <a:srgbClr val="1B2A4A"/>
                </a:solidFill>
                <a:latin typeface="Calibri"/>
              </a:rPr>
              <a:t>Pipeline đã xây dựng (TypeScript/React Native)</a:t>
            </a:r>
            <a:endParaRPr lang="en-US" sz="2800" b="0" strike="noStrike" spc="-1">
              <a:solidFill>
                <a:srgbClr val="000000"/>
              </a:solidFill>
              <a:latin typeface="Arial"/>
            </a:endParaRPr>
          </a:p>
        </p:txBody>
      </p:sp>
      <p:sp>
        <p:nvSpPr>
          <p:cNvPr id="156" name="TextBox 4"/>
          <p:cNvSpPr/>
          <p:nvPr/>
        </p:nvSpPr>
        <p:spPr>
          <a:xfrm>
            <a:off x="6400800" y="1828800"/>
            <a:ext cx="5394600" cy="282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800"/>
              </a:spcAft>
              <a:buNone/>
            </a:pPr>
            <a:r>
              <a:rPr lang="en-US" sz="1500" b="1" strike="noStrike" spc="-1">
                <a:solidFill>
                  <a:srgbClr val="3EB489"/>
                </a:solidFill>
                <a:latin typeface="Calibri"/>
              </a:rPr>
              <a:t>●  app/ (Expo Router)  Toàn bộ route: (app), (auth), devices/[id], homes, provision</a:t>
            </a:r>
            <a:endParaRPr lang="en-US" sz="1500" b="0" strike="noStrike" spc="-1">
              <a:latin typeface="Arial"/>
            </a:endParaRPr>
          </a:p>
          <a:p>
            <a:pPr>
              <a:lnSpc>
                <a:spcPct val="100000"/>
              </a:lnSpc>
              <a:spcAft>
                <a:spcPts val="1800"/>
              </a:spcAft>
              <a:buNone/>
            </a:pPr>
            <a:r>
              <a:rPr lang="en-US" sz="1500" b="1" strike="noStrike" spc="-1">
                <a:solidFill>
                  <a:srgbClr val="3EB489"/>
                </a:solidFill>
                <a:latin typeface="Calibri"/>
              </a:rPr>
              <a:t>●  src/theme/  Design System: palette, tokens, icons, textStyles, useColors — hoàn thành</a:t>
            </a:r>
            <a:endParaRPr lang="en-US" sz="1500" b="0" strike="noStrike" spc="-1">
              <a:latin typeface="Arial"/>
            </a:endParaRPr>
          </a:p>
          <a:p>
            <a:pPr>
              <a:lnSpc>
                <a:spcPct val="100000"/>
              </a:lnSpc>
              <a:spcAft>
                <a:spcPts val="1800"/>
              </a:spcAft>
              <a:buNone/>
            </a:pPr>
            <a:r>
              <a:rPr lang="en-US" sz="1500" b="1" strike="noStrike" spc="-1">
                <a:solidFill>
                  <a:srgbClr val="3EB489"/>
                </a:solidFill>
                <a:latin typeface="Calibri"/>
              </a:rPr>
              <a:t>●  src/components/atoms, shell  Thành phần UI dùng chung, xây mới theo phong cách thiết kế của bản Flutter gốc</a:t>
            </a:r>
            <a:endParaRPr lang="en-US" sz="1500" b="0" strike="noStrike" spc="-1">
              <a:latin typeface="Arial"/>
            </a:endParaRPr>
          </a:p>
          <a:p>
            <a:pPr>
              <a:lnSpc>
                <a:spcPct val="100000"/>
              </a:lnSpc>
              <a:spcAft>
                <a:spcPts val="1800"/>
              </a:spcAft>
              <a:buNone/>
            </a:pPr>
            <a:r>
              <a:rPr lang="en-US" sz="1500" b="1" strike="noStrike" spc="-1">
                <a:solidFill>
                  <a:srgbClr val="3EB489"/>
                </a:solidFill>
                <a:latin typeface="Calibri"/>
              </a:rPr>
              <a:t>●  src/queries/  React Query: useDevices(), useHomes()</a:t>
            </a:r>
            <a:endParaRPr lang="en-US" sz="1500" b="0" strike="noStrike" spc="-1">
              <a:latin typeface="Arial"/>
            </a:endParaRPr>
          </a:p>
        </p:txBody>
      </p:sp>
      <p:sp>
        <p:nvSpPr>
          <p:cNvPr id="157" name="PlaceHolder 2"/>
          <p:cNvSpPr>
            <a:spLocks noGrp="1"/>
          </p:cNvSpPr>
          <p:nvPr>
            <p:ph/>
          </p:nvPr>
        </p:nvSpPr>
        <p:spPr>
          <a:xfrm>
            <a:off x="234720" y="1828800"/>
            <a:ext cx="5866920" cy="3978720"/>
          </a:xfrm>
          <a:prstGeom prst="rect">
            <a:avLst/>
          </a:prstGeom>
          <a:noFill/>
          <a:ln w="0">
            <a:noFill/>
          </a:ln>
        </p:spPr>
        <p:txBody>
          <a:bodyPr numCol="1" spcCol="0" anchor="t">
            <a:noAutofit/>
          </a:bodyPr>
          <a:lstStyle/>
          <a:p>
            <a:pPr marL="343080" indent="-343080">
              <a:lnSpc>
                <a:spcPct val="100000"/>
              </a:lnSpc>
              <a:spcBef>
                <a:spcPts val="300"/>
              </a:spcBef>
              <a:spcAft>
                <a:spcPts val="1800"/>
              </a:spcAft>
              <a:buClr>
                <a:srgbClr val="4B546F"/>
              </a:buClr>
              <a:buFont typeface="Wingdings" charset="2"/>
              <a:buChar char=""/>
            </a:pPr>
            <a:r>
              <a:rPr lang="en-US" sz="1500" b="1" strike="noStrike" spc="-1">
                <a:solidFill>
                  <a:srgbClr val="3EB489"/>
                </a:solidFill>
                <a:latin typeface="Calibri"/>
              </a:rPr>
              <a:t>●  src/stores/authStore.ts  Zustand — quản lý state đăng nhập</a:t>
            </a:r>
            <a:endParaRPr lang="en-US" sz="1500" b="0" strike="noStrike" spc="-1">
              <a:solidFill>
                <a:srgbClr val="000000"/>
              </a:solidFill>
              <a:latin typeface="Arial"/>
            </a:endParaRPr>
          </a:p>
          <a:p>
            <a:pPr>
              <a:lnSpc>
                <a:spcPct val="100000"/>
              </a:lnSpc>
              <a:spcBef>
                <a:spcPts val="300"/>
              </a:spcBef>
              <a:spcAft>
                <a:spcPts val="1800"/>
              </a:spcAft>
              <a:buNone/>
              <a:tabLst>
                <a:tab pos="0" algn="l"/>
              </a:tabLst>
            </a:pPr>
            <a:endParaRPr lang="en-US" sz="1500" b="0" strike="noStrike" spc="-1">
              <a:solidFill>
                <a:srgbClr val="000000"/>
              </a:solidFill>
              <a:latin typeface="Arial"/>
            </a:endParaRPr>
          </a:p>
          <a:p>
            <a:pPr marL="343080" indent="-343080">
              <a:lnSpc>
                <a:spcPct val="100000"/>
              </a:lnSpc>
              <a:spcBef>
                <a:spcPts val="300"/>
              </a:spcBef>
              <a:spcAft>
                <a:spcPts val="1800"/>
              </a:spcAft>
              <a:buClr>
                <a:srgbClr val="4B546F"/>
              </a:buClr>
              <a:buFont typeface="Wingdings" charset="2"/>
              <a:buChar char=""/>
              <a:tabLst>
                <a:tab pos="0" algn="l"/>
              </a:tabLst>
            </a:pPr>
            <a:r>
              <a:rPr lang="en-US" sz="1500" b="1" strike="noStrike" spc="-1">
                <a:solidFill>
                  <a:srgbClr val="3EB489"/>
                </a:solidFill>
                <a:latin typeface="Calibri"/>
              </a:rPr>
              <a:t>●  src/models/device.ts  Định nghĩa type Device (TypeScript strict)</a:t>
            </a:r>
            <a:endParaRPr lang="en-US" sz="1500" b="0" strike="noStrike" spc="-1">
              <a:solidFill>
                <a:srgbClr val="000000"/>
              </a:solidFill>
              <a:latin typeface="Arial"/>
            </a:endParaRPr>
          </a:p>
          <a:p>
            <a:pPr marL="343080" indent="-343080">
              <a:lnSpc>
                <a:spcPct val="100000"/>
              </a:lnSpc>
              <a:spcBef>
                <a:spcPts val="300"/>
              </a:spcBef>
              <a:spcAft>
                <a:spcPts val="1800"/>
              </a:spcAft>
              <a:buClr>
                <a:srgbClr val="4B546F"/>
              </a:buClr>
              <a:buFont typeface="Wingdings" charset="2"/>
              <a:buChar char=""/>
              <a:tabLst>
                <a:tab pos="0" algn="l"/>
              </a:tabLst>
            </a:pPr>
            <a:r>
              <a:rPr lang="en-US" sz="1500" b="1" strike="noStrike" spc="-1">
                <a:solidFill>
                  <a:srgbClr val="3EB489"/>
                </a:solidFill>
                <a:latin typeface="Calibri"/>
              </a:rPr>
              <a:t>●  src/api/  Lớp gọi API — hiện còn trống, chưa nối server thật</a:t>
            </a:r>
            <a:endParaRPr lang="en-US" sz="1500" b="0" strike="noStrike" spc="-1">
              <a:solidFill>
                <a:srgbClr val="000000"/>
              </a:solidFill>
              <a:latin typeface="Arial"/>
            </a:endParaRPr>
          </a:p>
          <a:p>
            <a:pPr marL="343080" indent="-343080">
              <a:lnSpc>
                <a:spcPct val="100000"/>
              </a:lnSpc>
              <a:spcBef>
                <a:spcPts val="300"/>
              </a:spcBef>
              <a:spcAft>
                <a:spcPts val="1800"/>
              </a:spcAft>
              <a:buClr>
                <a:srgbClr val="4B546F"/>
              </a:buClr>
              <a:buFont typeface="Wingdings" charset="2"/>
              <a:buChar char=""/>
              <a:tabLst>
                <a:tab pos="0" algn="l"/>
              </a:tabLst>
            </a:pPr>
            <a:r>
              <a:rPr lang="en-US" sz="1500" b="1" strike="noStrike" spc="-1">
                <a:solidFill>
                  <a:srgbClr val="3EB489"/>
                </a:solidFill>
                <a:latin typeface="Calibri"/>
              </a:rPr>
              <a:t>●  package.json / tsconfig.json  Stack: Expo SDK 57, TypeScript, StyleSheet thuần</a:t>
            </a:r>
            <a:endParaRPr lang="en-US" sz="15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p:cNvSpPr>
          <p:nvPr>
            <p:ph/>
          </p:nvPr>
        </p:nvSpPr>
        <p:spPr>
          <a:xfrm>
            <a:off x="507960" y="1295280"/>
            <a:ext cx="11073960" cy="4723920"/>
          </a:xfrm>
          <a:prstGeom prst="rect">
            <a:avLst/>
          </a:prstGeom>
          <a:noFill/>
          <a:ln w="0">
            <a:noFill/>
          </a:ln>
        </p:spPr>
        <p:txBody>
          <a:bodyPr numCol="1" spcCol="0" anchor="t">
            <a:noAutofit/>
          </a:bodyPr>
          <a:lstStyle/>
          <a:p>
            <a:endParaRPr lang="en-US" sz="2800" b="0" strike="noStrike" spc="-1">
              <a:solidFill>
                <a:srgbClr val="000000"/>
              </a:solidFill>
              <a:latin typeface="Arial"/>
            </a:endParaRPr>
          </a:p>
        </p:txBody>
      </p:sp>
      <p:graphicFrame>
        <p:nvGraphicFramePr>
          <p:cNvPr id="159" name="Table 5"/>
          <p:cNvGraphicFramePr/>
          <p:nvPr>
            <p:extLst>
              <p:ext uri="{D42A27DB-BD31-4B8C-83A1-F6EECF244321}">
                <p14:modId xmlns:p14="http://schemas.microsoft.com/office/powerpoint/2010/main" val="355852505"/>
              </p:ext>
            </p:extLst>
          </p:nvPr>
        </p:nvGraphicFramePr>
        <p:xfrm>
          <a:off x="460568" y="1261827"/>
          <a:ext cx="11168743" cy="4790825"/>
        </p:xfrm>
        <a:graphic>
          <a:graphicData uri="http://schemas.openxmlformats.org/drawingml/2006/table">
            <a:tbl>
              <a:tblPr/>
              <a:tblGrid>
                <a:gridCol w="4833805">
                  <a:extLst>
                    <a:ext uri="{9D8B030D-6E8A-4147-A177-3AD203B41FA5}">
                      <a16:colId xmlns:a16="http://schemas.microsoft.com/office/drawing/2014/main" val="20000"/>
                    </a:ext>
                  </a:extLst>
                </a:gridCol>
                <a:gridCol w="6334938">
                  <a:extLst>
                    <a:ext uri="{9D8B030D-6E8A-4147-A177-3AD203B41FA5}">
                      <a16:colId xmlns:a16="http://schemas.microsoft.com/office/drawing/2014/main" val="20001"/>
                    </a:ext>
                  </a:extLst>
                </a:gridCol>
              </a:tblGrid>
              <a:tr h="473004">
                <a:tc>
                  <a:txBody>
                    <a:bodyPr/>
                    <a:lstStyle/>
                    <a:p>
                      <a:pPr>
                        <a:lnSpc>
                          <a:spcPct val="100000"/>
                        </a:lnSpc>
                        <a:buNone/>
                      </a:pPr>
                      <a:r>
                        <a:rPr lang="en-US" sz="2000" b="1" strike="noStrike" spc="-1" dirty="0">
                          <a:solidFill>
                            <a:srgbClr val="FFFFFF"/>
                          </a:solidFill>
                          <a:latin typeface="Calibri"/>
                        </a:rPr>
                        <a:t>Module</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38160">
                      <a:solidFill>
                        <a:srgbClr val="FFFFFF"/>
                      </a:solidFill>
                    </a:lnB>
                    <a:solidFill>
                      <a:srgbClr val="2E4B8F"/>
                    </a:solidFill>
                  </a:tcPr>
                </a:tc>
                <a:tc>
                  <a:txBody>
                    <a:bodyPr/>
                    <a:lstStyle/>
                    <a:p>
                      <a:pPr algn="ctr">
                        <a:lnSpc>
                          <a:spcPct val="100000"/>
                        </a:lnSpc>
                        <a:buNone/>
                      </a:pPr>
                      <a:r>
                        <a:rPr lang="en-US" sz="2000" b="1" strike="noStrike" spc="-1" dirty="0" err="1">
                          <a:solidFill>
                            <a:srgbClr val="FFFFFF"/>
                          </a:solidFill>
                          <a:latin typeface="Calibri"/>
                        </a:rPr>
                        <a:t>Trạng</a:t>
                      </a:r>
                      <a:r>
                        <a:rPr lang="en-US" sz="2000" b="1" strike="noStrike" spc="-1" dirty="0">
                          <a:solidFill>
                            <a:srgbClr val="FFFFFF"/>
                          </a:solidFill>
                          <a:latin typeface="Calibri"/>
                        </a:rPr>
                        <a:t> </a:t>
                      </a:r>
                      <a:r>
                        <a:rPr lang="en-US" sz="2000" b="1" strike="noStrike" spc="-1" dirty="0" err="1">
                          <a:solidFill>
                            <a:srgbClr val="FFFFFF"/>
                          </a:solidFill>
                          <a:latin typeface="Calibri"/>
                        </a:rPr>
                        <a:t>thái</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38160">
                      <a:solidFill>
                        <a:srgbClr val="FFFFFF"/>
                      </a:solidFill>
                    </a:lnB>
                    <a:solidFill>
                      <a:srgbClr val="2E4B8F"/>
                    </a:solidFill>
                  </a:tcPr>
                </a:tc>
                <a:extLst>
                  <a:ext uri="{0D108BD9-81ED-4DB2-BD59-A6C34878D82A}">
                    <a16:rowId xmlns:a16="http://schemas.microsoft.com/office/drawing/2014/main" val="10000"/>
                  </a:ext>
                </a:extLst>
              </a:tr>
              <a:tr h="854341">
                <a:tc>
                  <a:txBody>
                    <a:bodyPr/>
                    <a:lstStyle/>
                    <a:p>
                      <a:pPr>
                        <a:lnSpc>
                          <a:spcPct val="100000"/>
                        </a:lnSpc>
                        <a:buNone/>
                      </a:pPr>
                      <a:r>
                        <a:rPr lang="en-US" sz="2000" b="0" strike="noStrike" spc="-1">
                          <a:solidFill>
                            <a:srgbClr val="1B2A4A"/>
                          </a:solidFill>
                          <a:latin typeface="Calibri"/>
                        </a:rPr>
                        <a:t>Xây các luồng : Đăng nhập/ đăng ký </a:t>
                      </a:r>
                      <a:endParaRPr lang="en-US" sz="2000" b="0" strike="noStrike" spc="-1">
                        <a:latin typeface="Arial"/>
                      </a:endParaRPr>
                    </a:p>
                  </a:txBody>
                  <a:tcPr marL="75960" marR="75960"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FFFFF"/>
                    </a:solidFill>
                  </a:tcPr>
                </a:tc>
                <a:tc>
                  <a:txBody>
                    <a:bodyPr/>
                    <a:lstStyle/>
                    <a:p>
                      <a:pPr algn="ctr">
                        <a:lnSpc>
                          <a:spcPct val="100000"/>
                        </a:lnSpc>
                        <a:buNone/>
                      </a:pPr>
                      <a:r>
                        <a:rPr lang="en-US" sz="2000" b="0" strike="noStrike" spc="-1">
                          <a:solidFill>
                            <a:srgbClr val="1B2A4A"/>
                          </a:solidFill>
                          <a:latin typeface="Calibri"/>
                        </a:rPr>
                        <a:t>Gần hoàn thành (%)</a:t>
                      </a:r>
                      <a:endParaRPr lang="en-US" sz="2000" b="0" strike="noStrike" spc="-1">
                        <a:latin typeface="Arial"/>
                      </a:endParaRPr>
                    </a:p>
                    <a:p>
                      <a:pPr>
                        <a:lnSpc>
                          <a:spcPct val="100000"/>
                        </a:lnSpc>
                        <a:buNone/>
                      </a:pPr>
                      <a:endParaRPr lang="en-US" sz="2000" b="0" strike="noStrike" spc="-1">
                        <a:latin typeface="Arial"/>
                      </a:endParaRPr>
                    </a:p>
                  </a:txBody>
                  <a:tcPr marL="75960" marR="75960"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FFFFF"/>
                    </a:solidFill>
                  </a:tcPr>
                </a:tc>
                <a:extLst>
                  <a:ext uri="{0D108BD9-81ED-4DB2-BD59-A6C34878D82A}">
                    <a16:rowId xmlns:a16="http://schemas.microsoft.com/office/drawing/2014/main" val="10001"/>
                  </a:ext>
                </a:extLst>
              </a:tr>
              <a:tr h="476019">
                <a:tc>
                  <a:txBody>
                    <a:bodyPr/>
                    <a:lstStyle/>
                    <a:p>
                      <a:pPr>
                        <a:lnSpc>
                          <a:spcPct val="100000"/>
                        </a:lnSpc>
                        <a:buNone/>
                      </a:pPr>
                      <a:r>
                        <a:rPr lang="en-US" sz="2000" b="0" strike="noStrike" spc="-1">
                          <a:solidFill>
                            <a:srgbClr val="1B2A4A"/>
                          </a:solidFill>
                          <a:latin typeface="Calibri"/>
                        </a:rPr>
                        <a:t>Provisioning thiết bị qua BLE </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pPr algn="ctr">
                        <a:lnSpc>
                          <a:spcPct val="100000"/>
                        </a:lnSpc>
                        <a:buNone/>
                      </a:pPr>
                      <a:r>
                        <a:rPr lang="en-US" sz="2000" b="0" strike="noStrike" spc="-1" dirty="0" err="1">
                          <a:solidFill>
                            <a:srgbClr val="1B2A4A"/>
                          </a:solidFill>
                          <a:latin typeface="Calibri"/>
                        </a:rPr>
                        <a:t>Hoàn</a:t>
                      </a:r>
                      <a:r>
                        <a:rPr lang="en-US" sz="2000" b="0" strike="noStrike" spc="-1" dirty="0">
                          <a:solidFill>
                            <a:srgbClr val="1B2A4A"/>
                          </a:solidFill>
                          <a:latin typeface="Calibri"/>
                        </a:rPr>
                        <a:t> </a:t>
                      </a:r>
                      <a:r>
                        <a:rPr lang="en-US" sz="2000" b="0" strike="noStrike" spc="-1" dirty="0" err="1">
                          <a:solidFill>
                            <a:srgbClr val="1B2A4A"/>
                          </a:solidFill>
                          <a:latin typeface="Calibri"/>
                        </a:rPr>
                        <a:t>thành</a:t>
                      </a:r>
                      <a:r>
                        <a:rPr lang="en-US" sz="2000" b="0" strike="noStrike" spc="-1" dirty="0">
                          <a:solidFill>
                            <a:srgbClr val="1B2A4A"/>
                          </a:solidFill>
                          <a:latin typeface="Calibri"/>
                        </a:rPr>
                        <a:t> ( 100 % ) </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2"/>
                  </a:ext>
                </a:extLst>
              </a:tr>
              <a:tr h="1055030">
                <a:tc>
                  <a:txBody>
                    <a:bodyPr/>
                    <a:lstStyle/>
                    <a:p>
                      <a:pPr>
                        <a:lnSpc>
                          <a:spcPct val="100000"/>
                        </a:lnSpc>
                        <a:buNone/>
                      </a:pPr>
                      <a:r>
                        <a:rPr lang="en-US" sz="2000" b="0" strike="noStrike" spc="-1" dirty="0" err="1">
                          <a:solidFill>
                            <a:srgbClr val="1B2A4A"/>
                          </a:solidFill>
                          <a:latin typeface="Calibri"/>
                        </a:rPr>
                        <a:t>Quản</a:t>
                      </a:r>
                      <a:r>
                        <a:rPr lang="en-US" sz="2000" b="0" strike="noStrike" spc="-1" dirty="0">
                          <a:solidFill>
                            <a:srgbClr val="1B2A4A"/>
                          </a:solidFill>
                          <a:latin typeface="Calibri"/>
                        </a:rPr>
                        <a:t> </a:t>
                      </a:r>
                      <a:r>
                        <a:rPr lang="en-US" sz="2000" b="0" strike="noStrike" spc="-1" dirty="0" err="1">
                          <a:solidFill>
                            <a:srgbClr val="1B2A4A"/>
                          </a:solidFill>
                          <a:latin typeface="Calibri"/>
                        </a:rPr>
                        <a:t>lý</a:t>
                      </a:r>
                      <a:r>
                        <a:rPr lang="en-US" sz="2000" b="0" strike="noStrike" spc="-1" dirty="0">
                          <a:solidFill>
                            <a:srgbClr val="1B2A4A"/>
                          </a:solidFill>
                          <a:latin typeface="Calibri"/>
                        </a:rPr>
                        <a:t> home , </a:t>
                      </a:r>
                      <a:r>
                        <a:rPr lang="en-US" sz="2000" b="0" strike="noStrike" spc="-1" dirty="0" err="1">
                          <a:solidFill>
                            <a:srgbClr val="1B2A4A"/>
                          </a:solidFill>
                          <a:latin typeface="Calibri"/>
                        </a:rPr>
                        <a:t>quản</a:t>
                      </a:r>
                      <a:r>
                        <a:rPr lang="en-US" sz="2000" b="0" strike="noStrike" spc="-1" dirty="0">
                          <a:solidFill>
                            <a:srgbClr val="1B2A4A"/>
                          </a:solidFill>
                          <a:latin typeface="Calibri"/>
                        </a:rPr>
                        <a:t> </a:t>
                      </a:r>
                      <a:r>
                        <a:rPr lang="en-US" sz="2000" b="0" strike="noStrike" spc="-1" dirty="0" err="1">
                          <a:solidFill>
                            <a:srgbClr val="1B2A4A"/>
                          </a:solidFill>
                          <a:latin typeface="Calibri"/>
                        </a:rPr>
                        <a:t>lý</a:t>
                      </a:r>
                      <a:r>
                        <a:rPr lang="en-US" sz="2000" b="0" strike="noStrike" spc="-1" dirty="0">
                          <a:solidFill>
                            <a:srgbClr val="1B2A4A"/>
                          </a:solidFill>
                          <a:latin typeface="Calibri"/>
                        </a:rPr>
                        <a:t> </a:t>
                      </a:r>
                      <a:r>
                        <a:rPr lang="en-US" sz="2000" b="0" strike="noStrike" spc="-1" dirty="0" err="1">
                          <a:solidFill>
                            <a:srgbClr val="1B2A4A"/>
                          </a:solidFill>
                          <a:latin typeface="Calibri"/>
                        </a:rPr>
                        <a:t>thiết</a:t>
                      </a:r>
                      <a:r>
                        <a:rPr lang="en-US" sz="2000" b="0" strike="noStrike" spc="-1" dirty="0">
                          <a:solidFill>
                            <a:srgbClr val="1B2A4A"/>
                          </a:solidFill>
                          <a:latin typeface="Calibri"/>
                        </a:rPr>
                        <a:t> </a:t>
                      </a:r>
                      <a:r>
                        <a:rPr lang="en-US" sz="2000" b="0" strike="noStrike" spc="-1" dirty="0" err="1">
                          <a:solidFill>
                            <a:srgbClr val="1B2A4A"/>
                          </a:solidFill>
                          <a:latin typeface="Calibri"/>
                        </a:rPr>
                        <a:t>bị</a:t>
                      </a:r>
                      <a:r>
                        <a:rPr lang="en-US" sz="2000" b="0" strike="noStrike" spc="-1" dirty="0">
                          <a:solidFill>
                            <a:srgbClr val="1B2A4A"/>
                          </a:solidFill>
                          <a:latin typeface="Calibri"/>
                        </a:rPr>
                        <a:t> ( </a:t>
                      </a:r>
                      <a:r>
                        <a:rPr lang="en-US" sz="2000" b="0" strike="noStrike" spc="-1" dirty="0" err="1">
                          <a:solidFill>
                            <a:srgbClr val="1B2A4A"/>
                          </a:solidFill>
                          <a:latin typeface="Calibri"/>
                        </a:rPr>
                        <a:t>điều</a:t>
                      </a:r>
                      <a:r>
                        <a:rPr lang="en-US" sz="2000" b="0" strike="noStrike" spc="-1" dirty="0">
                          <a:solidFill>
                            <a:srgbClr val="1B2A4A"/>
                          </a:solidFill>
                          <a:latin typeface="Calibri"/>
                        </a:rPr>
                        <a:t> </a:t>
                      </a:r>
                      <a:r>
                        <a:rPr lang="en-US" sz="2000" b="0" strike="noStrike" spc="-1" dirty="0" err="1">
                          <a:solidFill>
                            <a:srgbClr val="1B2A4A"/>
                          </a:solidFill>
                          <a:latin typeface="Calibri"/>
                        </a:rPr>
                        <a:t>khiển</a:t>
                      </a:r>
                      <a:r>
                        <a:rPr lang="en-US" sz="2000" b="0" strike="noStrike" spc="-1" dirty="0">
                          <a:solidFill>
                            <a:srgbClr val="1B2A4A"/>
                          </a:solidFill>
                          <a:latin typeface="Calibri"/>
                        </a:rPr>
                        <a:t> , OTA , calibration , notification , profile ) </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tc>
                  <a:txBody>
                    <a:bodyPr/>
                    <a:lstStyle/>
                    <a:p>
                      <a:pPr algn="ctr">
                        <a:lnSpc>
                          <a:spcPct val="100000"/>
                        </a:lnSpc>
                        <a:buNone/>
                      </a:pPr>
                      <a:r>
                        <a:rPr lang="en-US" sz="2000" b="0" strike="noStrike" spc="-1" dirty="0" err="1">
                          <a:solidFill>
                            <a:srgbClr val="1B2A4A"/>
                          </a:solidFill>
                          <a:latin typeface="Calibri"/>
                        </a:rPr>
                        <a:t>Hoàn</a:t>
                      </a:r>
                      <a:r>
                        <a:rPr lang="en-US" sz="2000" b="0" strike="noStrike" spc="-1" dirty="0">
                          <a:solidFill>
                            <a:srgbClr val="1B2A4A"/>
                          </a:solidFill>
                          <a:latin typeface="Calibri"/>
                        </a:rPr>
                        <a:t> </a:t>
                      </a:r>
                      <a:r>
                        <a:rPr lang="en-US" sz="2000" b="0" strike="noStrike" spc="-1" dirty="0" err="1">
                          <a:solidFill>
                            <a:srgbClr val="1B2A4A"/>
                          </a:solidFill>
                          <a:latin typeface="Calibri"/>
                        </a:rPr>
                        <a:t>thành</a:t>
                      </a:r>
                      <a:r>
                        <a:rPr lang="en-US" sz="2000" b="0" strike="noStrike" spc="-1" dirty="0">
                          <a:solidFill>
                            <a:srgbClr val="1B2A4A"/>
                          </a:solidFill>
                          <a:latin typeface="Calibri"/>
                        </a:rPr>
                        <a:t> ( 100 % ) </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extLst>
                  <a:ext uri="{0D108BD9-81ED-4DB2-BD59-A6C34878D82A}">
                    <a16:rowId xmlns:a16="http://schemas.microsoft.com/office/drawing/2014/main" val="10003"/>
                  </a:ext>
                </a:extLst>
              </a:tr>
              <a:tr h="1456412">
                <a:tc>
                  <a:txBody>
                    <a:bodyPr/>
                    <a:lstStyle/>
                    <a:p>
                      <a:pPr>
                        <a:lnSpc>
                          <a:spcPct val="100000"/>
                        </a:lnSpc>
                        <a:buNone/>
                      </a:pPr>
                      <a:r>
                        <a:rPr lang="en-US" sz="2000" b="0" strike="noStrike" spc="-1" dirty="0" err="1">
                          <a:solidFill>
                            <a:srgbClr val="1B2A4A"/>
                          </a:solidFill>
                          <a:latin typeface="Calibri"/>
                        </a:rPr>
                        <a:t>Xây</a:t>
                      </a:r>
                      <a:r>
                        <a:rPr lang="en-US" sz="2000" b="0" strike="noStrike" spc="-1" dirty="0">
                          <a:solidFill>
                            <a:srgbClr val="1B2A4A"/>
                          </a:solidFill>
                          <a:latin typeface="Calibri"/>
                        </a:rPr>
                        <a:t> </a:t>
                      </a:r>
                      <a:r>
                        <a:rPr lang="en-US" sz="2000" b="0" strike="noStrike" spc="-1" dirty="0" err="1">
                          <a:solidFill>
                            <a:srgbClr val="1B2A4A"/>
                          </a:solidFill>
                          <a:latin typeface="Calibri"/>
                        </a:rPr>
                        <a:t>dựng</a:t>
                      </a:r>
                      <a:r>
                        <a:rPr lang="en-US" sz="2000" b="0" strike="noStrike" spc="-1" dirty="0">
                          <a:solidFill>
                            <a:srgbClr val="1B2A4A"/>
                          </a:solidFill>
                          <a:latin typeface="Calibri"/>
                        </a:rPr>
                        <a:t> </a:t>
                      </a:r>
                      <a:r>
                        <a:rPr lang="en-US" sz="2000" b="0" strike="noStrike" spc="-1" dirty="0" err="1">
                          <a:solidFill>
                            <a:srgbClr val="1B2A4A"/>
                          </a:solidFill>
                          <a:latin typeface="Calibri"/>
                        </a:rPr>
                        <a:t>lớp</a:t>
                      </a:r>
                      <a:r>
                        <a:rPr lang="en-US" sz="2000" b="0" strike="noStrike" spc="-1" dirty="0">
                          <a:solidFill>
                            <a:srgbClr val="1B2A4A"/>
                          </a:solidFill>
                          <a:latin typeface="Calibri"/>
                        </a:rPr>
                        <a:t> service </a:t>
                      </a:r>
                      <a:r>
                        <a:rPr lang="en-US" sz="2000" b="0" strike="noStrike" spc="-1" dirty="0" err="1">
                          <a:solidFill>
                            <a:srgbClr val="1B2A4A"/>
                          </a:solidFill>
                          <a:latin typeface="Calibri"/>
                        </a:rPr>
                        <a:t>lõi</a:t>
                      </a:r>
                      <a:r>
                        <a:rPr lang="en-US" sz="2000" b="0" strike="noStrike" spc="-1" dirty="0">
                          <a:solidFill>
                            <a:srgbClr val="1B2A4A"/>
                          </a:solidFill>
                          <a:latin typeface="Calibri"/>
                        </a:rPr>
                        <a:t> : </a:t>
                      </a:r>
                      <a:r>
                        <a:rPr lang="en-US" sz="2000" b="0" strike="noStrike" spc="-1" dirty="0" err="1">
                          <a:solidFill>
                            <a:srgbClr val="1B2A4A"/>
                          </a:solidFill>
                          <a:latin typeface="Calibri"/>
                        </a:rPr>
                        <a:t>deviceService</a:t>
                      </a:r>
                      <a:r>
                        <a:rPr lang="en-US" sz="2000" b="0" strike="noStrike" spc="-1" dirty="0">
                          <a:solidFill>
                            <a:srgbClr val="1B2A4A"/>
                          </a:solidFill>
                          <a:latin typeface="Calibri"/>
                        </a:rPr>
                        <a:t> , </a:t>
                      </a:r>
                      <a:r>
                        <a:rPr lang="en-US" sz="2000" b="0" strike="noStrike" spc="-1" dirty="0" err="1">
                          <a:solidFill>
                            <a:srgbClr val="1B2A4A"/>
                          </a:solidFill>
                          <a:latin typeface="Calibri"/>
                        </a:rPr>
                        <a:t>bleService</a:t>
                      </a:r>
                      <a:r>
                        <a:rPr lang="en-US" sz="2000" b="0" strike="noStrike" spc="-1" dirty="0">
                          <a:solidFill>
                            <a:srgbClr val="1B2A4A"/>
                          </a:solidFill>
                          <a:latin typeface="Calibri"/>
                        </a:rPr>
                        <a:t> , </a:t>
                      </a:r>
                      <a:r>
                        <a:rPr lang="en-US" sz="2000" b="0" strike="noStrike" spc="-1" dirty="0" err="1">
                          <a:solidFill>
                            <a:srgbClr val="1B2A4A"/>
                          </a:solidFill>
                          <a:latin typeface="Calibri"/>
                        </a:rPr>
                        <a:t>authService</a:t>
                      </a:r>
                      <a:r>
                        <a:rPr lang="en-US" sz="2000" b="0" strike="noStrike" spc="-1" dirty="0">
                          <a:solidFill>
                            <a:srgbClr val="1B2A4A"/>
                          </a:solidFill>
                          <a:latin typeface="Calibri"/>
                        </a:rPr>
                        <a:t> , </a:t>
                      </a:r>
                      <a:r>
                        <a:rPr lang="en-US" sz="2000" b="0" strike="noStrike" spc="-1" dirty="0" err="1">
                          <a:solidFill>
                            <a:srgbClr val="1B2A4A"/>
                          </a:solidFill>
                          <a:latin typeface="Calibri"/>
                        </a:rPr>
                        <a:t>realtimeService</a:t>
                      </a:r>
                      <a:r>
                        <a:rPr lang="en-US" sz="2000" b="0" strike="noStrike" spc="-1" dirty="0">
                          <a:solidFill>
                            <a:srgbClr val="1B2A4A"/>
                          </a:solidFill>
                          <a:latin typeface="Calibri"/>
                        </a:rPr>
                        <a:t> , </a:t>
                      </a:r>
                      <a:r>
                        <a:rPr lang="en-US" sz="2000" b="0" strike="noStrike" spc="-1" dirty="0" err="1">
                          <a:solidFill>
                            <a:srgbClr val="1B2A4A"/>
                          </a:solidFill>
                          <a:latin typeface="Calibri"/>
                        </a:rPr>
                        <a:t>homeService</a:t>
                      </a:r>
                      <a:r>
                        <a:rPr lang="en-US" sz="2000" b="0" strike="noStrike" spc="-1" dirty="0">
                          <a:solidFill>
                            <a:srgbClr val="1B2A4A"/>
                          </a:solidFill>
                          <a:latin typeface="Calibri"/>
                        </a:rPr>
                        <a:t> , </a:t>
                      </a:r>
                      <a:r>
                        <a:rPr lang="en-US" sz="2000" b="0" strike="noStrike" spc="-1" dirty="0" err="1">
                          <a:solidFill>
                            <a:srgbClr val="1B2A4A"/>
                          </a:solidFill>
                          <a:latin typeface="Calibri"/>
                        </a:rPr>
                        <a:t>kèm</a:t>
                      </a:r>
                      <a:r>
                        <a:rPr lang="en-US" sz="2000" b="0" strike="noStrike" spc="-1" dirty="0">
                          <a:solidFill>
                            <a:srgbClr val="1B2A4A"/>
                          </a:solidFill>
                          <a:latin typeface="Calibri"/>
                        </a:rPr>
                        <a:t> unit test </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pPr algn="ctr">
                        <a:lnSpc>
                          <a:spcPct val="100000"/>
                        </a:lnSpc>
                        <a:buNone/>
                      </a:pPr>
                      <a:r>
                        <a:rPr lang="en-US" sz="2000" b="0" strike="noStrike" spc="-1" dirty="0" err="1">
                          <a:solidFill>
                            <a:srgbClr val="1B2A4A"/>
                          </a:solidFill>
                          <a:latin typeface="Calibri"/>
                        </a:rPr>
                        <a:t>Hoàn</a:t>
                      </a:r>
                      <a:r>
                        <a:rPr lang="en-US" sz="2000" b="0" strike="noStrike" spc="-1" dirty="0">
                          <a:solidFill>
                            <a:srgbClr val="1B2A4A"/>
                          </a:solidFill>
                          <a:latin typeface="Calibri"/>
                        </a:rPr>
                        <a:t> </a:t>
                      </a:r>
                      <a:r>
                        <a:rPr lang="en-US" sz="2000" b="0" strike="noStrike" spc="-1" dirty="0" err="1">
                          <a:solidFill>
                            <a:srgbClr val="1B2A4A"/>
                          </a:solidFill>
                          <a:latin typeface="Calibri"/>
                        </a:rPr>
                        <a:t>thành</a:t>
                      </a:r>
                      <a:r>
                        <a:rPr lang="en-US" sz="2000" b="0" strike="noStrike" spc="-1" dirty="0">
                          <a:solidFill>
                            <a:srgbClr val="1B2A4A"/>
                          </a:solidFill>
                          <a:latin typeface="Calibri"/>
                        </a:rPr>
                        <a:t> ( 100 % ) </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4"/>
                  </a:ext>
                </a:extLst>
              </a:tr>
              <a:tr h="476019">
                <a:tc>
                  <a:txBody>
                    <a:bodyPr/>
                    <a:lstStyle/>
                    <a:p>
                      <a:pPr>
                        <a:lnSpc>
                          <a:spcPct val="100000"/>
                        </a:lnSpc>
                        <a:buNone/>
                      </a:pPr>
                      <a:r>
                        <a:rPr lang="en-US" sz="2000" b="0" strike="noStrike" spc="-1">
                          <a:solidFill>
                            <a:srgbClr val="1B2A4A"/>
                          </a:solidFill>
                          <a:latin typeface="Calibri"/>
                        </a:rPr>
                        <a:t>Screens — Devices / Homes</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pPr algn="ctr">
                        <a:lnSpc>
                          <a:spcPct val="100000"/>
                        </a:lnSpc>
                        <a:buNone/>
                      </a:pPr>
                      <a:r>
                        <a:rPr lang="en-US" sz="2000" b="0" strike="noStrike" spc="-1" dirty="0" err="1">
                          <a:solidFill>
                            <a:srgbClr val="1B2A4A"/>
                          </a:solidFill>
                          <a:latin typeface="Calibri"/>
                        </a:rPr>
                        <a:t>Chưa</a:t>
                      </a:r>
                      <a:r>
                        <a:rPr lang="en-US" sz="2000" b="0" strike="noStrike" spc="-1" dirty="0">
                          <a:solidFill>
                            <a:srgbClr val="1B2A4A"/>
                          </a:solidFill>
                          <a:latin typeface="Calibri"/>
                        </a:rPr>
                        <a:t> test (0/5 </a:t>
                      </a:r>
                      <a:r>
                        <a:rPr lang="en-US" sz="2000" b="0" strike="noStrike" spc="-1" dirty="0" err="1">
                          <a:solidFill>
                            <a:srgbClr val="1B2A4A"/>
                          </a:solidFill>
                          <a:latin typeface="Calibri"/>
                        </a:rPr>
                        <a:t>và</a:t>
                      </a:r>
                      <a:r>
                        <a:rPr lang="en-US" sz="2000" b="0" strike="noStrike" spc="-1" dirty="0">
                          <a:solidFill>
                            <a:srgbClr val="1B2A4A"/>
                          </a:solidFill>
                          <a:latin typeface="Calibri"/>
                        </a:rPr>
                        <a:t> 0/2 </a:t>
                      </a:r>
                      <a:r>
                        <a:rPr lang="en-US" sz="2000" b="0" strike="noStrike" spc="-1" dirty="0" err="1">
                          <a:solidFill>
                            <a:srgbClr val="1B2A4A"/>
                          </a:solidFill>
                          <a:latin typeface="Calibri"/>
                        </a:rPr>
                        <a:t>màn</a:t>
                      </a:r>
                      <a:r>
                        <a:rPr lang="en-US" sz="2000" b="0" strike="noStrike" spc="-1" dirty="0">
                          <a:solidFill>
                            <a:srgbClr val="1B2A4A"/>
                          </a:solidFill>
                          <a:latin typeface="Calibri"/>
                        </a:rPr>
                        <a:t> </a:t>
                      </a:r>
                      <a:r>
                        <a:rPr lang="en-US" sz="2000" b="0" strike="noStrike" spc="-1" dirty="0" err="1">
                          <a:solidFill>
                            <a:srgbClr val="1B2A4A"/>
                          </a:solidFill>
                          <a:latin typeface="Calibri"/>
                        </a:rPr>
                        <a:t>hình</a:t>
                      </a:r>
                      <a:r>
                        <a:rPr lang="en-US" sz="2000" b="0" strike="noStrike" spc="-1" dirty="0">
                          <a:solidFill>
                            <a:srgbClr val="1B2A4A"/>
                          </a:solidFill>
                          <a:latin typeface="Calibri"/>
                        </a:rPr>
                        <a:t>)</a:t>
                      </a:r>
                      <a:endParaRPr lang="en-US" sz="2000" b="0" strike="noStrike" spc="-1" dirty="0">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219320" y="457200"/>
            <a:ext cx="10058040" cy="563040"/>
          </a:xfrm>
          <a:prstGeom prst="rect">
            <a:avLst/>
          </a:prstGeom>
          <a:noFill/>
          <a:ln w="0">
            <a:noFill/>
          </a:ln>
        </p:spPr>
        <p:txBody>
          <a:bodyPr numCol="1" spcCol="0" anchor="ctr">
            <a:noAutofit/>
          </a:bodyPr>
          <a:lstStyle/>
          <a:p>
            <a:pPr>
              <a:lnSpc>
                <a:spcPct val="100000"/>
              </a:lnSpc>
              <a:buNone/>
            </a:pPr>
            <a:r>
              <a:rPr lang="en-US" sz="2800" b="1" strike="noStrike" spc="-1">
                <a:solidFill>
                  <a:srgbClr val="1B2A4A"/>
                </a:solidFill>
                <a:latin typeface="Calibri"/>
              </a:rPr>
              <a:t>Tiến độ xây dựng theo module (App)</a:t>
            </a:r>
            <a:endParaRPr lang="en-US" sz="2800" b="0" strike="noStrike" spc="-1">
              <a:solidFill>
                <a:srgbClr val="000000"/>
              </a:solidFill>
              <a:latin typeface="Arial"/>
            </a:endParaRPr>
          </a:p>
        </p:txBody>
      </p:sp>
      <p:sp>
        <p:nvSpPr>
          <p:cNvPr id="161" name="PlaceHolder 2"/>
          <p:cNvSpPr>
            <a:spLocks noGrp="1"/>
          </p:cNvSpPr>
          <p:nvPr>
            <p:ph/>
          </p:nvPr>
        </p:nvSpPr>
        <p:spPr>
          <a:xfrm>
            <a:off x="507960" y="1295280"/>
            <a:ext cx="11073960" cy="4723920"/>
          </a:xfrm>
          <a:prstGeom prst="rect">
            <a:avLst/>
          </a:prstGeom>
          <a:noFill/>
          <a:ln w="0">
            <a:noFill/>
          </a:ln>
        </p:spPr>
        <p:txBody>
          <a:bodyPr numCol="1" spcCol="0" anchor="t">
            <a:noAutofit/>
          </a:bodyPr>
          <a:lstStyle/>
          <a:p>
            <a:endParaRPr lang="en-US" sz="2800" b="0" strike="noStrike" spc="-1">
              <a:solidFill>
                <a:srgbClr val="000000"/>
              </a:solidFill>
              <a:latin typeface="Arial"/>
            </a:endParaRPr>
          </a:p>
        </p:txBody>
      </p:sp>
      <p:graphicFrame>
        <p:nvGraphicFramePr>
          <p:cNvPr id="162" name="Table 1"/>
          <p:cNvGraphicFramePr/>
          <p:nvPr/>
        </p:nvGraphicFramePr>
        <p:xfrm>
          <a:off x="468000" y="1308960"/>
          <a:ext cx="11073960" cy="5257440"/>
        </p:xfrm>
        <a:graphic>
          <a:graphicData uri="http://schemas.openxmlformats.org/drawingml/2006/table">
            <a:tbl>
              <a:tblPr/>
              <a:tblGrid>
                <a:gridCol w="2909160">
                  <a:extLst>
                    <a:ext uri="{9D8B030D-6E8A-4147-A177-3AD203B41FA5}">
                      <a16:colId xmlns:a16="http://schemas.microsoft.com/office/drawing/2014/main" val="20000"/>
                    </a:ext>
                  </a:extLst>
                </a:gridCol>
                <a:gridCol w="8164800">
                  <a:extLst>
                    <a:ext uri="{9D8B030D-6E8A-4147-A177-3AD203B41FA5}">
                      <a16:colId xmlns:a16="http://schemas.microsoft.com/office/drawing/2014/main" val="20001"/>
                    </a:ext>
                  </a:extLst>
                </a:gridCol>
              </a:tblGrid>
              <a:tr h="696600">
                <a:tc>
                  <a:txBody>
                    <a:bodyPr/>
                    <a:lstStyle/>
                    <a:p>
                      <a:pPr>
                        <a:lnSpc>
                          <a:spcPct val="100000"/>
                        </a:lnSpc>
                        <a:buNone/>
                      </a:pPr>
                      <a:r>
                        <a:rPr lang="en-US" sz="2000" b="1" strike="noStrike" spc="-1">
                          <a:solidFill>
                            <a:srgbClr val="FFFFFF"/>
                          </a:solidFill>
                          <a:latin typeface="Calibri"/>
                        </a:rPr>
                        <a:t>Module</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38160">
                      <a:solidFill>
                        <a:srgbClr val="FFFFFF"/>
                      </a:solidFill>
                    </a:lnB>
                    <a:solidFill>
                      <a:srgbClr val="2E4B8F"/>
                    </a:solidFill>
                  </a:tcPr>
                </a:tc>
                <a:tc>
                  <a:txBody>
                    <a:bodyPr/>
                    <a:lstStyle/>
                    <a:p>
                      <a:pPr algn="ctr">
                        <a:lnSpc>
                          <a:spcPct val="100000"/>
                        </a:lnSpc>
                        <a:buNone/>
                      </a:pPr>
                      <a:r>
                        <a:rPr lang="en-US" sz="2000" b="1" strike="noStrike" spc="-1">
                          <a:solidFill>
                            <a:srgbClr val="FFFFFF"/>
                          </a:solidFill>
                          <a:latin typeface="Calibri"/>
                        </a:rPr>
                        <a:t>Trạng thái</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38160">
                      <a:solidFill>
                        <a:srgbClr val="FFFFFF"/>
                      </a:solidFill>
                    </a:lnB>
                    <a:solidFill>
                      <a:srgbClr val="2E4B8F"/>
                    </a:solidFill>
                  </a:tcPr>
                </a:tc>
                <a:extLst>
                  <a:ext uri="{0D108BD9-81ED-4DB2-BD59-A6C34878D82A}">
                    <a16:rowId xmlns:a16="http://schemas.microsoft.com/office/drawing/2014/main" val="10000"/>
                  </a:ext>
                </a:extLst>
              </a:tr>
              <a:tr h="1258200">
                <a:tc>
                  <a:txBody>
                    <a:bodyPr/>
                    <a:lstStyle/>
                    <a:p>
                      <a:pPr>
                        <a:lnSpc>
                          <a:spcPct val="100000"/>
                        </a:lnSpc>
                        <a:buNone/>
                      </a:pPr>
                      <a:r>
                        <a:rPr lang="en-US" sz="2000" b="0" strike="noStrike" spc="-1">
                          <a:solidFill>
                            <a:srgbClr val="1B2A4A"/>
                          </a:solidFill>
                          <a:latin typeface="Calibri"/>
                        </a:rPr>
                        <a:t>Thêm cơ chế reconciliation không lạc quan cho lệnh relay/mode</a:t>
                      </a:r>
                      <a:endParaRPr lang="en-US" sz="2000" b="0" strike="noStrike" spc="-1">
                        <a:latin typeface="Arial"/>
                      </a:endParaRPr>
                    </a:p>
                  </a:txBody>
                  <a:tcPr marL="75960" marR="75960"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FFFFF"/>
                    </a:solidFill>
                  </a:tcPr>
                </a:tc>
                <a:tc>
                  <a:txBody>
                    <a:bodyPr/>
                    <a:lstStyle/>
                    <a:p>
                      <a:pPr algn="ctr">
                        <a:lnSpc>
                          <a:spcPct val="100000"/>
                        </a:lnSpc>
                        <a:buNone/>
                      </a:pPr>
                      <a:r>
                        <a:rPr lang="en-US" sz="2000" b="0" strike="noStrike" spc="-1">
                          <a:solidFill>
                            <a:srgbClr val="1B2A4A"/>
                          </a:solidFill>
                          <a:latin typeface="Calibri"/>
                        </a:rPr>
                        <a:t>Hoàn thành ( 100% )</a:t>
                      </a:r>
                      <a:endParaRPr lang="en-US" sz="2000" b="0" strike="noStrike" spc="-1">
                        <a:latin typeface="Arial"/>
                      </a:endParaRPr>
                    </a:p>
                    <a:p>
                      <a:pPr>
                        <a:lnSpc>
                          <a:spcPct val="100000"/>
                        </a:lnSpc>
                        <a:buNone/>
                      </a:pPr>
                      <a:endParaRPr lang="en-US" sz="2000" b="0" strike="noStrike" spc="-1">
                        <a:latin typeface="Arial"/>
                      </a:endParaRPr>
                    </a:p>
                  </a:txBody>
                  <a:tcPr marL="75960" marR="75960"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FFFFF"/>
                    </a:solidFill>
                  </a:tcPr>
                </a:tc>
                <a:extLst>
                  <a:ext uri="{0D108BD9-81ED-4DB2-BD59-A6C34878D82A}">
                    <a16:rowId xmlns:a16="http://schemas.microsoft.com/office/drawing/2014/main" val="10001"/>
                  </a:ext>
                </a:extLst>
              </a:tr>
              <a:tr h="696600">
                <a:tc>
                  <a:txBody>
                    <a:bodyPr/>
                    <a:lstStyle/>
                    <a:p>
                      <a:pPr>
                        <a:lnSpc>
                          <a:spcPct val="100000"/>
                        </a:lnSpc>
                        <a:buNone/>
                      </a:pPr>
                      <a:r>
                        <a:rPr lang="en-US" sz="2000" b="0" strike="noStrike" spc="-1">
                          <a:solidFill>
                            <a:srgbClr val="1B2A4A"/>
                          </a:solidFill>
                          <a:latin typeface="Calibri"/>
                        </a:rPr>
                        <a:t>heo dõi tiến trình OTA và đồng bộ lại sau reboot, lọc frame realtime trùng/cũ</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pPr algn="ctr">
                        <a:lnSpc>
                          <a:spcPct val="100000"/>
                        </a:lnSpc>
                        <a:buNone/>
                      </a:pPr>
                      <a:r>
                        <a:rPr lang="en-US" sz="2000" b="0" strike="noStrike" spc="-1">
                          <a:solidFill>
                            <a:srgbClr val="1B2A4A"/>
                          </a:solidFill>
                          <a:latin typeface="Calibri"/>
                        </a:rPr>
                        <a:t>Hoàn thành ( 100 % ) </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2"/>
                  </a:ext>
                </a:extLst>
              </a:tr>
              <a:tr h="1553760">
                <a:tc>
                  <a:txBody>
                    <a:bodyPr/>
                    <a:lstStyle/>
                    <a:p>
                      <a:pPr>
                        <a:lnSpc>
                          <a:spcPct val="100000"/>
                        </a:lnSpc>
                        <a:buNone/>
                      </a:pPr>
                      <a:r>
                        <a:rPr lang="en-US" sz="2000" b="0" strike="noStrike" spc="-1">
                          <a:solidFill>
                            <a:srgbClr val="1B2A4A"/>
                          </a:solidFill>
                          <a:latin typeface="Calibri"/>
                        </a:rPr>
                        <a:t>Fix UI màn đăng nhập, fix thiếu layout route group (auth), bump version 1.1.0</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tc>
                  <a:txBody>
                    <a:bodyPr/>
                    <a:lstStyle/>
                    <a:p>
                      <a:pPr algn="ctr">
                        <a:lnSpc>
                          <a:spcPct val="100000"/>
                        </a:lnSpc>
                        <a:buNone/>
                      </a:pPr>
                      <a:r>
                        <a:rPr lang="en-US" sz="2000" b="0" strike="noStrike" spc="-1">
                          <a:solidFill>
                            <a:srgbClr val="1B2A4A"/>
                          </a:solidFill>
                          <a:latin typeface="Calibri"/>
                        </a:rPr>
                        <a:t>Hoàn thành ( 100 % ) </a:t>
                      </a:r>
                      <a:endParaRPr lang="en-US" sz="20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extLst>
                  <a:ext uri="{0D108BD9-81ED-4DB2-BD59-A6C34878D82A}">
                    <a16:rowId xmlns:a16="http://schemas.microsoft.com/office/drawing/2014/main" val="10003"/>
                  </a:ext>
                </a:extLst>
              </a:tr>
              <a:tr h="371520">
                <a:tc>
                  <a:txBody>
                    <a:bodyPr/>
                    <a:lstStyle/>
                    <a:p>
                      <a:endParaRPr lang="en-US"/>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tc>
                  <a:txBody>
                    <a:bodyPr/>
                    <a:lstStyle/>
                    <a:p>
                      <a:endParaRPr lang="en-US"/>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extLst>
                  <a:ext uri="{0D108BD9-81ED-4DB2-BD59-A6C34878D82A}">
                    <a16:rowId xmlns:a16="http://schemas.microsoft.com/office/drawing/2014/main" val="10004"/>
                  </a:ext>
                </a:extLst>
              </a:tr>
              <a:tr h="371520">
                <a:tc>
                  <a:txBody>
                    <a:bodyPr/>
                    <a:lstStyle/>
                    <a:p>
                      <a:endParaRPr lang="en-US"/>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endParaRPr lang="en-US" dirty="0"/>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extBox 4"/>
          <p:cNvSpPr/>
          <p:nvPr/>
        </p:nvSpPr>
        <p:spPr>
          <a:xfrm>
            <a:off x="1295280" y="531720"/>
            <a:ext cx="10515240" cy="54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3000" b="1" strike="noStrike" spc="-1">
                <a:solidFill>
                  <a:srgbClr val="1B2A4A"/>
                </a:solidFill>
                <a:latin typeface="Calibri"/>
              </a:rPr>
              <a:t>Tổng kết tiến độ — App</a:t>
            </a:r>
            <a:endParaRPr lang="en-US" sz="3000" b="0" strike="noStrike" spc="-1">
              <a:latin typeface="Arial"/>
            </a:endParaRPr>
          </a:p>
        </p:txBody>
      </p:sp>
      <p:graphicFrame>
        <p:nvGraphicFramePr>
          <p:cNvPr id="164" name="Table 6"/>
          <p:cNvGraphicFramePr/>
          <p:nvPr/>
        </p:nvGraphicFramePr>
        <p:xfrm>
          <a:off x="4572000" y="1630800"/>
          <a:ext cx="3809880" cy="4051800"/>
        </p:xfrm>
        <a:graphic>
          <a:graphicData uri="http://schemas.openxmlformats.org/drawingml/2006/table">
            <a:tbl>
              <a:tblPr/>
              <a:tblGrid>
                <a:gridCol w="1828800">
                  <a:extLst>
                    <a:ext uri="{9D8B030D-6E8A-4147-A177-3AD203B41FA5}">
                      <a16:colId xmlns:a16="http://schemas.microsoft.com/office/drawing/2014/main" val="20000"/>
                    </a:ext>
                  </a:extLst>
                </a:gridCol>
                <a:gridCol w="1981080">
                  <a:extLst>
                    <a:ext uri="{9D8B030D-6E8A-4147-A177-3AD203B41FA5}">
                      <a16:colId xmlns:a16="http://schemas.microsoft.com/office/drawing/2014/main" val="20001"/>
                    </a:ext>
                  </a:extLst>
                </a:gridCol>
              </a:tblGrid>
              <a:tr h="475200">
                <a:tc>
                  <a:txBody>
                    <a:bodyPr/>
                    <a:lstStyle/>
                    <a:p>
                      <a:pPr>
                        <a:lnSpc>
                          <a:spcPct val="100000"/>
                        </a:lnSpc>
                        <a:buNone/>
                      </a:pPr>
                      <a:r>
                        <a:rPr lang="en-US" sz="1400" b="1" strike="noStrike" spc="-1">
                          <a:solidFill>
                            <a:srgbClr val="FFFFFF"/>
                          </a:solidFill>
                          <a:latin typeface="Calibri"/>
                        </a:rPr>
                        <a:t>Hạng mục</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38160">
                      <a:solidFill>
                        <a:srgbClr val="FFFFFF"/>
                      </a:solidFill>
                    </a:lnB>
                    <a:solidFill>
                      <a:srgbClr val="E8A033"/>
                    </a:solidFill>
                  </a:tcPr>
                </a:tc>
                <a:tc>
                  <a:txBody>
                    <a:bodyPr/>
                    <a:lstStyle/>
                    <a:p>
                      <a:pPr algn="ctr">
                        <a:lnSpc>
                          <a:spcPct val="100000"/>
                        </a:lnSpc>
                        <a:buNone/>
                      </a:pPr>
                      <a:r>
                        <a:rPr lang="en-US" sz="1400" b="1" strike="noStrike" spc="-1">
                          <a:solidFill>
                            <a:srgbClr val="FFFFFF"/>
                          </a:solidFill>
                          <a:latin typeface="Calibri"/>
                        </a:rPr>
                        <a:t>Trạng thái</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38160">
                      <a:solidFill>
                        <a:srgbClr val="FFFFFF"/>
                      </a:solidFill>
                    </a:lnB>
                    <a:solidFill>
                      <a:srgbClr val="E8A033"/>
                    </a:solidFill>
                  </a:tcPr>
                </a:tc>
                <a:extLst>
                  <a:ext uri="{0D108BD9-81ED-4DB2-BD59-A6C34878D82A}">
                    <a16:rowId xmlns:a16="http://schemas.microsoft.com/office/drawing/2014/main" val="10000"/>
                  </a:ext>
                </a:extLst>
              </a:tr>
              <a:tr h="715320">
                <a:tc>
                  <a:txBody>
                    <a:bodyPr/>
                    <a:lstStyle/>
                    <a:p>
                      <a:pPr>
                        <a:lnSpc>
                          <a:spcPct val="100000"/>
                        </a:lnSpc>
                        <a:buNone/>
                      </a:pPr>
                      <a:r>
                        <a:rPr lang="en-US" sz="1400" b="0" strike="noStrike" spc="-1">
                          <a:solidFill>
                            <a:srgbClr val="1B2A4A"/>
                          </a:solidFill>
                          <a:latin typeface="Calibri"/>
                        </a:rPr>
                        <a:t>Đăng nhập </a:t>
                      </a:r>
                      <a:endParaRPr lang="en-US" sz="1400" b="0" strike="noStrike" spc="-1">
                        <a:latin typeface="Arial"/>
                      </a:endParaRPr>
                    </a:p>
                  </a:txBody>
                  <a:tcPr marL="75960" marR="75960"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FFFFF"/>
                    </a:solidFill>
                  </a:tcPr>
                </a:tc>
                <a:tc>
                  <a:txBody>
                    <a:bodyPr/>
                    <a:lstStyle/>
                    <a:p>
                      <a:pPr algn="ctr">
                        <a:lnSpc>
                          <a:spcPct val="100000"/>
                        </a:lnSpc>
                        <a:buNone/>
                      </a:pPr>
                      <a:r>
                        <a:rPr lang="en-US" sz="1400" b="0" strike="noStrike" spc="-1">
                          <a:solidFill>
                            <a:srgbClr val="1B2A4A"/>
                          </a:solidFill>
                          <a:latin typeface="Calibri"/>
                        </a:rPr>
                        <a:t>Hoàn thành</a:t>
                      </a:r>
                      <a:endParaRPr lang="en-US" sz="1400" b="0" strike="noStrike" spc="-1">
                        <a:latin typeface="Arial"/>
                      </a:endParaRPr>
                    </a:p>
                  </a:txBody>
                  <a:tcPr marL="75960" marR="75960" anchor="ct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FFFFFF"/>
                    </a:solidFill>
                  </a:tcPr>
                </a:tc>
                <a:extLst>
                  <a:ext uri="{0D108BD9-81ED-4DB2-BD59-A6C34878D82A}">
                    <a16:rowId xmlns:a16="http://schemas.microsoft.com/office/drawing/2014/main" val="10001"/>
                  </a:ext>
                </a:extLst>
              </a:tr>
              <a:tr h="502200">
                <a:tc>
                  <a:txBody>
                    <a:bodyPr/>
                    <a:lstStyle/>
                    <a:p>
                      <a:pPr>
                        <a:lnSpc>
                          <a:spcPct val="100000"/>
                        </a:lnSpc>
                        <a:buNone/>
                      </a:pPr>
                      <a:r>
                        <a:rPr lang="en-US" sz="1400" b="0" strike="noStrike" spc="-1">
                          <a:solidFill>
                            <a:srgbClr val="1B2A4A"/>
                          </a:solidFill>
                          <a:latin typeface="Calibri"/>
                        </a:rPr>
                        <a:t>Bật/tắt thiết bị </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pPr algn="ctr">
                        <a:lnSpc>
                          <a:spcPct val="100000"/>
                        </a:lnSpc>
                        <a:buNone/>
                      </a:pPr>
                      <a:r>
                        <a:rPr lang="en-US" sz="1400" b="0" strike="noStrike" spc="-1">
                          <a:solidFill>
                            <a:srgbClr val="1B2A4A"/>
                          </a:solidFill>
                          <a:latin typeface="Calibri"/>
                        </a:rPr>
                        <a:t>Hoàn thành</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2"/>
                  </a:ext>
                </a:extLst>
              </a:tr>
              <a:tr h="928440">
                <a:tc>
                  <a:txBody>
                    <a:bodyPr/>
                    <a:lstStyle/>
                    <a:p>
                      <a:pPr>
                        <a:lnSpc>
                          <a:spcPct val="100000"/>
                        </a:lnSpc>
                        <a:buNone/>
                      </a:pPr>
                      <a:r>
                        <a:rPr lang="en-US" sz="1400" b="0" strike="noStrike" spc="-1">
                          <a:solidFill>
                            <a:srgbClr val="1B2A4A"/>
                          </a:solidFill>
                          <a:latin typeface="Calibri"/>
                        </a:rPr>
                        <a:t>Sensor gửi dữ liệu lên </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tc>
                  <a:txBody>
                    <a:bodyPr/>
                    <a:lstStyle/>
                    <a:p>
                      <a:pPr algn="ctr">
                        <a:lnSpc>
                          <a:spcPct val="100000"/>
                        </a:lnSpc>
                        <a:buNone/>
                      </a:pPr>
                      <a:r>
                        <a:rPr lang="en-US" sz="1400" b="0" strike="noStrike" spc="-1">
                          <a:solidFill>
                            <a:srgbClr val="1B2A4A"/>
                          </a:solidFill>
                          <a:latin typeface="Calibri"/>
                        </a:rPr>
                        <a:t>Hoàn thành </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FFFFF"/>
                    </a:solidFill>
                  </a:tcPr>
                </a:tc>
                <a:extLst>
                  <a:ext uri="{0D108BD9-81ED-4DB2-BD59-A6C34878D82A}">
                    <a16:rowId xmlns:a16="http://schemas.microsoft.com/office/drawing/2014/main" val="10003"/>
                  </a:ext>
                </a:extLst>
              </a:tr>
              <a:tr h="715320">
                <a:tc>
                  <a:txBody>
                    <a:bodyPr/>
                    <a:lstStyle/>
                    <a:p>
                      <a:pPr>
                        <a:lnSpc>
                          <a:spcPct val="100000"/>
                        </a:lnSpc>
                        <a:buNone/>
                      </a:pPr>
                      <a:r>
                        <a:rPr lang="en-US" sz="1400" b="0" strike="noStrike" spc="-1">
                          <a:solidFill>
                            <a:srgbClr val="1B2A4A"/>
                          </a:solidFill>
                          <a:latin typeface="Calibri"/>
                        </a:rPr>
                        <a:t>Điều khiển relay </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pPr algn="ctr">
                        <a:lnSpc>
                          <a:spcPct val="100000"/>
                        </a:lnSpc>
                        <a:buNone/>
                      </a:pPr>
                      <a:r>
                        <a:rPr lang="en-US" sz="1400" b="0" strike="noStrike" spc="-1">
                          <a:solidFill>
                            <a:srgbClr val="1B2A4A"/>
                          </a:solidFill>
                          <a:latin typeface="Calibri"/>
                        </a:rPr>
                        <a:t>Hoàn thành </a:t>
                      </a:r>
                      <a:endParaRPr lang="en-US" sz="1400" b="0" strike="noStrike" spc="-1">
                        <a:latin typeface="Arial"/>
                      </a:endParaRP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4"/>
                  </a:ext>
                </a:extLst>
              </a:tr>
              <a:tr h="715320">
                <a:tc>
                  <a:txBody>
                    <a:bodyPr/>
                    <a:lstStyle/>
                    <a:p>
                      <a:r>
                        <a:rPr lang="en-US" sz="1800" b="0" strike="noStrike" spc="-1">
                          <a:latin typeface="Arial"/>
                        </a:rPr>
                        <a:t>Giao diện </a:t>
                      </a: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tc>
                  <a:txBody>
                    <a:bodyPr/>
                    <a:lstStyle/>
                    <a:p>
                      <a:r>
                        <a:rPr lang="en-US" sz="1800" b="0" strike="noStrike" spc="-1">
                          <a:latin typeface="Arial"/>
                        </a:rPr>
                        <a:t>   Gần hoàn thành </a:t>
                      </a:r>
                    </a:p>
                  </a:txBody>
                  <a:tcPr marL="75960" marR="75960" anchor="ctr">
                    <a:lnL w="12240">
                      <a:solidFill>
                        <a:srgbClr val="FFFFFF"/>
                      </a:solidFill>
                    </a:lnL>
                    <a:lnR w="12240">
                      <a:solidFill>
                        <a:srgbClr val="FFFFFF"/>
                      </a:solidFill>
                    </a:lnR>
                    <a:lnT w="12240">
                      <a:solidFill>
                        <a:srgbClr val="FFFFFF"/>
                      </a:solidFill>
                    </a:lnT>
                    <a:lnB w="12240">
                      <a:solidFill>
                        <a:srgbClr val="FFFFFF"/>
                      </a:solidFill>
                    </a:lnB>
                    <a:solidFill>
                      <a:srgbClr val="F3F5FA"/>
                    </a:solidFill>
                  </a:tcPr>
                </a:tc>
                <a:extLst>
                  <a:ext uri="{0D108BD9-81ED-4DB2-BD59-A6C34878D82A}">
                    <a16:rowId xmlns:a16="http://schemas.microsoft.com/office/drawing/2014/main" val="10005"/>
                  </a:ext>
                </a:extLst>
              </a:tr>
            </a:tbl>
          </a:graphicData>
        </a:graphic>
      </p:graphicFrame>
      <p:sp>
        <p:nvSpPr>
          <p:cNvPr id="165" name="TextBox 8"/>
          <p:cNvSpPr/>
          <p:nvPr/>
        </p:nvSpPr>
        <p:spPr>
          <a:xfrm>
            <a:off x="640080" y="6473880"/>
            <a:ext cx="5486040" cy="24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000" b="0" strike="noStrike" spc="-1">
                <a:solidFill>
                  <a:srgbClr val="5A5A5A"/>
                </a:solidFill>
                <a:latin typeface="Calibri"/>
              </a:rPr>
              <a:t>Smart-Air — App mới (TypeScript/React Native)</a:t>
            </a:r>
            <a:endParaRPr lang="en-US" sz="1000" b="0" strike="noStrike" spc="-1">
              <a:latin typeface="Arial"/>
            </a:endParaRPr>
          </a:p>
        </p:txBody>
      </p:sp>
      <p:sp>
        <p:nvSpPr>
          <p:cNvPr id="166" name="TextBox 9"/>
          <p:cNvSpPr/>
          <p:nvPr/>
        </p:nvSpPr>
        <p:spPr>
          <a:xfrm>
            <a:off x="10972800" y="6473880"/>
            <a:ext cx="731160" cy="31968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Box 4"/>
          <p:cNvSpPr/>
          <p:nvPr/>
        </p:nvSpPr>
        <p:spPr>
          <a:xfrm>
            <a:off x="1219320" y="612360"/>
            <a:ext cx="10515240" cy="54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3000" b="1" strike="noStrike" spc="-1">
                <a:solidFill>
                  <a:srgbClr val="1B2A4A"/>
                </a:solidFill>
                <a:latin typeface="Calibri"/>
              </a:rPr>
              <a:t>App — ISSUE </a:t>
            </a:r>
            <a:endParaRPr lang="en-US" sz="3000" b="0" strike="noStrike" spc="-1">
              <a:latin typeface="Arial"/>
            </a:endParaRPr>
          </a:p>
        </p:txBody>
      </p:sp>
      <p:sp>
        <p:nvSpPr>
          <p:cNvPr id="168" name="Rectangle 5"/>
          <p:cNvSpPr/>
          <p:nvPr/>
        </p:nvSpPr>
        <p:spPr>
          <a:xfrm>
            <a:off x="640080" y="1280160"/>
            <a:ext cx="1005480" cy="37800"/>
          </a:xfrm>
          <a:prstGeom prst="rect">
            <a:avLst/>
          </a:prstGeom>
          <a:solidFill>
            <a:srgbClr val="3EB48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9" name="TextBox 6"/>
          <p:cNvSpPr/>
          <p:nvPr/>
        </p:nvSpPr>
        <p:spPr>
          <a:xfrm>
            <a:off x="503280" y="1828800"/>
            <a:ext cx="10698120" cy="1355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800"/>
              </a:spcAft>
              <a:buNone/>
            </a:pPr>
            <a:r>
              <a:rPr lang="en-US" sz="1700" b="1" strike="noStrike" spc="-1">
                <a:solidFill>
                  <a:srgbClr val="3EB489"/>
                </a:solidFill>
                <a:latin typeface="Calibri"/>
              </a:rPr>
              <a:t>●  Provisioning wifi: nhập wifi gửi xuống thiết bị báo lỗi, nhưng thoát ra thì lại nhận được thiết bị mới (phải thoát ra mới thất thiết bị kết nối thành công, Lỗi có thể do UI/UX).</a:t>
            </a:r>
            <a:endParaRPr lang="en-US" sz="1700" b="0" strike="noStrike" spc="-1">
              <a:latin typeface="Arial"/>
            </a:endParaRPr>
          </a:p>
          <a:p>
            <a:pPr>
              <a:lnSpc>
                <a:spcPct val="100000"/>
              </a:lnSpc>
              <a:spcAft>
                <a:spcPts val="1800"/>
              </a:spcAft>
              <a:buNone/>
            </a:pPr>
            <a:r>
              <a:rPr lang="en-US" sz="1700" b="1" strike="noStrike" spc="-1">
                <a:solidFill>
                  <a:srgbClr val="3EB489"/>
                </a:solidFill>
                <a:latin typeface="Calibri"/>
              </a:rPr>
              <a:t>● Chưa test OTA</a:t>
            </a:r>
            <a:endParaRPr lang="en-US" sz="1700" b="0" strike="noStrike" spc="-1">
              <a:latin typeface="Arial"/>
            </a:endParaRPr>
          </a:p>
        </p:txBody>
      </p:sp>
      <p:sp>
        <p:nvSpPr>
          <p:cNvPr id="170" name="TextBox 7"/>
          <p:cNvSpPr/>
          <p:nvPr/>
        </p:nvSpPr>
        <p:spPr>
          <a:xfrm>
            <a:off x="640080" y="6473880"/>
            <a:ext cx="5486040" cy="24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000" b="0" strike="noStrike" spc="-1">
                <a:solidFill>
                  <a:srgbClr val="5A5A5A"/>
                </a:solidFill>
                <a:latin typeface="Calibri"/>
              </a:rPr>
              <a:t>Smart-Air — App mới (TypeScript/React Native)</a:t>
            </a:r>
            <a:endParaRPr lang="en-US" sz="1000" b="0" strike="noStrike" spc="-1">
              <a:latin typeface="Arial"/>
            </a:endParaRPr>
          </a:p>
        </p:txBody>
      </p:sp>
      <p:sp>
        <p:nvSpPr>
          <p:cNvPr id="171" name="TextBox 8"/>
          <p:cNvSpPr/>
          <p:nvPr/>
        </p:nvSpPr>
        <p:spPr>
          <a:xfrm>
            <a:off x="10972800" y="6473880"/>
            <a:ext cx="731160" cy="319680"/>
          </a:xfrm>
          <a:prstGeom prst="rect">
            <a:avLst/>
          </a:prstGeom>
          <a:noFill/>
          <a:ln w="0">
            <a:noFill/>
          </a:ln>
        </p:spPr>
        <p:style>
          <a:lnRef idx="0">
            <a:scrgbClr r="0" g="0" b="0"/>
          </a:lnRef>
          <a:fillRef idx="0">
            <a:scrgbClr r="0" g="0" b="0"/>
          </a:fillRef>
          <a:effectRef idx="0">
            <a:scrgbClr r="0" g="0" b="0"/>
          </a:effectRef>
          <a:fontRef idx="minor"/>
        </p:style>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TextBox 3"/>
          <p:cNvSpPr/>
          <p:nvPr/>
        </p:nvSpPr>
        <p:spPr>
          <a:xfrm>
            <a:off x="1523880" y="320040"/>
            <a:ext cx="6431040" cy="28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300" b="1" strike="noStrike" spc="-1">
                <a:solidFill>
                  <a:srgbClr val="3EB489"/>
                </a:solidFill>
                <a:latin typeface="Calibri"/>
              </a:rPr>
              <a:t>DEMO GIAO DIỆN</a:t>
            </a:r>
            <a:endParaRPr lang="en-US" sz="1300" b="0" strike="noStrike" spc="-1">
              <a:latin typeface="Arial"/>
            </a:endParaRPr>
          </a:p>
        </p:txBody>
      </p:sp>
      <p:sp>
        <p:nvSpPr>
          <p:cNvPr id="173" name="TextBox 4"/>
          <p:cNvSpPr/>
          <p:nvPr/>
        </p:nvSpPr>
        <p:spPr>
          <a:xfrm>
            <a:off x="1295280" y="612360"/>
            <a:ext cx="10515240" cy="54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3000" b="1" strike="noStrike" spc="-1">
                <a:solidFill>
                  <a:srgbClr val="1B2A4A"/>
                </a:solidFill>
                <a:latin typeface="Calibri"/>
              </a:rPr>
              <a:t>Một số màn hình đã dựng được (App)</a:t>
            </a:r>
            <a:endParaRPr lang="en-US" sz="3000" b="0" strike="noStrike" spc="-1">
              <a:latin typeface="Arial"/>
            </a:endParaRPr>
          </a:p>
        </p:txBody>
      </p:sp>
      <p:sp>
        <p:nvSpPr>
          <p:cNvPr id="174" name="Rectangle 5"/>
          <p:cNvSpPr/>
          <p:nvPr/>
        </p:nvSpPr>
        <p:spPr>
          <a:xfrm>
            <a:off x="640080" y="1280160"/>
            <a:ext cx="1005480" cy="37800"/>
          </a:xfrm>
          <a:prstGeom prst="rect">
            <a:avLst/>
          </a:prstGeom>
          <a:solidFill>
            <a:srgbClr val="3EB48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5" name="TextBox 7"/>
          <p:cNvSpPr/>
          <p:nvPr/>
        </p:nvSpPr>
        <p:spPr>
          <a:xfrm>
            <a:off x="640080" y="6473880"/>
            <a:ext cx="5486040" cy="24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000" b="0" strike="noStrike" spc="-1">
                <a:solidFill>
                  <a:srgbClr val="5A5A5A"/>
                </a:solidFill>
                <a:latin typeface="Calibri"/>
              </a:rPr>
              <a:t>Smart-Air — App mới (TypeScript/React Native)</a:t>
            </a:r>
            <a:endParaRPr lang="en-US" sz="1000" b="0" strike="noStrike" spc="-1">
              <a:latin typeface="Arial"/>
            </a:endParaRPr>
          </a:p>
        </p:txBody>
      </p:sp>
      <p:sp>
        <p:nvSpPr>
          <p:cNvPr id="176" name="TextBox 8"/>
          <p:cNvSpPr/>
          <p:nvPr/>
        </p:nvSpPr>
        <p:spPr>
          <a:xfrm>
            <a:off x="10972800" y="6473880"/>
            <a:ext cx="731160" cy="319680"/>
          </a:xfrm>
          <a:prstGeom prst="rect">
            <a:avLst/>
          </a:prstGeom>
          <a:noFill/>
          <a:ln w="0">
            <a:noFill/>
          </a:ln>
        </p:spPr>
        <p:style>
          <a:lnRef idx="0">
            <a:scrgbClr r="0" g="0" b="0"/>
          </a:lnRef>
          <a:fillRef idx="0">
            <a:scrgbClr r="0" g="0" b="0"/>
          </a:fillRef>
          <a:effectRef idx="0">
            <a:scrgbClr r="0" g="0" b="0"/>
          </a:effectRef>
          <a:fontRef idx="minor"/>
        </p:style>
      </p:sp>
      <p:pic>
        <p:nvPicPr>
          <p:cNvPr id="177" name="Picture 2"/>
          <p:cNvPicPr/>
          <p:nvPr/>
        </p:nvPicPr>
        <p:blipFill>
          <a:blip r:embed="rId2"/>
          <a:stretch/>
        </p:blipFill>
        <p:spPr>
          <a:xfrm>
            <a:off x="457200" y="1500840"/>
            <a:ext cx="1801800" cy="4230720"/>
          </a:xfrm>
          <a:prstGeom prst="rect">
            <a:avLst/>
          </a:prstGeom>
          <a:ln w="0">
            <a:noFill/>
          </a:ln>
        </p:spPr>
      </p:pic>
      <p:pic>
        <p:nvPicPr>
          <p:cNvPr id="178" name="Picture 10"/>
          <p:cNvPicPr/>
          <p:nvPr/>
        </p:nvPicPr>
        <p:blipFill>
          <a:blip r:embed="rId3"/>
          <a:stretch/>
        </p:blipFill>
        <p:spPr>
          <a:xfrm>
            <a:off x="2349360" y="1497240"/>
            <a:ext cx="1801800" cy="4230720"/>
          </a:xfrm>
          <a:prstGeom prst="rect">
            <a:avLst/>
          </a:prstGeom>
          <a:ln w="0">
            <a:noFill/>
          </a:ln>
        </p:spPr>
      </p:pic>
      <p:pic>
        <p:nvPicPr>
          <p:cNvPr id="179" name="Picture 12"/>
          <p:cNvPicPr/>
          <p:nvPr/>
        </p:nvPicPr>
        <p:blipFill>
          <a:blip r:embed="rId4"/>
          <a:stretch/>
        </p:blipFill>
        <p:spPr>
          <a:xfrm>
            <a:off x="4241880" y="1500840"/>
            <a:ext cx="1801800" cy="4230720"/>
          </a:xfrm>
          <a:prstGeom prst="rect">
            <a:avLst/>
          </a:prstGeom>
          <a:ln w="0">
            <a:noFill/>
          </a:ln>
        </p:spPr>
      </p:pic>
      <p:pic>
        <p:nvPicPr>
          <p:cNvPr id="180" name="Picture 14"/>
          <p:cNvPicPr/>
          <p:nvPr/>
        </p:nvPicPr>
        <p:blipFill>
          <a:blip r:embed="rId5"/>
          <a:stretch/>
        </p:blipFill>
        <p:spPr>
          <a:xfrm>
            <a:off x="6134040" y="1483920"/>
            <a:ext cx="1801800" cy="4230720"/>
          </a:xfrm>
          <a:prstGeom prst="rect">
            <a:avLst/>
          </a:prstGeom>
          <a:ln w="0">
            <a:noFill/>
          </a:ln>
        </p:spPr>
      </p:pic>
      <p:pic>
        <p:nvPicPr>
          <p:cNvPr id="181" name="Picture 16"/>
          <p:cNvPicPr/>
          <p:nvPr/>
        </p:nvPicPr>
        <p:blipFill>
          <a:blip r:embed="rId6"/>
          <a:stretch/>
        </p:blipFill>
        <p:spPr>
          <a:xfrm>
            <a:off x="8026560" y="1483920"/>
            <a:ext cx="1801800" cy="4230720"/>
          </a:xfrm>
          <a:prstGeom prst="rect">
            <a:avLst/>
          </a:prstGeom>
          <a:ln w="0">
            <a:noFill/>
          </a:ln>
        </p:spPr>
      </p:pic>
      <p:pic>
        <p:nvPicPr>
          <p:cNvPr id="182" name="Picture 18"/>
          <p:cNvPicPr/>
          <p:nvPr/>
        </p:nvPicPr>
        <p:blipFill>
          <a:blip r:embed="rId7"/>
          <a:stretch/>
        </p:blipFill>
        <p:spPr>
          <a:xfrm>
            <a:off x="9918720" y="1483920"/>
            <a:ext cx="1801800" cy="423072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1219320" y="457200"/>
            <a:ext cx="10058040" cy="563040"/>
          </a:xfrm>
          <a:prstGeom prst="rect">
            <a:avLst/>
          </a:prstGeom>
          <a:noFill/>
          <a:ln w="0">
            <a:noFill/>
          </a:ln>
        </p:spPr>
        <p:txBody>
          <a:bodyPr numCol="1" spcCol="0" anchor="ctr">
            <a:noAutofit/>
          </a:bodyPr>
          <a:lstStyle/>
          <a:p>
            <a:pPr>
              <a:lnSpc>
                <a:spcPct val="100000"/>
              </a:lnSpc>
              <a:buNone/>
            </a:pPr>
            <a:r>
              <a:rPr lang="vi-VN" sz="2800" b="1" strike="noStrike" spc="-1">
                <a:solidFill>
                  <a:srgbClr val="1B2A4A"/>
                </a:solidFill>
                <a:latin typeface="Calibri"/>
              </a:rPr>
              <a:t>Pipeline đã xây dựng (thư mục src/)</a:t>
            </a:r>
            <a:endParaRPr lang="en-US" sz="2800" b="0" strike="noStrike" spc="-1">
              <a:solidFill>
                <a:srgbClr val="000000"/>
              </a:solidFill>
              <a:latin typeface="Arial"/>
            </a:endParaRPr>
          </a:p>
        </p:txBody>
      </p:sp>
      <p:sp>
        <p:nvSpPr>
          <p:cNvPr id="184" name="TextBox 4"/>
          <p:cNvSpPr/>
          <p:nvPr/>
        </p:nvSpPr>
        <p:spPr>
          <a:xfrm>
            <a:off x="6400800" y="1828800"/>
            <a:ext cx="5394600" cy="260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800"/>
              </a:spcAft>
              <a:buNone/>
            </a:pPr>
            <a:r>
              <a:rPr lang="en-US" sz="1500" b="1" strike="noStrike" spc="-1">
                <a:solidFill>
                  <a:srgbClr val="3EB489"/>
                </a:solidFill>
                <a:latin typeface="Calibri"/>
              </a:rPr>
              <a:t>●  train.py</a:t>
            </a:r>
            <a:r>
              <a:rPr lang="en-US" sz="1500" b="0" strike="noStrike" spc="-1">
                <a:solidFill>
                  <a:srgbClr val="1B2A4A"/>
                </a:solidFill>
                <a:latin typeface="Calibri"/>
              </a:rPr>
              <a:t>  Huấn luyện AdamW + early stopping, xuất checkpoint cho firmware</a:t>
            </a:r>
            <a:endParaRPr lang="en-US" sz="1500" b="0" strike="noStrike" spc="-1">
              <a:latin typeface="Arial"/>
            </a:endParaRPr>
          </a:p>
          <a:p>
            <a:pPr>
              <a:lnSpc>
                <a:spcPct val="100000"/>
              </a:lnSpc>
              <a:spcAft>
                <a:spcPts val="1800"/>
              </a:spcAft>
              <a:buNone/>
            </a:pPr>
            <a:r>
              <a:rPr lang="en-US" sz="1500" b="1" strike="noStrike" spc="-1">
                <a:solidFill>
                  <a:srgbClr val="3EB489"/>
                </a:solidFill>
                <a:latin typeface="Calibri"/>
              </a:rPr>
              <a:t>●  uci_calibration.py</a:t>
            </a:r>
            <a:r>
              <a:rPr lang="en-US" sz="1500" b="0" strike="noStrike" spc="-1">
                <a:solidFill>
                  <a:srgbClr val="1B2A4A"/>
                </a:solidFill>
                <a:latin typeface="Calibri"/>
              </a:rPr>
              <a:t>  Mô phỏng nhiễu cảm biến giá rẻ (Phương án B)</a:t>
            </a:r>
            <a:endParaRPr lang="en-US" sz="1500" b="0" strike="noStrike" spc="-1">
              <a:latin typeface="Arial"/>
            </a:endParaRPr>
          </a:p>
          <a:p>
            <a:pPr>
              <a:lnSpc>
                <a:spcPct val="100000"/>
              </a:lnSpc>
              <a:spcAft>
                <a:spcPts val="1800"/>
              </a:spcAft>
              <a:buNone/>
            </a:pPr>
            <a:r>
              <a:rPr lang="en-US" sz="1500" b="1" strike="noStrike" spc="-1">
                <a:solidFill>
                  <a:srgbClr val="3EB489"/>
                </a:solidFill>
                <a:latin typeface="Calibri"/>
              </a:rPr>
              <a:t>●  predict.py</a:t>
            </a:r>
            <a:r>
              <a:rPr lang="en-US" sz="1500" b="0" strike="noStrike" spc="-1">
                <a:solidFill>
                  <a:srgbClr val="1B2A4A"/>
                </a:solidFill>
                <a:latin typeface="Calibri"/>
              </a:rPr>
              <a:t>  Test tay + cảnh báo out-of-distribution (OOD)</a:t>
            </a:r>
            <a:endParaRPr lang="en-US" sz="1500" b="0" strike="noStrike" spc="-1">
              <a:latin typeface="Arial"/>
            </a:endParaRPr>
          </a:p>
          <a:p>
            <a:pPr>
              <a:lnSpc>
                <a:spcPct val="100000"/>
              </a:lnSpc>
              <a:spcAft>
                <a:spcPts val="1800"/>
              </a:spcAft>
              <a:buNone/>
            </a:pPr>
            <a:r>
              <a:rPr lang="en-US" sz="1500" b="1" strike="noStrike" spc="-1">
                <a:solidFill>
                  <a:srgbClr val="3EB489"/>
                </a:solidFill>
                <a:latin typeface="Calibri"/>
              </a:rPr>
              <a:t>●  calibrate_bias.py / ensemble_eval.py</a:t>
            </a:r>
            <a:r>
              <a:rPr lang="en-US" sz="1500" b="0" strike="noStrike" spc="-1">
                <a:solidFill>
                  <a:srgbClr val="1B2A4A"/>
                </a:solidFill>
                <a:latin typeface="Calibri"/>
              </a:rPr>
              <a:t>  Hiệu chuẩn bias + ensemble nhiều checkpoint</a:t>
            </a:r>
            <a:endParaRPr lang="en-US" sz="1500" b="0" strike="noStrike" spc="-1">
              <a:latin typeface="Arial"/>
            </a:endParaRPr>
          </a:p>
        </p:txBody>
      </p:sp>
      <p:sp>
        <p:nvSpPr>
          <p:cNvPr id="185" name="PlaceHolder 2"/>
          <p:cNvSpPr>
            <a:spLocks noGrp="1"/>
          </p:cNvSpPr>
          <p:nvPr>
            <p:ph/>
          </p:nvPr>
        </p:nvSpPr>
        <p:spPr>
          <a:xfrm>
            <a:off x="234720" y="1828800"/>
            <a:ext cx="5866920" cy="3978720"/>
          </a:xfrm>
          <a:prstGeom prst="rect">
            <a:avLst/>
          </a:prstGeom>
          <a:noFill/>
          <a:ln w="0">
            <a:noFill/>
          </a:ln>
        </p:spPr>
        <p:txBody>
          <a:bodyPr numCol="1" spcCol="0" anchor="t">
            <a:noAutofit/>
          </a:bodyPr>
          <a:lstStyle/>
          <a:p>
            <a:pPr marL="343080" indent="-343080">
              <a:lnSpc>
                <a:spcPct val="100000"/>
              </a:lnSpc>
              <a:spcBef>
                <a:spcPts val="300"/>
              </a:spcBef>
              <a:spcAft>
                <a:spcPts val="1800"/>
              </a:spcAft>
              <a:buClr>
                <a:srgbClr val="4B546F"/>
              </a:buClr>
              <a:buFont typeface="Wingdings" charset="2"/>
              <a:buChar char=""/>
            </a:pPr>
            <a:r>
              <a:rPr lang="en-US" sz="1500" b="1" strike="noStrike" spc="-1">
                <a:solidFill>
                  <a:srgbClr val="3EB489"/>
                </a:solidFill>
                <a:latin typeface="Calibri"/>
              </a:rPr>
              <a:t>●  data.py</a:t>
            </a:r>
            <a:r>
              <a:rPr lang="en-US" sz="1500" b="0" strike="noStrike" spc="-1">
                <a:solidFill>
                  <a:srgbClr val="1B2A4A"/>
                </a:solidFill>
                <a:latin typeface="Calibri"/>
              </a:rPr>
              <a:t>  Load CSV, forward-fill, sinh nhãn AQI, </a:t>
            </a:r>
            <a:endParaRPr lang="en-US" sz="1500" b="0" strike="noStrike" spc="-1">
              <a:solidFill>
                <a:srgbClr val="000000"/>
              </a:solidFill>
              <a:latin typeface="Arial"/>
            </a:endParaRPr>
          </a:p>
          <a:p>
            <a:pPr>
              <a:lnSpc>
                <a:spcPct val="100000"/>
              </a:lnSpc>
              <a:spcBef>
                <a:spcPts val="300"/>
              </a:spcBef>
              <a:spcAft>
                <a:spcPts val="1800"/>
              </a:spcAft>
              <a:buNone/>
              <a:tabLst>
                <a:tab pos="0" algn="l"/>
              </a:tabLst>
            </a:pPr>
            <a:r>
              <a:rPr lang="en-US" sz="1500" b="0" strike="noStrike" spc="-1">
                <a:solidFill>
                  <a:srgbClr val="1B2A4A"/>
                </a:solidFill>
                <a:latin typeface="Calibri"/>
              </a:rPr>
              <a:t>chia train/val/test theo thời gian/trạm</a:t>
            </a:r>
            <a:endParaRPr lang="en-US" sz="1500" b="0" strike="noStrike" spc="-1">
              <a:solidFill>
                <a:srgbClr val="000000"/>
              </a:solidFill>
              <a:latin typeface="Arial"/>
            </a:endParaRPr>
          </a:p>
          <a:p>
            <a:pPr marL="343080" indent="-343080">
              <a:lnSpc>
                <a:spcPct val="100000"/>
              </a:lnSpc>
              <a:spcBef>
                <a:spcPts val="300"/>
              </a:spcBef>
              <a:spcAft>
                <a:spcPts val="1800"/>
              </a:spcAft>
              <a:buClr>
                <a:srgbClr val="4B546F"/>
              </a:buClr>
              <a:buFont typeface="Wingdings" charset="2"/>
              <a:buChar char=""/>
              <a:tabLst>
                <a:tab pos="0" algn="l"/>
              </a:tabLst>
            </a:pPr>
            <a:r>
              <a:rPr lang="en-US" sz="1500" b="1" strike="noStrike" spc="-1">
                <a:solidFill>
                  <a:srgbClr val="3EB489"/>
                </a:solidFill>
                <a:latin typeface="Calibri"/>
              </a:rPr>
              <a:t>●  model.py</a:t>
            </a:r>
            <a:r>
              <a:rPr lang="en-US" sz="1500" b="0" strike="noStrike" spc="-1">
                <a:solidFill>
                  <a:srgbClr val="1B2A4A"/>
                </a:solidFill>
                <a:latin typeface="Calibri"/>
              </a:rPr>
              <a:t>  Kiến trúc CNN1DEncoder</a:t>
            </a:r>
            <a:endParaRPr lang="en-US" sz="1500" b="0" strike="noStrike" spc="-1">
              <a:solidFill>
                <a:srgbClr val="000000"/>
              </a:solidFill>
              <a:latin typeface="Arial"/>
            </a:endParaRPr>
          </a:p>
          <a:p>
            <a:pPr marL="343080" indent="-343080">
              <a:lnSpc>
                <a:spcPct val="100000"/>
              </a:lnSpc>
              <a:spcBef>
                <a:spcPts val="300"/>
              </a:spcBef>
              <a:spcAft>
                <a:spcPts val="1800"/>
              </a:spcAft>
              <a:buClr>
                <a:srgbClr val="4B546F"/>
              </a:buClr>
              <a:buFont typeface="Wingdings" charset="2"/>
              <a:buChar char=""/>
              <a:tabLst>
                <a:tab pos="0" algn="l"/>
              </a:tabLst>
            </a:pPr>
            <a:r>
              <a:rPr lang="en-US" sz="1500" b="1" strike="noStrike" spc="-1">
                <a:solidFill>
                  <a:srgbClr val="3EB489"/>
                </a:solidFill>
                <a:latin typeface="Calibri"/>
              </a:rPr>
              <a:t>●  losses.py</a:t>
            </a:r>
            <a:r>
              <a:rPr lang="en-US" sz="1500" b="0" strike="noStrike" spc="-1">
                <a:solidFill>
                  <a:srgbClr val="1B2A4A"/>
                </a:solidFill>
                <a:latin typeface="Calibri"/>
              </a:rPr>
              <a:t>  Class weights + Focal Loss xử lý mất cân bằng lớp</a:t>
            </a:r>
            <a:endParaRPr lang="en-US" sz="1500" b="0" strike="noStrike" spc="-1">
              <a:solidFill>
                <a:srgbClr val="000000"/>
              </a:solidFill>
              <a:latin typeface="Arial"/>
            </a:endParaRPr>
          </a:p>
          <a:p>
            <a:pPr marL="343080" indent="-343080">
              <a:lnSpc>
                <a:spcPct val="100000"/>
              </a:lnSpc>
              <a:spcBef>
                <a:spcPts val="300"/>
              </a:spcBef>
              <a:spcAft>
                <a:spcPts val="1800"/>
              </a:spcAft>
              <a:buClr>
                <a:srgbClr val="4B546F"/>
              </a:buClr>
              <a:buFont typeface="Wingdings" charset="2"/>
              <a:buChar char=""/>
              <a:tabLst>
                <a:tab pos="0" algn="l"/>
              </a:tabLst>
            </a:pPr>
            <a:r>
              <a:rPr lang="en-US" sz="1500" b="1" strike="noStrike" spc="-1">
                <a:solidFill>
                  <a:srgbClr val="3EB489"/>
                </a:solidFill>
                <a:latin typeface="Calibri"/>
              </a:rPr>
              <a:t>●  dataset.py</a:t>
            </a:r>
            <a:r>
              <a:rPr lang="en-US" sz="1500" b="0" strike="noStrike" spc="-1">
                <a:solidFill>
                  <a:srgbClr val="1B2A4A"/>
                </a:solidFill>
                <a:latin typeface="Calibri"/>
              </a:rPr>
              <a:t>  WindowDataset + augmentation</a:t>
            </a:r>
            <a:endParaRPr lang="en-US" sz="15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43347" y="640080"/>
            <a:ext cx="7315200" cy="365760"/>
          </a:xfrm>
          <a:prstGeom prst="rect">
            <a:avLst/>
          </a:prstGeom>
          <a:noFill/>
        </p:spPr>
        <p:txBody>
          <a:bodyPr wrap="square">
            <a:spAutoFit/>
          </a:bodyPr>
          <a:lstStyle/>
          <a:p>
            <a:pPr algn="l"/>
            <a:r>
              <a:rPr sz="1300" b="1" i="0" dirty="0">
                <a:solidFill>
                  <a:srgbClr val="14788A"/>
                </a:solidFill>
                <a:latin typeface="Calibri"/>
              </a:rPr>
              <a:t>01 · BỐI CẢNH</a:t>
            </a:r>
          </a:p>
        </p:txBody>
      </p:sp>
      <p:sp>
        <p:nvSpPr>
          <p:cNvPr id="3" name="TextBox 2"/>
          <p:cNvSpPr txBox="1"/>
          <p:nvPr/>
        </p:nvSpPr>
        <p:spPr>
          <a:xfrm>
            <a:off x="459575" y="1097280"/>
            <a:ext cx="10515600" cy="731520"/>
          </a:xfrm>
          <a:prstGeom prst="rect">
            <a:avLst/>
          </a:prstGeom>
          <a:noFill/>
        </p:spPr>
        <p:txBody>
          <a:bodyPr wrap="square">
            <a:spAutoFit/>
          </a:bodyPr>
          <a:lstStyle/>
          <a:p>
            <a:pPr algn="l"/>
            <a:r>
              <a:rPr sz="2600" b="1" i="0" dirty="0" err="1">
                <a:solidFill>
                  <a:srgbClr val="10161A"/>
                </a:solidFill>
                <a:latin typeface="Calibri"/>
              </a:rPr>
              <a:t>Vì</a:t>
            </a:r>
            <a:r>
              <a:rPr sz="2600" b="1" i="0" dirty="0">
                <a:solidFill>
                  <a:srgbClr val="10161A"/>
                </a:solidFill>
                <a:latin typeface="Calibri"/>
              </a:rPr>
              <a:t> </a:t>
            </a:r>
            <a:r>
              <a:rPr sz="2600" b="1" i="0" dirty="0" err="1">
                <a:solidFill>
                  <a:srgbClr val="10161A"/>
                </a:solidFill>
                <a:latin typeface="Calibri"/>
              </a:rPr>
              <a:t>sao</a:t>
            </a:r>
            <a:r>
              <a:rPr sz="2600" b="1" i="0" dirty="0">
                <a:solidFill>
                  <a:srgbClr val="10161A"/>
                </a:solidFill>
                <a:latin typeface="Calibri"/>
              </a:rPr>
              <a:t> Alert Recall </a:t>
            </a:r>
            <a:r>
              <a:rPr sz="2600" b="1" i="0" dirty="0" err="1">
                <a:solidFill>
                  <a:srgbClr val="10161A"/>
                </a:solidFill>
                <a:latin typeface="Calibri"/>
              </a:rPr>
              <a:t>là</a:t>
            </a:r>
            <a:r>
              <a:rPr sz="2600" b="1" i="0" dirty="0">
                <a:solidFill>
                  <a:srgbClr val="10161A"/>
                </a:solidFill>
                <a:latin typeface="Calibri"/>
              </a:rPr>
              <a:t> </a:t>
            </a:r>
            <a:r>
              <a:rPr sz="2600" b="1" i="0" dirty="0" err="1">
                <a:solidFill>
                  <a:srgbClr val="10161A"/>
                </a:solidFill>
                <a:latin typeface="Calibri"/>
              </a:rPr>
              <a:t>chỉ</a:t>
            </a:r>
            <a:r>
              <a:rPr sz="2600" b="1" i="0" dirty="0">
                <a:solidFill>
                  <a:srgbClr val="10161A"/>
                </a:solidFill>
                <a:latin typeface="Calibri"/>
              </a:rPr>
              <a:t> </a:t>
            </a:r>
            <a:r>
              <a:rPr sz="2600" b="1" i="0" dirty="0" err="1">
                <a:solidFill>
                  <a:srgbClr val="10161A"/>
                </a:solidFill>
                <a:latin typeface="Calibri"/>
              </a:rPr>
              <a:t>số</a:t>
            </a:r>
            <a:r>
              <a:rPr sz="2600" b="1" i="0" dirty="0">
                <a:solidFill>
                  <a:srgbClr val="10161A"/>
                </a:solidFill>
                <a:latin typeface="Calibri"/>
              </a:rPr>
              <a:t> </a:t>
            </a:r>
            <a:r>
              <a:rPr sz="2600" b="1" i="0" dirty="0" err="1">
                <a:solidFill>
                  <a:srgbClr val="10161A"/>
                </a:solidFill>
                <a:latin typeface="Calibri"/>
              </a:rPr>
              <a:t>quan</a:t>
            </a:r>
            <a:r>
              <a:rPr sz="2600" b="1" i="0" dirty="0">
                <a:solidFill>
                  <a:srgbClr val="10161A"/>
                </a:solidFill>
                <a:latin typeface="Calibri"/>
              </a:rPr>
              <a:t> </a:t>
            </a:r>
            <a:r>
              <a:rPr sz="2600" b="1" i="0" dirty="0" err="1">
                <a:solidFill>
                  <a:srgbClr val="10161A"/>
                </a:solidFill>
                <a:latin typeface="Calibri"/>
              </a:rPr>
              <a:t>trọng</a:t>
            </a:r>
            <a:r>
              <a:rPr sz="2600" b="1" i="0" dirty="0">
                <a:solidFill>
                  <a:srgbClr val="10161A"/>
                </a:solidFill>
                <a:latin typeface="Calibri"/>
              </a:rPr>
              <a:t> </a:t>
            </a:r>
            <a:r>
              <a:rPr sz="2600" b="1" i="0" dirty="0" err="1">
                <a:solidFill>
                  <a:srgbClr val="10161A"/>
                </a:solidFill>
                <a:latin typeface="Calibri"/>
              </a:rPr>
              <a:t>nhất</a:t>
            </a:r>
            <a:endParaRPr sz="2600" b="1" i="0" dirty="0">
              <a:solidFill>
                <a:srgbClr val="10161A"/>
              </a:solidFill>
              <a:latin typeface="Calibri"/>
            </a:endParaRPr>
          </a:p>
        </p:txBody>
      </p:sp>
      <p:sp>
        <p:nvSpPr>
          <p:cNvPr id="4" name="TextBox 3"/>
          <p:cNvSpPr txBox="1"/>
          <p:nvPr/>
        </p:nvSpPr>
        <p:spPr>
          <a:xfrm>
            <a:off x="548640" y="1645920"/>
            <a:ext cx="10972800" cy="4114800"/>
          </a:xfrm>
          <a:prstGeom prst="rect">
            <a:avLst/>
          </a:prstGeom>
          <a:noFill/>
        </p:spPr>
        <p:txBody>
          <a:bodyPr wrap="square">
            <a:spAutoFit/>
          </a:bodyPr>
          <a:lstStyle/>
          <a:p>
            <a:pPr>
              <a:spcAft>
                <a:spcPts val="1400"/>
              </a:spcAft>
              <a:defRPr sz="1700">
                <a:solidFill>
                  <a:srgbClr val="10161A"/>
                </a:solidFill>
              </a:defRPr>
            </a:pPr>
            <a:r>
              <a:rPr dirty="0"/>
              <a:t>•  Model 1D-CNN (4,660 </a:t>
            </a:r>
            <a:r>
              <a:rPr dirty="0" err="1"/>
              <a:t>tham</a:t>
            </a:r>
            <a:r>
              <a:rPr dirty="0"/>
              <a:t> </a:t>
            </a:r>
            <a:r>
              <a:rPr dirty="0" err="1"/>
              <a:t>số</a:t>
            </a:r>
            <a:r>
              <a:rPr dirty="0"/>
              <a:t>) </a:t>
            </a:r>
            <a:r>
              <a:rPr dirty="0" err="1"/>
              <a:t>ước</a:t>
            </a:r>
            <a:r>
              <a:rPr dirty="0"/>
              <a:t> </a:t>
            </a:r>
            <a:r>
              <a:rPr dirty="0" err="1"/>
              <a:t>lượng</a:t>
            </a:r>
            <a:r>
              <a:rPr dirty="0"/>
              <a:t> AQI </a:t>
            </a:r>
            <a:r>
              <a:rPr dirty="0" err="1"/>
              <a:t>từ</a:t>
            </a:r>
            <a:r>
              <a:rPr dirty="0"/>
              <a:t> 4 </a:t>
            </a:r>
            <a:r>
              <a:rPr dirty="0" err="1"/>
              <a:t>cảm</a:t>
            </a:r>
            <a:r>
              <a:rPr dirty="0"/>
              <a:t> </a:t>
            </a:r>
            <a:r>
              <a:rPr dirty="0" err="1"/>
              <a:t>biến</a:t>
            </a:r>
            <a:r>
              <a:rPr dirty="0"/>
              <a:t> </a:t>
            </a:r>
            <a:r>
              <a:rPr dirty="0" err="1"/>
              <a:t>giá</a:t>
            </a:r>
            <a:r>
              <a:rPr dirty="0"/>
              <a:t> </a:t>
            </a:r>
            <a:r>
              <a:rPr dirty="0" err="1"/>
              <a:t>rẻ</a:t>
            </a:r>
            <a:r>
              <a:rPr dirty="0"/>
              <a:t> (</a:t>
            </a:r>
            <a:r>
              <a:rPr dirty="0" err="1"/>
              <a:t>Nhiệt</a:t>
            </a:r>
            <a:r>
              <a:rPr dirty="0"/>
              <a:t> </a:t>
            </a:r>
            <a:r>
              <a:rPr dirty="0" err="1"/>
              <a:t>độ</a:t>
            </a:r>
            <a:r>
              <a:rPr dirty="0"/>
              <a:t>, </a:t>
            </a:r>
            <a:r>
              <a:rPr dirty="0" err="1"/>
              <a:t>Độ</a:t>
            </a:r>
            <a:r>
              <a:rPr dirty="0"/>
              <a:t> </a:t>
            </a:r>
            <a:r>
              <a:rPr dirty="0" err="1"/>
              <a:t>ẩm</a:t>
            </a:r>
            <a:r>
              <a:rPr dirty="0"/>
              <a:t>, CO, NO2) — </a:t>
            </a:r>
            <a:r>
              <a:rPr dirty="0" err="1"/>
              <a:t>thiết</a:t>
            </a:r>
            <a:r>
              <a:rPr dirty="0"/>
              <a:t> </a:t>
            </a:r>
            <a:r>
              <a:rPr dirty="0" err="1"/>
              <a:t>bị</a:t>
            </a:r>
            <a:r>
              <a:rPr dirty="0"/>
              <a:t> KHÔNG </a:t>
            </a:r>
            <a:r>
              <a:rPr dirty="0" err="1"/>
              <a:t>có</a:t>
            </a:r>
            <a:r>
              <a:rPr dirty="0"/>
              <a:t> </a:t>
            </a:r>
            <a:r>
              <a:rPr dirty="0" err="1"/>
              <a:t>cảm</a:t>
            </a:r>
            <a:r>
              <a:rPr dirty="0"/>
              <a:t> </a:t>
            </a:r>
            <a:r>
              <a:rPr dirty="0" err="1"/>
              <a:t>biến</a:t>
            </a:r>
            <a:r>
              <a:rPr dirty="0"/>
              <a:t> PM2.5 </a:t>
            </a:r>
            <a:r>
              <a:rPr dirty="0" err="1"/>
              <a:t>thật</a:t>
            </a:r>
            <a:r>
              <a:rPr dirty="0"/>
              <a:t>.</a:t>
            </a:r>
          </a:p>
          <a:p>
            <a:pPr>
              <a:spcAft>
                <a:spcPts val="1400"/>
              </a:spcAft>
              <a:defRPr sz="1700">
                <a:solidFill>
                  <a:srgbClr val="10161A"/>
                </a:solidFill>
              </a:defRPr>
            </a:pPr>
            <a:r>
              <a:rPr dirty="0"/>
              <a:t>•  </a:t>
            </a:r>
            <a:r>
              <a:rPr dirty="0" err="1"/>
              <a:t>Dữ</a:t>
            </a:r>
            <a:r>
              <a:rPr dirty="0"/>
              <a:t> </a:t>
            </a:r>
            <a:r>
              <a:rPr dirty="0" err="1"/>
              <a:t>liệu</a:t>
            </a:r>
            <a:r>
              <a:rPr dirty="0"/>
              <a:t> </a:t>
            </a:r>
            <a:r>
              <a:rPr dirty="0" err="1"/>
              <a:t>lệch</a:t>
            </a:r>
            <a:r>
              <a:rPr dirty="0"/>
              <a:t> </a:t>
            </a:r>
            <a:r>
              <a:rPr dirty="0" err="1"/>
              <a:t>lớp</a:t>
            </a:r>
            <a:r>
              <a:rPr dirty="0"/>
              <a:t> </a:t>
            </a:r>
            <a:r>
              <a:rPr dirty="0" err="1"/>
              <a:t>cực</a:t>
            </a:r>
            <a:r>
              <a:rPr dirty="0"/>
              <a:t> </a:t>
            </a:r>
            <a:r>
              <a:rPr dirty="0" err="1"/>
              <a:t>mạnh</a:t>
            </a:r>
            <a:r>
              <a:rPr dirty="0"/>
              <a:t>: </a:t>
            </a:r>
            <a:r>
              <a:rPr dirty="0" err="1"/>
              <a:t>Tốt</a:t>
            </a:r>
            <a:r>
              <a:rPr dirty="0"/>
              <a:t> 68% / Trung </a:t>
            </a:r>
            <a:r>
              <a:rPr dirty="0" err="1"/>
              <a:t>bình</a:t>
            </a:r>
            <a:r>
              <a:rPr dirty="0"/>
              <a:t> 26% / </a:t>
            </a:r>
            <a:r>
              <a:rPr dirty="0" err="1"/>
              <a:t>Kém</a:t>
            </a:r>
            <a:r>
              <a:rPr dirty="0"/>
              <a:t> 4.4% / </a:t>
            </a:r>
            <a:r>
              <a:rPr dirty="0" err="1"/>
              <a:t>Xấu→Nguy</a:t>
            </a:r>
            <a:r>
              <a:rPr dirty="0"/>
              <a:t> </a:t>
            </a:r>
            <a:r>
              <a:rPr dirty="0" err="1"/>
              <a:t>hại</a:t>
            </a:r>
            <a:r>
              <a:rPr dirty="0"/>
              <a:t> 1% — Accuracy </a:t>
            </a:r>
            <a:r>
              <a:rPr dirty="0" err="1"/>
              <a:t>dễ</a:t>
            </a:r>
            <a:r>
              <a:rPr dirty="0"/>
              <a:t> </a:t>
            </a:r>
            <a:r>
              <a:rPr dirty="0" err="1"/>
              <a:t>đánh</a:t>
            </a:r>
            <a:r>
              <a:rPr dirty="0"/>
              <a:t> </a:t>
            </a:r>
            <a:r>
              <a:rPr dirty="0" err="1"/>
              <a:t>lừa</a:t>
            </a:r>
            <a:r>
              <a:rPr dirty="0"/>
              <a:t> (</a:t>
            </a:r>
            <a:r>
              <a:rPr dirty="0" err="1"/>
              <a:t>đoán</a:t>
            </a:r>
            <a:r>
              <a:rPr dirty="0"/>
              <a:t> "</a:t>
            </a:r>
            <a:r>
              <a:rPr dirty="0" err="1"/>
              <a:t>luôn</a:t>
            </a:r>
            <a:r>
              <a:rPr dirty="0"/>
              <a:t> </a:t>
            </a:r>
            <a:r>
              <a:rPr dirty="0" err="1"/>
              <a:t>Tốt</a:t>
            </a:r>
            <a:r>
              <a:rPr dirty="0"/>
              <a:t>" </a:t>
            </a:r>
            <a:r>
              <a:rPr dirty="0" err="1"/>
              <a:t>đã</a:t>
            </a:r>
            <a:r>
              <a:rPr dirty="0"/>
              <a:t> </a:t>
            </a:r>
            <a:r>
              <a:rPr dirty="0" err="1"/>
              <a:t>đạt</a:t>
            </a:r>
            <a:r>
              <a:rPr dirty="0"/>
              <a:t> 79.9%).</a:t>
            </a:r>
          </a:p>
          <a:p>
            <a:pPr>
              <a:spcAft>
                <a:spcPts val="1400"/>
              </a:spcAft>
              <a:defRPr sz="1700">
                <a:solidFill>
                  <a:srgbClr val="10161A"/>
                </a:solidFill>
              </a:defRPr>
            </a:pPr>
            <a:r>
              <a:rPr dirty="0"/>
              <a:t>•  Alert Recall = </a:t>
            </a:r>
            <a:r>
              <a:rPr dirty="0" err="1"/>
              <a:t>tỷ</a:t>
            </a:r>
            <a:r>
              <a:rPr dirty="0"/>
              <a:t> </a:t>
            </a:r>
            <a:r>
              <a:rPr dirty="0" err="1"/>
              <a:t>lệ</a:t>
            </a:r>
            <a:r>
              <a:rPr dirty="0"/>
              <a:t> </a:t>
            </a:r>
            <a:r>
              <a:rPr dirty="0" err="1"/>
              <a:t>phát</a:t>
            </a:r>
            <a:r>
              <a:rPr dirty="0"/>
              <a:t> </a:t>
            </a:r>
            <a:r>
              <a:rPr dirty="0" err="1"/>
              <a:t>hiện</a:t>
            </a:r>
            <a:r>
              <a:rPr dirty="0"/>
              <a:t> </a:t>
            </a:r>
            <a:r>
              <a:rPr dirty="0" err="1"/>
              <a:t>đúng</a:t>
            </a:r>
            <a:r>
              <a:rPr dirty="0"/>
              <a:t> </a:t>
            </a:r>
            <a:r>
              <a:rPr dirty="0" err="1"/>
              <a:t>cửa</a:t>
            </a:r>
            <a:r>
              <a:rPr dirty="0"/>
              <a:t> </a:t>
            </a:r>
            <a:r>
              <a:rPr dirty="0" err="1"/>
              <a:t>sổ</a:t>
            </a:r>
            <a:r>
              <a:rPr dirty="0"/>
              <a:t> THẬT SỰ </a:t>
            </a:r>
            <a:r>
              <a:rPr dirty="0" err="1"/>
              <a:t>nguy</a:t>
            </a:r>
            <a:r>
              <a:rPr dirty="0"/>
              <a:t> </a:t>
            </a:r>
            <a:r>
              <a:rPr dirty="0" err="1"/>
              <a:t>hiểm</a:t>
            </a:r>
            <a:r>
              <a:rPr dirty="0"/>
              <a:t> (</a:t>
            </a:r>
            <a:r>
              <a:rPr dirty="0" err="1"/>
              <a:t>Kém</a:t>
            </a:r>
            <a:r>
              <a:rPr dirty="0"/>
              <a:t>/</a:t>
            </a:r>
            <a:r>
              <a:rPr dirty="0" err="1"/>
              <a:t>Xấu→Nguy</a:t>
            </a:r>
            <a:r>
              <a:rPr dirty="0"/>
              <a:t> </a:t>
            </a:r>
            <a:r>
              <a:rPr dirty="0" err="1"/>
              <a:t>hại</a:t>
            </a:r>
            <a:r>
              <a:rPr dirty="0"/>
              <a:t>) — </a:t>
            </a:r>
            <a:r>
              <a:rPr dirty="0" err="1"/>
              <a:t>bỏ</a:t>
            </a:r>
            <a:r>
              <a:rPr dirty="0"/>
              <a:t> </a:t>
            </a:r>
            <a:r>
              <a:rPr dirty="0" err="1"/>
              <a:t>sót</a:t>
            </a:r>
            <a:r>
              <a:rPr dirty="0"/>
              <a:t> </a:t>
            </a:r>
            <a:r>
              <a:rPr dirty="0" err="1"/>
              <a:t>nghĩa</a:t>
            </a:r>
            <a:r>
              <a:rPr dirty="0"/>
              <a:t> </a:t>
            </a:r>
            <a:r>
              <a:rPr dirty="0" err="1"/>
              <a:t>là</a:t>
            </a:r>
            <a:r>
              <a:rPr dirty="0"/>
              <a:t> </a:t>
            </a:r>
            <a:r>
              <a:rPr dirty="0" err="1"/>
              <a:t>hệ</a:t>
            </a:r>
            <a:r>
              <a:rPr dirty="0"/>
              <a:t> </a:t>
            </a:r>
            <a:r>
              <a:rPr dirty="0" err="1"/>
              <a:t>thống</a:t>
            </a:r>
            <a:r>
              <a:rPr dirty="0"/>
              <a:t> </a:t>
            </a:r>
            <a:r>
              <a:rPr dirty="0" err="1"/>
              <a:t>im</a:t>
            </a:r>
            <a:r>
              <a:rPr dirty="0"/>
              <a:t> </a:t>
            </a:r>
            <a:r>
              <a:rPr dirty="0" err="1"/>
              <a:t>lặng</a:t>
            </a:r>
            <a:r>
              <a:rPr dirty="0"/>
              <a:t> </a:t>
            </a:r>
            <a:r>
              <a:rPr dirty="0" err="1"/>
              <a:t>lúc</a:t>
            </a:r>
            <a:r>
              <a:rPr dirty="0"/>
              <a:t> </a:t>
            </a:r>
            <a:r>
              <a:rPr dirty="0" err="1"/>
              <a:t>không</a:t>
            </a:r>
            <a:r>
              <a:rPr dirty="0"/>
              <a:t> </a:t>
            </a:r>
            <a:r>
              <a:rPr dirty="0" err="1"/>
              <a:t>khí</a:t>
            </a:r>
            <a:r>
              <a:rPr dirty="0"/>
              <a:t> </a:t>
            </a:r>
            <a:r>
              <a:rPr dirty="0" err="1"/>
              <a:t>thực</a:t>
            </a:r>
            <a:r>
              <a:rPr dirty="0"/>
              <a:t> </a:t>
            </a:r>
            <a:r>
              <a:rPr dirty="0" err="1"/>
              <a:t>sự</a:t>
            </a:r>
            <a:r>
              <a:rPr dirty="0"/>
              <a:t> </a:t>
            </a:r>
            <a:r>
              <a:rPr dirty="0" err="1"/>
              <a:t>nguy</a:t>
            </a:r>
            <a:r>
              <a:rPr dirty="0"/>
              <a:t> </a:t>
            </a:r>
            <a:r>
              <a:rPr dirty="0" err="1"/>
              <a:t>hiểm</a:t>
            </a:r>
            <a:r>
              <a:rPr dirty="0"/>
              <a:t>.</a:t>
            </a:r>
          </a:p>
          <a:p>
            <a:pPr>
              <a:spcAft>
                <a:spcPts val="1400"/>
              </a:spcAft>
              <a:defRPr sz="1700">
                <a:solidFill>
                  <a:srgbClr val="10161A"/>
                </a:solidFill>
              </a:defRPr>
            </a:pPr>
            <a:r>
              <a:rPr dirty="0"/>
              <a:t>•  Baseline </a:t>
            </a:r>
            <a:r>
              <a:rPr dirty="0" err="1"/>
              <a:t>hiện</a:t>
            </a:r>
            <a:r>
              <a:rPr dirty="0"/>
              <a:t> </a:t>
            </a:r>
            <a:r>
              <a:rPr dirty="0" err="1"/>
              <a:t>tại</a:t>
            </a:r>
            <a:r>
              <a:rPr dirty="0"/>
              <a:t> (outputs/): Alert Recall 74.6%, False Alarm Rate 14.2%. </a:t>
            </a:r>
            <a:r>
              <a:rPr dirty="0" err="1"/>
              <a:t>Câu</a:t>
            </a:r>
            <a:r>
              <a:rPr dirty="0"/>
              <a:t> </a:t>
            </a:r>
            <a:r>
              <a:rPr dirty="0" err="1"/>
              <a:t>hỏi</a:t>
            </a:r>
            <a:r>
              <a:rPr dirty="0"/>
              <a:t>: </a:t>
            </a:r>
            <a:r>
              <a:rPr dirty="0" err="1"/>
              <a:t>làm</a:t>
            </a:r>
            <a:r>
              <a:rPr dirty="0"/>
              <a:t> </a:t>
            </a:r>
            <a:r>
              <a:rPr dirty="0" err="1"/>
              <a:t>sao</a:t>
            </a:r>
            <a:r>
              <a:rPr dirty="0"/>
              <a:t> </a:t>
            </a:r>
            <a:r>
              <a:rPr dirty="0" err="1"/>
              <a:t>kéo</a:t>
            </a:r>
            <a:r>
              <a:rPr dirty="0"/>
              <a:t> </a:t>
            </a:r>
            <a:r>
              <a:rPr dirty="0" err="1"/>
              <a:t>lên</a:t>
            </a:r>
            <a:r>
              <a:rPr dirty="0"/>
              <a:t> </a:t>
            </a:r>
            <a:r>
              <a:rPr dirty="0" err="1"/>
              <a:t>gần</a:t>
            </a:r>
            <a:r>
              <a:rPr dirty="0"/>
              <a:t> 90% </a:t>
            </a:r>
            <a:r>
              <a:rPr dirty="0" err="1"/>
              <a:t>mà</a:t>
            </a:r>
            <a:r>
              <a:rPr dirty="0"/>
              <a:t> </a:t>
            </a:r>
            <a:r>
              <a:rPr dirty="0" err="1"/>
              <a:t>vẫn</a:t>
            </a:r>
            <a:r>
              <a:rPr dirty="0"/>
              <a:t> </a:t>
            </a:r>
            <a:r>
              <a:rPr dirty="0" err="1"/>
              <a:t>dùng</a:t>
            </a:r>
            <a:r>
              <a:rPr dirty="0"/>
              <a:t> </a:t>
            </a:r>
            <a:r>
              <a:rPr dirty="0" err="1"/>
              <a:t>được</a:t>
            </a:r>
            <a:r>
              <a:rPr dirty="0"/>
              <a:t> </a:t>
            </a:r>
            <a:r>
              <a:rPr dirty="0" err="1"/>
              <a:t>thực</a:t>
            </a:r>
            <a:r>
              <a:rPr dirty="0"/>
              <a:t> </a:t>
            </a:r>
            <a:r>
              <a:rPr dirty="0" err="1"/>
              <a:t>tế</a:t>
            </a:r>
            <a:r>
              <a:rPr dirty="0"/>
              <a:t>?</a:t>
            </a:r>
          </a:p>
        </p:txBody>
      </p:sp>
      <p:sp>
        <p:nvSpPr>
          <p:cNvPr id="5" name="TextBox 4"/>
          <p:cNvSpPr txBox="1"/>
          <p:nvPr/>
        </p:nvSpPr>
        <p:spPr>
          <a:xfrm>
            <a:off x="11247120" y="6446520"/>
            <a:ext cx="731520" cy="320040"/>
          </a:xfrm>
          <a:prstGeom prst="rect">
            <a:avLst/>
          </a:prstGeom>
          <a:noFill/>
        </p:spPr>
        <p:txBody>
          <a:bodyPr wrap="square">
            <a:spAutoFit/>
          </a:bodyPr>
          <a:lstStyle/>
          <a:p>
            <a:pPr algn="l"/>
            <a:r>
              <a:rPr sz="1000" b="0" i="0">
                <a:solidFill>
                  <a:srgbClr val="4C5860"/>
                </a:solidFill>
                <a:latin typeface="Calibri"/>
              </a:rPr>
              <a:t>2</a:t>
            </a:r>
          </a:p>
        </p:txBody>
      </p:sp>
      <p:sp>
        <p:nvSpPr>
          <p:cNvPr id="6" name="TextBox 5"/>
          <p:cNvSpPr txBox="1"/>
          <p:nvPr/>
        </p:nvSpPr>
        <p:spPr>
          <a:xfrm>
            <a:off x="548640" y="6446520"/>
            <a:ext cx="5486400" cy="320040"/>
          </a:xfrm>
          <a:prstGeom prst="rect">
            <a:avLst/>
          </a:prstGeom>
          <a:noFill/>
        </p:spPr>
        <p:txBody>
          <a:bodyPr wrap="square">
            <a:spAutoFit/>
          </a:bodyPr>
          <a:lstStyle/>
          <a:p>
            <a:pPr algn="l"/>
            <a:r>
              <a:rPr sz="900" b="0" i="1">
                <a:solidFill>
                  <a:srgbClr val="4C5860"/>
                </a:solidFill>
                <a:latin typeface="Calibri"/>
              </a:rPr>
              <a:t>Smart-Air TinyML — Thử nghiệm tổ hợp Ensemble + Binary + Beijing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13658" y="525780"/>
            <a:ext cx="10515600" cy="731520"/>
          </a:xfrm>
          <a:prstGeom prst="rect">
            <a:avLst/>
          </a:prstGeom>
          <a:noFill/>
        </p:spPr>
        <p:txBody>
          <a:bodyPr wrap="square">
            <a:spAutoFit/>
          </a:bodyPr>
          <a:lstStyle/>
          <a:p>
            <a:pPr algn="l"/>
            <a:r>
              <a:rPr sz="2500" b="1" i="0" dirty="0">
                <a:solidFill>
                  <a:srgbClr val="10161A"/>
                </a:solidFill>
                <a:latin typeface="Calibri"/>
              </a:rPr>
              <a:t>Ensemble · Event-level/Hysteresis · Binary reframing</a:t>
            </a:r>
          </a:p>
        </p:txBody>
      </p:sp>
      <p:graphicFrame>
        <p:nvGraphicFramePr>
          <p:cNvPr id="4" name="Table 3"/>
          <p:cNvGraphicFramePr>
            <a:graphicFrameLocks noGrp="1"/>
          </p:cNvGraphicFramePr>
          <p:nvPr/>
        </p:nvGraphicFramePr>
        <p:xfrm>
          <a:off x="640080" y="1828800"/>
          <a:ext cx="10881360" cy="23774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94360">
                <a:tc>
                  <a:txBody>
                    <a:bodyPr/>
                    <a:lstStyle/>
                    <a:p>
                      <a:pPr>
                        <a:defRPr sz="1400" b="1">
                          <a:solidFill>
                            <a:srgbClr val="FFFFFF"/>
                          </a:solidFill>
                        </a:defRPr>
                      </a:pPr>
                      <a:r>
                        <a:t>Hướng</a:t>
                      </a:r>
                    </a:p>
                  </a:txBody>
                  <a:tcPr>
                    <a:solidFill>
                      <a:srgbClr val="14788A"/>
                    </a:solidFill>
                  </a:tcPr>
                </a:tc>
                <a:tc>
                  <a:txBody>
                    <a:bodyPr/>
                    <a:lstStyle/>
                    <a:p>
                      <a:pPr>
                        <a:defRPr sz="1400" b="1">
                          <a:solidFill>
                            <a:srgbClr val="FFFFFF"/>
                          </a:solidFill>
                        </a:defRPr>
                      </a:pPr>
                      <a:r>
                        <a:t>Cách làm</a:t>
                      </a:r>
                    </a:p>
                  </a:txBody>
                  <a:tcPr>
                    <a:solidFill>
                      <a:srgbClr val="14788A"/>
                    </a:solidFill>
                  </a:tcPr>
                </a:tc>
                <a:tc>
                  <a:txBody>
                    <a:bodyPr/>
                    <a:lstStyle/>
                    <a:p>
                      <a:pPr>
                        <a:defRPr sz="1400" b="1">
                          <a:solidFill>
                            <a:srgbClr val="FFFFFF"/>
                          </a:solidFill>
                        </a:defRPr>
                      </a:pPr>
                      <a:r>
                        <a:t>Alert Recall</a:t>
                      </a:r>
                    </a:p>
                  </a:txBody>
                  <a:tcPr>
                    <a:solidFill>
                      <a:srgbClr val="14788A"/>
                    </a:solidFill>
                  </a:tcPr>
                </a:tc>
                <a:tc>
                  <a:txBody>
                    <a:bodyPr/>
                    <a:lstStyle/>
                    <a:p>
                      <a:pPr>
                        <a:defRPr sz="1400" b="1">
                          <a:solidFill>
                            <a:srgbClr val="FFFFFF"/>
                          </a:solidFill>
                        </a:defRPr>
                      </a:pPr>
                      <a:r>
                        <a:t>False Alarm</a:t>
                      </a:r>
                    </a:p>
                  </a:txBody>
                  <a:tcPr>
                    <a:solidFill>
                      <a:srgbClr val="14788A"/>
                    </a:solidFill>
                  </a:tcPr>
                </a:tc>
                <a:extLst>
                  <a:ext uri="{0D108BD9-81ED-4DB2-BD59-A6C34878D82A}">
                    <a16:rowId xmlns:a16="http://schemas.microsoft.com/office/drawing/2014/main" val="10000"/>
                  </a:ext>
                </a:extLst>
              </a:tr>
              <a:tr h="594360">
                <a:tc>
                  <a:txBody>
                    <a:bodyPr/>
                    <a:lstStyle/>
                    <a:p>
                      <a:pPr>
                        <a:defRPr sz="1300"/>
                      </a:pPr>
                      <a:r>
                        <a:t>(A) Ensemble</a:t>
                      </a:r>
                    </a:p>
                  </a:txBody>
                  <a:tcPr anchor="ctr"/>
                </a:tc>
                <a:tc>
                  <a:txBody>
                    <a:bodyPr/>
                    <a:lstStyle/>
                    <a:p>
                      <a:pPr>
                        <a:defRPr sz="1300"/>
                      </a:pPr>
                      <a:r>
                        <a:t>Soft-vote 4 checkpoint có sẵn, không train thêm</a:t>
                      </a:r>
                    </a:p>
                  </a:txBody>
                  <a:tcPr anchor="ctr"/>
                </a:tc>
                <a:tc>
                  <a:txBody>
                    <a:bodyPr/>
                    <a:lstStyle/>
                    <a:p>
                      <a:pPr>
                        <a:defRPr sz="1300"/>
                      </a:pPr>
                      <a:r>
                        <a:t>76.2%</a:t>
                      </a:r>
                    </a:p>
                  </a:txBody>
                  <a:tcPr anchor="ctr"/>
                </a:tc>
                <a:tc>
                  <a:txBody>
                    <a:bodyPr/>
                    <a:lstStyle/>
                    <a:p>
                      <a:pPr>
                        <a:defRPr sz="1300"/>
                      </a:pPr>
                      <a:r>
                        <a:t>13.8%</a:t>
                      </a:r>
                    </a:p>
                  </a:txBody>
                  <a:tcPr anchor="ctr"/>
                </a:tc>
                <a:extLst>
                  <a:ext uri="{0D108BD9-81ED-4DB2-BD59-A6C34878D82A}">
                    <a16:rowId xmlns:a16="http://schemas.microsoft.com/office/drawing/2014/main" val="10001"/>
                  </a:ext>
                </a:extLst>
              </a:tr>
              <a:tr h="594360">
                <a:tc>
                  <a:txBody>
                    <a:bodyPr/>
                    <a:lstStyle/>
                    <a:p>
                      <a:pPr>
                        <a:defRPr sz="1300"/>
                      </a:pPr>
                      <a:r>
                        <a:t>(B) Event/Hysteresis</a:t>
                      </a:r>
                    </a:p>
                  </a:txBody>
                  <a:tcPr anchor="ctr"/>
                </a:tc>
                <a:tc>
                  <a:txBody>
                    <a:bodyPr/>
                    <a:lstStyle/>
                    <a:p>
                      <a:pPr>
                        <a:defRPr sz="1300"/>
                      </a:pPr>
                      <a:r>
                        <a:t>Đổi metric window→event + lọc K cửa sổ liên tiếp</a:t>
                      </a:r>
                    </a:p>
                  </a:txBody>
                  <a:tcPr anchor="ctr"/>
                </a:tc>
                <a:tc>
                  <a:txBody>
                    <a:bodyPr/>
                    <a:lstStyle/>
                    <a:p>
                      <a:pPr>
                        <a:defRPr sz="1300"/>
                      </a:pPr>
                      <a:r>
                        <a:t>xem slide 4</a:t>
                      </a:r>
                    </a:p>
                  </a:txBody>
                  <a:tcPr anchor="ctr"/>
                </a:tc>
                <a:tc>
                  <a:txBody>
                    <a:bodyPr/>
                    <a:lstStyle/>
                    <a:p>
                      <a:pPr>
                        <a:defRPr sz="1300"/>
                      </a:pPr>
                      <a:r>
                        <a:t>—</a:t>
                      </a:r>
                    </a:p>
                  </a:txBody>
                  <a:tcPr anchor="ctr"/>
                </a:tc>
                <a:extLst>
                  <a:ext uri="{0D108BD9-81ED-4DB2-BD59-A6C34878D82A}">
                    <a16:rowId xmlns:a16="http://schemas.microsoft.com/office/drawing/2014/main" val="10002"/>
                  </a:ext>
                </a:extLst>
              </a:tr>
              <a:tr h="594360">
                <a:tc>
                  <a:txBody>
                    <a:bodyPr/>
                    <a:lstStyle/>
                    <a:p>
                      <a:pPr>
                        <a:defRPr sz="1300"/>
                      </a:pPr>
                      <a:r>
                        <a:t>(C) Binary reframing</a:t>
                      </a:r>
                    </a:p>
                  </a:txBody>
                  <a:tcPr anchor="ctr"/>
                </a:tc>
                <a:tc>
                  <a:txBody>
                    <a:bodyPr/>
                    <a:lstStyle/>
                    <a:p>
                      <a:pPr>
                        <a:defRPr sz="1300"/>
                      </a:pPr>
                      <a:r>
                        <a:t>Train lại với đầu ra 2 lớp an_toàn/cảnh_báo</a:t>
                      </a:r>
                    </a:p>
                  </a:txBody>
                  <a:tcPr anchor="ctr"/>
                </a:tc>
                <a:tc>
                  <a:txBody>
                    <a:bodyPr/>
                    <a:lstStyle/>
                    <a:p>
                      <a:pPr>
                        <a:defRPr sz="1300"/>
                      </a:pPr>
                      <a:r>
                        <a:t>77.8%</a:t>
                      </a:r>
                    </a:p>
                  </a:txBody>
                  <a:tcPr anchor="ctr"/>
                </a:tc>
                <a:tc>
                  <a:txBody>
                    <a:bodyPr/>
                    <a:lstStyle/>
                    <a:p>
                      <a:pPr>
                        <a:defRPr sz="1300"/>
                      </a:pPr>
                      <a:r>
                        <a:t>16.0%</a:t>
                      </a:r>
                    </a:p>
                  </a:txBody>
                  <a:tcPr anchor="ctr"/>
                </a:tc>
                <a:extLst>
                  <a:ext uri="{0D108BD9-81ED-4DB2-BD59-A6C34878D82A}">
                    <a16:rowId xmlns:a16="http://schemas.microsoft.com/office/drawing/2014/main" val="10003"/>
                  </a:ext>
                </a:extLst>
              </a:tr>
            </a:tbl>
          </a:graphicData>
        </a:graphic>
      </p:graphicFrame>
      <p:sp>
        <p:nvSpPr>
          <p:cNvPr id="5" name="TextBox 4"/>
          <p:cNvSpPr txBox="1"/>
          <p:nvPr/>
        </p:nvSpPr>
        <p:spPr>
          <a:xfrm>
            <a:off x="640080" y="4480560"/>
            <a:ext cx="10881360" cy="1737360"/>
          </a:xfrm>
          <a:prstGeom prst="rect">
            <a:avLst/>
          </a:prstGeom>
          <a:noFill/>
        </p:spPr>
        <p:txBody>
          <a:bodyPr wrap="square">
            <a:spAutoFit/>
          </a:bodyPr>
          <a:lstStyle/>
          <a:p>
            <a:pPr algn="l"/>
            <a:r>
              <a:rPr sz="1500" b="0" i="1">
                <a:solidFill>
                  <a:srgbClr val="4C5860"/>
                </a:solidFill>
                <a:latin typeface="Calibri"/>
              </a:rPr>
              <a:t>Kết luận riêng lẻ: không hướng nào đơn lẻ đạt gần 90% — con số tốt nhất mới chỉ 77.8%. Cả 3 đều xác nhận trần hiệu năng là do THIẾU DỮ LIỆU (198/12/7 mẫu lớp hiếm), không phải do kiến trúc/metric.</a:t>
            </a:r>
          </a:p>
        </p:txBody>
      </p:sp>
      <p:sp>
        <p:nvSpPr>
          <p:cNvPr id="6" name="TextBox 5"/>
          <p:cNvSpPr txBox="1"/>
          <p:nvPr/>
        </p:nvSpPr>
        <p:spPr>
          <a:xfrm>
            <a:off x="11247120" y="6446520"/>
            <a:ext cx="731520" cy="320040"/>
          </a:xfrm>
          <a:prstGeom prst="rect">
            <a:avLst/>
          </a:prstGeom>
          <a:noFill/>
        </p:spPr>
        <p:txBody>
          <a:bodyPr wrap="square">
            <a:spAutoFit/>
          </a:bodyPr>
          <a:lstStyle/>
          <a:p>
            <a:pPr algn="l"/>
            <a:r>
              <a:rPr sz="1000" b="0" i="0">
                <a:solidFill>
                  <a:srgbClr val="4C5860"/>
                </a:solidFill>
                <a:latin typeface="Calibri"/>
              </a:rPr>
              <a:t>3</a:t>
            </a:r>
          </a:p>
        </p:txBody>
      </p:sp>
      <p:sp>
        <p:nvSpPr>
          <p:cNvPr id="7" name="TextBox 6"/>
          <p:cNvSpPr txBox="1"/>
          <p:nvPr/>
        </p:nvSpPr>
        <p:spPr>
          <a:xfrm>
            <a:off x="548640" y="6446520"/>
            <a:ext cx="5486400" cy="320040"/>
          </a:xfrm>
          <a:prstGeom prst="rect">
            <a:avLst/>
          </a:prstGeom>
          <a:noFill/>
        </p:spPr>
        <p:txBody>
          <a:bodyPr wrap="square">
            <a:spAutoFit/>
          </a:bodyPr>
          <a:lstStyle/>
          <a:p>
            <a:pPr algn="l"/>
            <a:r>
              <a:rPr sz="900" b="0" i="1">
                <a:solidFill>
                  <a:srgbClr val="4C5860"/>
                </a:solidFill>
                <a:latin typeface="Calibri"/>
              </a:rPr>
              <a:t>Smart-Air TinyML — Thử nghiệm tổ hợp Ensemble + Binary + Beijing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5968" y="320040"/>
            <a:ext cx="6717871" cy="292388"/>
          </a:xfrm>
          <a:prstGeom prst="rect">
            <a:avLst/>
          </a:prstGeom>
          <a:noFill/>
        </p:spPr>
        <p:txBody>
          <a:bodyPr wrap="square">
            <a:spAutoFit/>
          </a:bodyPr>
          <a:lstStyle/>
          <a:p>
            <a:pPr algn="l"/>
            <a:r>
              <a:rPr sz="1300" b="1" i="0" dirty="0">
                <a:solidFill>
                  <a:srgbClr val="14788A"/>
                </a:solidFill>
                <a:latin typeface="Calibri"/>
              </a:rPr>
              <a:t>02 · PHÁT HIỆN PHỤ QUAN</a:t>
            </a:r>
            <a:r>
              <a:rPr lang="en-US" sz="1300" b="1" i="0" dirty="0">
                <a:solidFill>
                  <a:srgbClr val="14788A"/>
                </a:solidFill>
                <a:latin typeface="Calibri"/>
              </a:rPr>
              <a:t> </a:t>
            </a:r>
            <a:r>
              <a:rPr sz="1300" b="1" i="0" dirty="0">
                <a:solidFill>
                  <a:srgbClr val="14788A"/>
                </a:solidFill>
                <a:latin typeface="Calibri"/>
              </a:rPr>
              <a:t>TRỌNG</a:t>
            </a:r>
          </a:p>
        </p:txBody>
      </p:sp>
      <p:sp>
        <p:nvSpPr>
          <p:cNvPr id="3" name="TextBox 2"/>
          <p:cNvSpPr txBox="1"/>
          <p:nvPr/>
        </p:nvSpPr>
        <p:spPr>
          <a:xfrm>
            <a:off x="1261159" y="529282"/>
            <a:ext cx="10515600" cy="731520"/>
          </a:xfrm>
          <a:prstGeom prst="rect">
            <a:avLst/>
          </a:prstGeom>
          <a:noFill/>
        </p:spPr>
        <p:txBody>
          <a:bodyPr wrap="square">
            <a:spAutoFit/>
          </a:bodyPr>
          <a:lstStyle/>
          <a:p>
            <a:pPr algn="l"/>
            <a:r>
              <a:rPr sz="2500" b="1" i="0" dirty="0" err="1">
                <a:solidFill>
                  <a:srgbClr val="10161A"/>
                </a:solidFill>
                <a:latin typeface="Calibri"/>
              </a:rPr>
              <a:t>Vì</a:t>
            </a:r>
            <a:r>
              <a:rPr sz="2500" b="1" i="0" dirty="0">
                <a:solidFill>
                  <a:srgbClr val="10161A"/>
                </a:solidFill>
                <a:latin typeface="Calibri"/>
              </a:rPr>
              <a:t> </a:t>
            </a:r>
            <a:r>
              <a:rPr sz="2500" b="1" i="0" dirty="0" err="1">
                <a:solidFill>
                  <a:srgbClr val="10161A"/>
                </a:solidFill>
                <a:latin typeface="Calibri"/>
              </a:rPr>
              <a:t>sao</a:t>
            </a:r>
            <a:r>
              <a:rPr sz="2500" b="1" i="0" dirty="0">
                <a:solidFill>
                  <a:srgbClr val="10161A"/>
                </a:solidFill>
                <a:latin typeface="Calibri"/>
              </a:rPr>
              <a:t> Hysteresis </a:t>
            </a:r>
            <a:r>
              <a:rPr sz="2500" b="1" i="0" dirty="0" err="1">
                <a:solidFill>
                  <a:srgbClr val="10161A"/>
                </a:solidFill>
                <a:latin typeface="Calibri"/>
              </a:rPr>
              <a:t>không</a:t>
            </a:r>
            <a:r>
              <a:rPr sz="2500" b="1" i="0" dirty="0">
                <a:solidFill>
                  <a:srgbClr val="10161A"/>
                </a:solidFill>
                <a:latin typeface="Calibri"/>
              </a:rPr>
              <a:t> </a:t>
            </a:r>
            <a:r>
              <a:rPr sz="2500" b="1" i="0" dirty="0" err="1">
                <a:solidFill>
                  <a:srgbClr val="10161A"/>
                </a:solidFill>
                <a:latin typeface="Calibri"/>
              </a:rPr>
              <a:t>hoạt</a:t>
            </a:r>
            <a:r>
              <a:rPr sz="2500" b="1" i="0" dirty="0">
                <a:solidFill>
                  <a:srgbClr val="10161A"/>
                </a:solidFill>
                <a:latin typeface="Calibri"/>
              </a:rPr>
              <a:t> </a:t>
            </a:r>
            <a:r>
              <a:rPr sz="2500" b="1" i="0" dirty="0" err="1">
                <a:solidFill>
                  <a:srgbClr val="10161A"/>
                </a:solidFill>
                <a:latin typeface="Calibri"/>
              </a:rPr>
              <a:t>động</a:t>
            </a:r>
            <a:r>
              <a:rPr sz="2500" b="1" i="0" dirty="0">
                <a:solidFill>
                  <a:srgbClr val="10161A"/>
                </a:solidFill>
                <a:latin typeface="Calibri"/>
              </a:rPr>
              <a:t> </a:t>
            </a:r>
            <a:r>
              <a:rPr sz="2500" b="1" i="0" dirty="0" err="1">
                <a:solidFill>
                  <a:srgbClr val="10161A"/>
                </a:solidFill>
                <a:latin typeface="Calibri"/>
              </a:rPr>
              <a:t>như</a:t>
            </a:r>
            <a:r>
              <a:rPr sz="2500" b="1" i="0" dirty="0">
                <a:solidFill>
                  <a:srgbClr val="10161A"/>
                </a:solidFill>
                <a:latin typeface="Calibri"/>
              </a:rPr>
              <a:t> </a:t>
            </a:r>
            <a:r>
              <a:rPr sz="2500" b="1" i="0" dirty="0" err="1">
                <a:solidFill>
                  <a:srgbClr val="10161A"/>
                </a:solidFill>
                <a:latin typeface="Calibri"/>
              </a:rPr>
              <a:t>kỳ</a:t>
            </a:r>
            <a:r>
              <a:rPr sz="2500" b="1" i="0" dirty="0">
                <a:solidFill>
                  <a:srgbClr val="10161A"/>
                </a:solidFill>
                <a:latin typeface="Calibri"/>
              </a:rPr>
              <a:t> </a:t>
            </a:r>
            <a:r>
              <a:rPr sz="2500" b="1" i="0" dirty="0" err="1">
                <a:solidFill>
                  <a:srgbClr val="10161A"/>
                </a:solidFill>
                <a:latin typeface="Calibri"/>
              </a:rPr>
              <a:t>vọng</a:t>
            </a:r>
            <a:endParaRPr sz="2500" b="1" i="0" dirty="0">
              <a:solidFill>
                <a:srgbClr val="10161A"/>
              </a:solidFill>
              <a:latin typeface="Calibri"/>
            </a:endParaRPr>
          </a:p>
        </p:txBody>
      </p:sp>
      <p:sp>
        <p:nvSpPr>
          <p:cNvPr id="4" name="TextBox 3"/>
          <p:cNvSpPr txBox="1"/>
          <p:nvPr/>
        </p:nvSpPr>
        <p:spPr>
          <a:xfrm>
            <a:off x="548640" y="1241150"/>
            <a:ext cx="10881360" cy="822960"/>
          </a:xfrm>
          <a:prstGeom prst="rect">
            <a:avLst/>
          </a:prstGeom>
          <a:noFill/>
        </p:spPr>
        <p:txBody>
          <a:bodyPr wrap="square">
            <a:spAutoFit/>
          </a:bodyPr>
          <a:lstStyle/>
          <a:p>
            <a:pPr algn="l"/>
            <a:r>
              <a:rPr sz="1500" b="0" i="0" dirty="0">
                <a:solidFill>
                  <a:srgbClr val="4C5860"/>
                </a:solidFill>
                <a:latin typeface="Calibri"/>
              </a:rPr>
              <a:t>27 </a:t>
            </a:r>
            <a:r>
              <a:rPr sz="1500" b="0" i="0" dirty="0" err="1">
                <a:solidFill>
                  <a:srgbClr val="4C5860"/>
                </a:solidFill>
                <a:latin typeface="Calibri"/>
              </a:rPr>
              <a:t>đợt</a:t>
            </a:r>
            <a:r>
              <a:rPr sz="1500" b="0" i="0" dirty="0">
                <a:solidFill>
                  <a:srgbClr val="4C5860"/>
                </a:solidFill>
                <a:latin typeface="Calibri"/>
              </a:rPr>
              <a:t> ô </a:t>
            </a:r>
            <a:r>
              <a:rPr sz="1500" b="0" i="0" dirty="0" err="1">
                <a:solidFill>
                  <a:srgbClr val="4C5860"/>
                </a:solidFill>
                <a:latin typeface="Calibri"/>
              </a:rPr>
              <a:t>nhiễm</a:t>
            </a:r>
            <a:r>
              <a:rPr sz="1500" b="0" i="0" dirty="0">
                <a:solidFill>
                  <a:srgbClr val="4C5860"/>
                </a:solidFill>
                <a:latin typeface="Calibri"/>
              </a:rPr>
              <a:t> </a:t>
            </a:r>
            <a:r>
              <a:rPr sz="1500" b="0" i="0" dirty="0" err="1">
                <a:solidFill>
                  <a:srgbClr val="4C5860"/>
                </a:solidFill>
                <a:latin typeface="Calibri"/>
              </a:rPr>
              <a:t>thật</a:t>
            </a:r>
            <a:r>
              <a:rPr sz="1500" b="0" i="0" dirty="0">
                <a:solidFill>
                  <a:srgbClr val="4C5860"/>
                </a:solidFill>
                <a:latin typeface="Calibri"/>
              </a:rPr>
              <a:t> </a:t>
            </a:r>
            <a:r>
              <a:rPr sz="1500" b="0" i="0" dirty="0" err="1">
                <a:solidFill>
                  <a:srgbClr val="4C5860"/>
                </a:solidFill>
                <a:latin typeface="Calibri"/>
              </a:rPr>
              <a:t>trong</a:t>
            </a:r>
            <a:r>
              <a:rPr sz="1500" b="0" i="0" dirty="0">
                <a:solidFill>
                  <a:srgbClr val="4C5860"/>
                </a:solidFill>
                <a:latin typeface="Calibri"/>
              </a:rPr>
              <a:t> </a:t>
            </a:r>
            <a:r>
              <a:rPr sz="1500" b="0" i="0" dirty="0" err="1">
                <a:solidFill>
                  <a:srgbClr val="4C5860"/>
                </a:solidFill>
                <a:latin typeface="Calibri"/>
              </a:rPr>
              <a:t>tập</a:t>
            </a:r>
            <a:r>
              <a:rPr sz="1500" b="0" i="0" dirty="0">
                <a:solidFill>
                  <a:srgbClr val="4C5860"/>
                </a:solidFill>
                <a:latin typeface="Calibri"/>
              </a:rPr>
              <a:t> test — 12/27 (44%) </a:t>
            </a:r>
            <a:r>
              <a:rPr sz="1500" b="0" i="0" dirty="0" err="1">
                <a:solidFill>
                  <a:srgbClr val="4C5860"/>
                </a:solidFill>
                <a:latin typeface="Calibri"/>
              </a:rPr>
              <a:t>chỉ</a:t>
            </a:r>
            <a:r>
              <a:rPr sz="1500" b="0" i="0" dirty="0">
                <a:solidFill>
                  <a:srgbClr val="4C5860"/>
                </a:solidFill>
                <a:latin typeface="Calibri"/>
              </a:rPr>
              <a:t> </a:t>
            </a:r>
            <a:r>
              <a:rPr sz="1500" b="0" i="0" dirty="0" err="1">
                <a:solidFill>
                  <a:srgbClr val="4C5860"/>
                </a:solidFill>
                <a:latin typeface="Calibri"/>
              </a:rPr>
              <a:t>dài</a:t>
            </a:r>
            <a:r>
              <a:rPr sz="1500" b="0" i="0" dirty="0">
                <a:solidFill>
                  <a:srgbClr val="4C5860"/>
                </a:solidFill>
                <a:latin typeface="Calibri"/>
              </a:rPr>
              <a:t> ĐÚNG 1 GIỜ, median 2 </a:t>
            </a:r>
            <a:r>
              <a:rPr sz="1500" b="0" i="0" dirty="0" err="1">
                <a:solidFill>
                  <a:srgbClr val="4C5860"/>
                </a:solidFill>
                <a:latin typeface="Calibri"/>
              </a:rPr>
              <a:t>giờ</a:t>
            </a:r>
            <a:r>
              <a:rPr sz="1500" b="0" i="0" dirty="0">
                <a:solidFill>
                  <a:srgbClr val="4C5860"/>
                </a:solidFill>
                <a:latin typeface="Calibri"/>
              </a:rPr>
              <a:t>. </a:t>
            </a:r>
            <a:r>
              <a:rPr sz="1500" b="0" i="0" dirty="0" err="1">
                <a:solidFill>
                  <a:srgbClr val="4C5860"/>
                </a:solidFill>
                <a:latin typeface="Calibri"/>
              </a:rPr>
              <a:t>Yêu</a:t>
            </a:r>
            <a:r>
              <a:rPr sz="1500" b="0" i="0" dirty="0">
                <a:solidFill>
                  <a:srgbClr val="4C5860"/>
                </a:solidFill>
                <a:latin typeface="Calibri"/>
              </a:rPr>
              <a:t> </a:t>
            </a:r>
            <a:r>
              <a:rPr sz="1500" b="0" i="0" dirty="0" err="1">
                <a:solidFill>
                  <a:srgbClr val="4C5860"/>
                </a:solidFill>
                <a:latin typeface="Calibri"/>
              </a:rPr>
              <a:t>cầu</a:t>
            </a:r>
            <a:r>
              <a:rPr sz="1500" b="0" i="0" dirty="0">
                <a:solidFill>
                  <a:srgbClr val="4C5860"/>
                </a:solidFill>
                <a:latin typeface="Calibri"/>
              </a:rPr>
              <a:t> K≥3 </a:t>
            </a:r>
            <a:r>
              <a:rPr sz="1500" b="0" i="0" dirty="0" err="1">
                <a:solidFill>
                  <a:srgbClr val="4C5860"/>
                </a:solidFill>
                <a:latin typeface="Calibri"/>
              </a:rPr>
              <a:t>cửa</a:t>
            </a:r>
            <a:r>
              <a:rPr sz="1500" b="0" i="0" dirty="0">
                <a:solidFill>
                  <a:srgbClr val="4C5860"/>
                </a:solidFill>
                <a:latin typeface="Calibri"/>
              </a:rPr>
              <a:t> </a:t>
            </a:r>
            <a:r>
              <a:rPr sz="1500" b="0" i="0" dirty="0" err="1">
                <a:solidFill>
                  <a:srgbClr val="4C5860"/>
                </a:solidFill>
                <a:latin typeface="Calibri"/>
              </a:rPr>
              <a:t>sổ</a:t>
            </a:r>
            <a:r>
              <a:rPr sz="1500" b="0" i="0" dirty="0">
                <a:solidFill>
                  <a:srgbClr val="4C5860"/>
                </a:solidFill>
                <a:latin typeface="Calibri"/>
              </a:rPr>
              <a:t> </a:t>
            </a:r>
            <a:r>
              <a:rPr sz="1500" b="0" i="0" dirty="0" err="1">
                <a:solidFill>
                  <a:srgbClr val="4C5860"/>
                </a:solidFill>
                <a:latin typeface="Calibri"/>
              </a:rPr>
              <a:t>liên</a:t>
            </a:r>
            <a:r>
              <a:rPr sz="1500" b="0" i="0" dirty="0">
                <a:solidFill>
                  <a:srgbClr val="4C5860"/>
                </a:solidFill>
                <a:latin typeface="Calibri"/>
              </a:rPr>
              <a:t> </a:t>
            </a:r>
            <a:r>
              <a:rPr sz="1500" b="0" i="0" dirty="0" err="1">
                <a:solidFill>
                  <a:srgbClr val="4C5860"/>
                </a:solidFill>
                <a:latin typeface="Calibri"/>
              </a:rPr>
              <a:t>tiếp</a:t>
            </a:r>
            <a:r>
              <a:rPr sz="1500" b="0" i="0" dirty="0">
                <a:solidFill>
                  <a:srgbClr val="4C5860"/>
                </a:solidFill>
                <a:latin typeface="Calibri"/>
              </a:rPr>
              <a:t> </a:t>
            </a:r>
            <a:r>
              <a:rPr sz="1500" b="0" i="0" dirty="0" err="1">
                <a:solidFill>
                  <a:srgbClr val="4C5860"/>
                </a:solidFill>
                <a:latin typeface="Calibri"/>
              </a:rPr>
              <a:t>về</a:t>
            </a:r>
            <a:r>
              <a:rPr sz="1500" b="0" i="0" dirty="0">
                <a:solidFill>
                  <a:srgbClr val="4C5860"/>
                </a:solidFill>
                <a:latin typeface="Calibri"/>
              </a:rPr>
              <a:t> </a:t>
            </a:r>
            <a:r>
              <a:rPr sz="1500" b="0" i="0" dirty="0" err="1">
                <a:solidFill>
                  <a:srgbClr val="4C5860"/>
                </a:solidFill>
                <a:latin typeface="Calibri"/>
              </a:rPr>
              <a:t>mặt</a:t>
            </a:r>
            <a:r>
              <a:rPr sz="1500" b="0" i="0" dirty="0">
                <a:solidFill>
                  <a:srgbClr val="4C5860"/>
                </a:solidFill>
                <a:latin typeface="Calibri"/>
              </a:rPr>
              <a:t> </a:t>
            </a:r>
            <a:r>
              <a:rPr sz="1500" b="0" i="0" dirty="0" err="1">
                <a:solidFill>
                  <a:srgbClr val="4C5860"/>
                </a:solidFill>
                <a:latin typeface="Calibri"/>
              </a:rPr>
              <a:t>toán</a:t>
            </a:r>
            <a:r>
              <a:rPr sz="1500" b="0" i="0" dirty="0">
                <a:solidFill>
                  <a:srgbClr val="4C5860"/>
                </a:solidFill>
                <a:latin typeface="Calibri"/>
              </a:rPr>
              <a:t> </a:t>
            </a:r>
            <a:r>
              <a:rPr sz="1500" b="0" i="0" dirty="0" err="1">
                <a:solidFill>
                  <a:srgbClr val="4C5860"/>
                </a:solidFill>
                <a:latin typeface="Calibri"/>
              </a:rPr>
              <a:t>học</a:t>
            </a:r>
            <a:r>
              <a:rPr sz="1500" b="0" i="0" dirty="0">
                <a:solidFill>
                  <a:srgbClr val="4C5860"/>
                </a:solidFill>
                <a:latin typeface="Calibri"/>
              </a:rPr>
              <a:t> </a:t>
            </a:r>
            <a:r>
              <a:rPr sz="1500" b="0" i="0" dirty="0" err="1">
                <a:solidFill>
                  <a:srgbClr val="4C5860"/>
                </a:solidFill>
                <a:latin typeface="Calibri"/>
              </a:rPr>
              <a:t>bỏ</a:t>
            </a:r>
            <a:r>
              <a:rPr sz="1500" b="0" i="0" dirty="0">
                <a:solidFill>
                  <a:srgbClr val="4C5860"/>
                </a:solidFill>
                <a:latin typeface="Calibri"/>
              </a:rPr>
              <a:t> </a:t>
            </a:r>
            <a:r>
              <a:rPr sz="1500" b="0" i="0" dirty="0" err="1">
                <a:solidFill>
                  <a:srgbClr val="4C5860"/>
                </a:solidFill>
                <a:latin typeface="Calibri"/>
              </a:rPr>
              <a:t>lỡ</a:t>
            </a:r>
            <a:r>
              <a:rPr sz="1500" b="0" i="0" dirty="0">
                <a:solidFill>
                  <a:srgbClr val="4C5860"/>
                </a:solidFill>
                <a:latin typeface="Calibri"/>
              </a:rPr>
              <a:t> </a:t>
            </a:r>
            <a:r>
              <a:rPr sz="1500" b="0" i="0" dirty="0" err="1">
                <a:solidFill>
                  <a:srgbClr val="4C5860"/>
                </a:solidFill>
                <a:latin typeface="Calibri"/>
              </a:rPr>
              <a:t>gần</a:t>
            </a:r>
            <a:r>
              <a:rPr sz="1500" b="0" i="0" dirty="0">
                <a:solidFill>
                  <a:srgbClr val="4C5860"/>
                </a:solidFill>
                <a:latin typeface="Calibri"/>
              </a:rPr>
              <a:t> </a:t>
            </a:r>
            <a:r>
              <a:rPr sz="1500" b="0" i="0" dirty="0" err="1">
                <a:solidFill>
                  <a:srgbClr val="4C5860"/>
                </a:solidFill>
                <a:latin typeface="Calibri"/>
              </a:rPr>
              <a:t>một</a:t>
            </a:r>
            <a:r>
              <a:rPr sz="1500" b="0" i="0" dirty="0">
                <a:solidFill>
                  <a:srgbClr val="4C5860"/>
                </a:solidFill>
                <a:latin typeface="Calibri"/>
              </a:rPr>
              <a:t> </a:t>
            </a:r>
            <a:r>
              <a:rPr sz="1500" b="0" i="0" dirty="0" err="1">
                <a:solidFill>
                  <a:srgbClr val="4C5860"/>
                </a:solidFill>
                <a:latin typeface="Calibri"/>
              </a:rPr>
              <a:t>nửa</a:t>
            </a:r>
            <a:r>
              <a:rPr sz="1500" b="0" i="0" dirty="0">
                <a:solidFill>
                  <a:srgbClr val="4C5860"/>
                </a:solidFill>
                <a:latin typeface="Calibri"/>
              </a:rPr>
              <a:t> </a:t>
            </a:r>
            <a:r>
              <a:rPr sz="1500" b="0" i="0" dirty="0" err="1">
                <a:solidFill>
                  <a:srgbClr val="4C5860"/>
                </a:solidFill>
                <a:latin typeface="Calibri"/>
              </a:rPr>
              <a:t>số</a:t>
            </a:r>
            <a:r>
              <a:rPr sz="1500" b="0" i="0" dirty="0">
                <a:solidFill>
                  <a:srgbClr val="4C5860"/>
                </a:solidFill>
                <a:latin typeface="Calibri"/>
              </a:rPr>
              <a:t> </a:t>
            </a:r>
            <a:r>
              <a:rPr sz="1500" b="0" i="0" dirty="0" err="1">
                <a:solidFill>
                  <a:srgbClr val="4C5860"/>
                </a:solidFill>
                <a:latin typeface="Calibri"/>
              </a:rPr>
              <a:t>đợt</a:t>
            </a:r>
            <a:r>
              <a:rPr sz="1500" b="0" i="0" dirty="0">
                <a:solidFill>
                  <a:srgbClr val="4C5860"/>
                </a:solidFill>
                <a:latin typeface="Calibri"/>
              </a:rPr>
              <a:t> </a:t>
            </a:r>
            <a:r>
              <a:rPr sz="1500" b="0" i="0" dirty="0" err="1">
                <a:solidFill>
                  <a:srgbClr val="4C5860"/>
                </a:solidFill>
                <a:latin typeface="Calibri"/>
              </a:rPr>
              <a:t>thật</a:t>
            </a:r>
            <a:r>
              <a:rPr sz="1500" b="0" i="0" dirty="0">
                <a:solidFill>
                  <a:srgbClr val="4C5860"/>
                </a:solidFill>
                <a:latin typeface="Calibri"/>
              </a:rPr>
              <a:t>.</a:t>
            </a:r>
          </a:p>
        </p:txBody>
      </p:sp>
      <p:pic>
        <p:nvPicPr>
          <p:cNvPr id="5" name="Picture 4" descr="chart_hysteresis.png"/>
          <p:cNvPicPr>
            <a:picLocks noChangeAspect="1"/>
          </p:cNvPicPr>
          <p:nvPr/>
        </p:nvPicPr>
        <p:blipFill>
          <a:blip r:embed="rId2"/>
          <a:stretch>
            <a:fillRect/>
          </a:stretch>
        </p:blipFill>
        <p:spPr>
          <a:xfrm>
            <a:off x="2224248" y="1949692"/>
            <a:ext cx="7621583" cy="4382410"/>
          </a:xfrm>
          <a:prstGeom prst="rect">
            <a:avLst/>
          </a:prstGeom>
        </p:spPr>
      </p:pic>
      <p:sp>
        <p:nvSpPr>
          <p:cNvPr id="6" name="TextBox 5"/>
          <p:cNvSpPr txBox="1"/>
          <p:nvPr/>
        </p:nvSpPr>
        <p:spPr>
          <a:xfrm>
            <a:off x="11247120" y="6446520"/>
            <a:ext cx="731520" cy="320040"/>
          </a:xfrm>
          <a:prstGeom prst="rect">
            <a:avLst/>
          </a:prstGeom>
          <a:noFill/>
        </p:spPr>
        <p:txBody>
          <a:bodyPr wrap="square">
            <a:spAutoFit/>
          </a:bodyPr>
          <a:lstStyle/>
          <a:p>
            <a:pPr algn="l"/>
            <a:r>
              <a:rPr sz="1000" b="0" i="0">
                <a:solidFill>
                  <a:srgbClr val="4C5860"/>
                </a:solidFill>
                <a:latin typeface="Calibri"/>
              </a:rPr>
              <a:t>4</a:t>
            </a:r>
          </a:p>
        </p:txBody>
      </p:sp>
      <p:sp>
        <p:nvSpPr>
          <p:cNvPr id="7" name="TextBox 6"/>
          <p:cNvSpPr txBox="1"/>
          <p:nvPr/>
        </p:nvSpPr>
        <p:spPr>
          <a:xfrm>
            <a:off x="548640" y="6446520"/>
            <a:ext cx="5486400" cy="320040"/>
          </a:xfrm>
          <a:prstGeom prst="rect">
            <a:avLst/>
          </a:prstGeom>
          <a:noFill/>
        </p:spPr>
        <p:txBody>
          <a:bodyPr wrap="square">
            <a:spAutoFit/>
          </a:bodyPr>
          <a:lstStyle/>
          <a:p>
            <a:pPr algn="l"/>
            <a:r>
              <a:rPr sz="900" b="0" i="1">
                <a:solidFill>
                  <a:srgbClr val="4C5860"/>
                </a:solidFill>
                <a:latin typeface="Calibri"/>
              </a:rPr>
              <a:t>Smart-Air TinyML — Thử nghiệm tổ hợp Ensemble + Binary + Beijing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27760" y="448166"/>
            <a:ext cx="6682245" cy="292388"/>
          </a:xfrm>
          <a:prstGeom prst="rect">
            <a:avLst/>
          </a:prstGeom>
          <a:noFill/>
        </p:spPr>
        <p:txBody>
          <a:bodyPr wrap="square">
            <a:spAutoFit/>
          </a:bodyPr>
          <a:lstStyle/>
          <a:p>
            <a:pPr algn="l"/>
            <a:r>
              <a:rPr sz="1300" b="1" i="0" dirty="0">
                <a:solidFill>
                  <a:srgbClr val="14788A"/>
                </a:solidFill>
                <a:latin typeface="Calibri"/>
              </a:rPr>
              <a:t>03 · THỬ NGHIỆM TỔ HỢP</a:t>
            </a:r>
          </a:p>
        </p:txBody>
      </p:sp>
      <p:sp>
        <p:nvSpPr>
          <p:cNvPr id="3" name="TextBox 2"/>
          <p:cNvSpPr txBox="1"/>
          <p:nvPr/>
        </p:nvSpPr>
        <p:spPr>
          <a:xfrm>
            <a:off x="1306286" y="685800"/>
            <a:ext cx="9757954" cy="477054"/>
          </a:xfrm>
          <a:prstGeom prst="rect">
            <a:avLst/>
          </a:prstGeom>
          <a:noFill/>
        </p:spPr>
        <p:txBody>
          <a:bodyPr wrap="square">
            <a:spAutoFit/>
          </a:bodyPr>
          <a:lstStyle/>
          <a:p>
            <a:pPr algn="l"/>
            <a:r>
              <a:rPr sz="2500" b="1" i="0" dirty="0">
                <a:solidFill>
                  <a:srgbClr val="10161A"/>
                </a:solidFill>
                <a:latin typeface="Calibri"/>
              </a:rPr>
              <a:t>Ensemble + Binary + Transfer Learning </a:t>
            </a:r>
            <a:r>
              <a:rPr sz="2500" b="1" i="0" dirty="0" err="1">
                <a:solidFill>
                  <a:srgbClr val="10161A"/>
                </a:solidFill>
                <a:latin typeface="Calibri"/>
              </a:rPr>
              <a:t>từ</a:t>
            </a:r>
            <a:r>
              <a:rPr sz="2500" b="1" i="0" dirty="0">
                <a:solidFill>
                  <a:srgbClr val="10161A"/>
                </a:solidFill>
                <a:latin typeface="Calibri"/>
              </a:rPr>
              <a:t> Beijing</a:t>
            </a:r>
          </a:p>
        </p:txBody>
      </p:sp>
      <p:sp>
        <p:nvSpPr>
          <p:cNvPr id="4" name="TextBox 3"/>
          <p:cNvSpPr txBox="1"/>
          <p:nvPr/>
        </p:nvSpPr>
        <p:spPr>
          <a:xfrm>
            <a:off x="548640" y="1600200"/>
            <a:ext cx="10972800" cy="2103120"/>
          </a:xfrm>
          <a:prstGeom prst="rect">
            <a:avLst/>
          </a:prstGeom>
          <a:noFill/>
        </p:spPr>
        <p:txBody>
          <a:bodyPr wrap="square">
            <a:spAutoFit/>
          </a:bodyPr>
          <a:lstStyle/>
          <a:p>
            <a:pPr>
              <a:spcAft>
                <a:spcPts val="1000"/>
              </a:spcAft>
              <a:defRPr sz="1600">
                <a:solidFill>
                  <a:srgbClr val="10161A"/>
                </a:solidFill>
              </a:defRPr>
            </a:pPr>
            <a:r>
              <a:t>•  Beijing = nguồn dữ liệu ngoài DUY NHẤT không làm sập recall (Delhi luôn làm recall giảm mạnh).</a:t>
            </a:r>
          </a:p>
          <a:p>
            <a:pPr>
              <a:spcAft>
                <a:spcPts val="1000"/>
              </a:spcAft>
              <a:defRPr sz="1600">
                <a:solidFill>
                  <a:srgbClr val="10161A"/>
                </a:solidFill>
              </a:defRPr>
            </a:pPr>
            <a:r>
              <a:t>•  4 model BINARY (an_toàn/cảnh_báo) huấn luyện với chế độ khác nhau để tạo đa dạng cho ensemble.</a:t>
            </a:r>
          </a:p>
          <a:p>
            <a:pPr>
              <a:spcAft>
                <a:spcPts val="1000"/>
              </a:spcAft>
              <a:defRPr sz="1600">
                <a:solidFill>
                  <a:srgbClr val="10161A"/>
                </a:solidFill>
              </a:defRPr>
            </a:pPr>
            <a:r>
              <a:t>•  Chọn tổ hợp con tốt nhất (2-4 model) trên tập VAL — KHÔNG dùng TEST để tránh dò dẫm/leak.</a:t>
            </a:r>
          </a:p>
        </p:txBody>
      </p:sp>
      <p:graphicFrame>
        <p:nvGraphicFramePr>
          <p:cNvPr id="5" name="Table 4"/>
          <p:cNvGraphicFramePr>
            <a:graphicFrameLocks noGrp="1"/>
          </p:cNvGraphicFramePr>
          <p:nvPr>
            <p:extLst>
              <p:ext uri="{D42A27DB-BD31-4B8C-83A1-F6EECF244321}">
                <p14:modId xmlns:p14="http://schemas.microsoft.com/office/powerpoint/2010/main" val="1690996916"/>
              </p:ext>
            </p:extLst>
          </p:nvPr>
        </p:nvGraphicFramePr>
        <p:xfrm>
          <a:off x="746760" y="3063240"/>
          <a:ext cx="7315200" cy="219456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438912">
                <a:tc>
                  <a:txBody>
                    <a:bodyPr/>
                    <a:lstStyle/>
                    <a:p>
                      <a:pPr>
                        <a:defRPr sz="1300" b="1">
                          <a:solidFill>
                            <a:srgbClr val="FFFFFF"/>
                          </a:solidFill>
                        </a:defRPr>
                      </a:pPr>
                      <a:r>
                        <a:t>Checkpoint</a:t>
                      </a:r>
                    </a:p>
                  </a:txBody>
                  <a:tcPr>
                    <a:solidFill>
                      <a:srgbClr val="14788A"/>
                    </a:solidFill>
                  </a:tcPr>
                </a:tc>
                <a:tc>
                  <a:txBody>
                    <a:bodyPr/>
                    <a:lstStyle/>
                    <a:p>
                      <a:pPr>
                        <a:defRPr sz="1300" b="1">
                          <a:solidFill>
                            <a:srgbClr val="FFFFFF"/>
                          </a:solidFill>
                        </a:defRPr>
                      </a:pPr>
                      <a:r>
                        <a:rPr dirty="0" err="1"/>
                        <a:t>Chế</a:t>
                      </a:r>
                      <a:r>
                        <a:rPr dirty="0"/>
                        <a:t> </a:t>
                      </a:r>
                      <a:r>
                        <a:rPr dirty="0" err="1"/>
                        <a:t>độ</a:t>
                      </a:r>
                      <a:endParaRPr dirty="0"/>
                    </a:p>
                  </a:txBody>
                  <a:tcPr>
                    <a:solidFill>
                      <a:srgbClr val="14788A"/>
                    </a:solidFill>
                  </a:tcPr>
                </a:tc>
                <a:extLst>
                  <a:ext uri="{0D108BD9-81ED-4DB2-BD59-A6C34878D82A}">
                    <a16:rowId xmlns:a16="http://schemas.microsoft.com/office/drawing/2014/main" val="10000"/>
                  </a:ext>
                </a:extLst>
              </a:tr>
              <a:tr h="438912">
                <a:tc>
                  <a:txBody>
                    <a:bodyPr/>
                    <a:lstStyle/>
                    <a:p>
                      <a:pPr>
                        <a:defRPr sz="1200">
                          <a:latin typeface="Consolas"/>
                        </a:defRPr>
                      </a:pPr>
                      <a:r>
                        <a:t>outputs_binary</a:t>
                      </a:r>
                    </a:p>
                  </a:txBody>
                  <a:tcPr/>
                </a:tc>
                <a:tc>
                  <a:txBody>
                    <a:bodyPr/>
                    <a:lstStyle/>
                    <a:p>
                      <a:pPr>
                        <a:defRPr sz="1200"/>
                      </a:pPr>
                      <a:r>
                        <a:t>HCMC thuần</a:t>
                      </a:r>
                    </a:p>
                  </a:txBody>
                  <a:tcPr/>
                </a:tc>
                <a:extLst>
                  <a:ext uri="{0D108BD9-81ED-4DB2-BD59-A6C34878D82A}">
                    <a16:rowId xmlns:a16="http://schemas.microsoft.com/office/drawing/2014/main" val="10001"/>
                  </a:ext>
                </a:extLst>
              </a:tr>
              <a:tr h="438912">
                <a:tc>
                  <a:txBody>
                    <a:bodyPr/>
                    <a:lstStyle/>
                    <a:p>
                      <a:pPr>
                        <a:defRPr sz="1200">
                          <a:latin typeface="Consolas"/>
                        </a:defRPr>
                      </a:pPr>
                      <a:r>
                        <a:rPr dirty="0"/>
                        <a:t>outputs_binary_seed7</a:t>
                      </a:r>
                    </a:p>
                  </a:txBody>
                  <a:tcPr/>
                </a:tc>
                <a:tc>
                  <a:txBody>
                    <a:bodyPr/>
                    <a:lstStyle/>
                    <a:p>
                      <a:pPr>
                        <a:defRPr sz="1200"/>
                      </a:pPr>
                      <a:r>
                        <a:t>HCMC thuần, seed khác</a:t>
                      </a:r>
                    </a:p>
                  </a:txBody>
                  <a:tcPr/>
                </a:tc>
                <a:extLst>
                  <a:ext uri="{0D108BD9-81ED-4DB2-BD59-A6C34878D82A}">
                    <a16:rowId xmlns:a16="http://schemas.microsoft.com/office/drawing/2014/main" val="10002"/>
                  </a:ext>
                </a:extLst>
              </a:tr>
              <a:tr h="438912">
                <a:tc>
                  <a:txBody>
                    <a:bodyPr/>
                    <a:lstStyle/>
                    <a:p>
                      <a:pPr>
                        <a:defRPr sz="1200">
                          <a:latin typeface="Consolas"/>
                        </a:defRPr>
                      </a:pPr>
                      <a:r>
                        <a:t>outputs_binary_beijing_freeze</a:t>
                      </a:r>
                    </a:p>
                  </a:txBody>
                  <a:tcPr/>
                </a:tc>
                <a:tc>
                  <a:txBody>
                    <a:bodyPr/>
                    <a:lstStyle/>
                    <a:p>
                      <a:pPr>
                        <a:defRPr sz="1200"/>
                      </a:pPr>
                      <a:r>
                        <a:t>Backbone Beijing, đóng băng 10 epoch</a:t>
                      </a:r>
                    </a:p>
                  </a:txBody>
                  <a:tcPr/>
                </a:tc>
                <a:extLst>
                  <a:ext uri="{0D108BD9-81ED-4DB2-BD59-A6C34878D82A}">
                    <a16:rowId xmlns:a16="http://schemas.microsoft.com/office/drawing/2014/main" val="10003"/>
                  </a:ext>
                </a:extLst>
              </a:tr>
              <a:tr h="438912">
                <a:tc>
                  <a:txBody>
                    <a:bodyPr/>
                    <a:lstStyle/>
                    <a:p>
                      <a:pPr>
                        <a:defRPr sz="1200">
                          <a:latin typeface="Consolas"/>
                        </a:defRPr>
                      </a:pPr>
                      <a:r>
                        <a:t>outputs_binary_beijing_nofreeze</a:t>
                      </a:r>
                    </a:p>
                  </a:txBody>
                  <a:tcPr/>
                </a:tc>
                <a:tc>
                  <a:txBody>
                    <a:bodyPr/>
                    <a:lstStyle/>
                    <a:p>
                      <a:pPr>
                        <a:defRPr sz="1200"/>
                      </a:pPr>
                      <a:r>
                        <a:rPr dirty="0"/>
                        <a:t>Backbone Beijing, </a:t>
                      </a:r>
                      <a:r>
                        <a:rPr dirty="0" err="1"/>
                        <a:t>không</a:t>
                      </a:r>
                      <a:r>
                        <a:rPr dirty="0"/>
                        <a:t> </a:t>
                      </a:r>
                      <a:r>
                        <a:rPr dirty="0" err="1"/>
                        <a:t>đóng</a:t>
                      </a:r>
                      <a:r>
                        <a:rPr dirty="0"/>
                        <a:t> </a:t>
                      </a:r>
                      <a:r>
                        <a:rPr dirty="0" err="1"/>
                        <a:t>băng</a:t>
                      </a:r>
                      <a:endParaRPr dirty="0"/>
                    </a:p>
                  </a:txBody>
                  <a:tcPr/>
                </a:tc>
                <a:extLst>
                  <a:ext uri="{0D108BD9-81ED-4DB2-BD59-A6C34878D82A}">
                    <a16:rowId xmlns:a16="http://schemas.microsoft.com/office/drawing/2014/main" val="10004"/>
                  </a:ext>
                </a:extLst>
              </a:tr>
            </a:tbl>
          </a:graphicData>
        </a:graphic>
      </p:graphicFrame>
      <p:sp>
        <p:nvSpPr>
          <p:cNvPr id="6" name="TextBox 5"/>
          <p:cNvSpPr txBox="1"/>
          <p:nvPr/>
        </p:nvSpPr>
        <p:spPr>
          <a:xfrm>
            <a:off x="8260080" y="2971800"/>
            <a:ext cx="3291840" cy="2103120"/>
          </a:xfrm>
          <a:prstGeom prst="rect">
            <a:avLst/>
          </a:prstGeom>
          <a:noFill/>
        </p:spPr>
        <p:txBody>
          <a:bodyPr wrap="square">
            <a:spAutoFit/>
          </a:bodyPr>
          <a:lstStyle/>
          <a:p>
            <a:pPr algn="l"/>
            <a:r>
              <a:rPr sz="1500" b="1" i="0">
                <a:solidFill>
                  <a:srgbClr val="0CA30C"/>
                </a:solidFill>
                <a:latin typeface="Calibri"/>
              </a:rPr>
              <a:t>Tổ hợp thắng trên VAL:
chỉ 2 model Beijing
(freeze + nofreeze),
KHÔNG gồm model HCMC thuần.</a:t>
            </a:r>
          </a:p>
        </p:txBody>
      </p:sp>
      <p:sp>
        <p:nvSpPr>
          <p:cNvPr id="7" name="TextBox 6"/>
          <p:cNvSpPr txBox="1"/>
          <p:nvPr/>
        </p:nvSpPr>
        <p:spPr>
          <a:xfrm>
            <a:off x="11247120" y="6446520"/>
            <a:ext cx="731520" cy="320040"/>
          </a:xfrm>
          <a:prstGeom prst="rect">
            <a:avLst/>
          </a:prstGeom>
          <a:noFill/>
        </p:spPr>
        <p:txBody>
          <a:bodyPr wrap="square">
            <a:spAutoFit/>
          </a:bodyPr>
          <a:lstStyle/>
          <a:p>
            <a:pPr algn="l"/>
            <a:r>
              <a:rPr sz="1000" b="0" i="0">
                <a:solidFill>
                  <a:srgbClr val="4C5860"/>
                </a:solidFill>
                <a:latin typeface="Calibri"/>
              </a:rPr>
              <a:t>5</a:t>
            </a:r>
          </a:p>
        </p:txBody>
      </p:sp>
      <p:sp>
        <p:nvSpPr>
          <p:cNvPr id="8" name="TextBox 7"/>
          <p:cNvSpPr txBox="1"/>
          <p:nvPr/>
        </p:nvSpPr>
        <p:spPr>
          <a:xfrm>
            <a:off x="548640" y="6446520"/>
            <a:ext cx="5486400" cy="320040"/>
          </a:xfrm>
          <a:prstGeom prst="rect">
            <a:avLst/>
          </a:prstGeom>
          <a:noFill/>
        </p:spPr>
        <p:txBody>
          <a:bodyPr wrap="square">
            <a:spAutoFit/>
          </a:bodyPr>
          <a:lstStyle/>
          <a:p>
            <a:pPr algn="l"/>
            <a:r>
              <a:rPr sz="900" b="0" i="1">
                <a:solidFill>
                  <a:srgbClr val="4C5860"/>
                </a:solidFill>
                <a:latin typeface="Calibri"/>
              </a:rPr>
              <a:t>Smart-Air TinyML — Thử nghiệm tổ hợp Ensemble + Binary + Beijing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76596" y="320040"/>
            <a:ext cx="6587243" cy="292388"/>
          </a:xfrm>
          <a:prstGeom prst="rect">
            <a:avLst/>
          </a:prstGeom>
          <a:noFill/>
        </p:spPr>
        <p:txBody>
          <a:bodyPr wrap="square">
            <a:spAutoFit/>
          </a:bodyPr>
          <a:lstStyle/>
          <a:p>
            <a:pPr algn="l"/>
            <a:r>
              <a:rPr sz="1300" b="1" i="0" dirty="0">
                <a:solidFill>
                  <a:srgbClr val="14788A"/>
                </a:solidFill>
                <a:latin typeface="Calibri"/>
              </a:rPr>
              <a:t>03 · CHI TIẾT</a:t>
            </a:r>
          </a:p>
        </p:txBody>
      </p:sp>
      <p:sp>
        <p:nvSpPr>
          <p:cNvPr id="3" name="TextBox 2"/>
          <p:cNvSpPr txBox="1"/>
          <p:nvPr/>
        </p:nvSpPr>
        <p:spPr>
          <a:xfrm>
            <a:off x="1276596" y="685800"/>
            <a:ext cx="9787644" cy="477054"/>
          </a:xfrm>
          <a:prstGeom prst="rect">
            <a:avLst/>
          </a:prstGeom>
          <a:noFill/>
        </p:spPr>
        <p:txBody>
          <a:bodyPr wrap="square">
            <a:spAutoFit/>
          </a:bodyPr>
          <a:lstStyle/>
          <a:p>
            <a:pPr algn="l"/>
            <a:r>
              <a:rPr sz="2500" b="1" i="0" dirty="0">
                <a:solidFill>
                  <a:srgbClr val="10161A"/>
                </a:solidFill>
                <a:latin typeface="Calibri"/>
              </a:rPr>
              <a:t>Soft-vote </a:t>
            </a:r>
            <a:r>
              <a:rPr sz="2500" b="1" i="0" dirty="0" err="1">
                <a:solidFill>
                  <a:srgbClr val="10161A"/>
                </a:solidFill>
                <a:latin typeface="Calibri"/>
              </a:rPr>
              <a:t>giúp</a:t>
            </a:r>
            <a:r>
              <a:rPr sz="2500" b="1" i="0" dirty="0">
                <a:solidFill>
                  <a:srgbClr val="10161A"/>
                </a:solidFill>
                <a:latin typeface="Calibri"/>
              </a:rPr>
              <a:t> </a:t>
            </a:r>
            <a:r>
              <a:rPr sz="2500" b="1" i="0" dirty="0" err="1">
                <a:solidFill>
                  <a:srgbClr val="10161A"/>
                </a:solidFill>
                <a:latin typeface="Calibri"/>
              </a:rPr>
              <a:t>gì</a:t>
            </a:r>
            <a:r>
              <a:rPr sz="2500" b="1" i="0" dirty="0">
                <a:solidFill>
                  <a:srgbClr val="10161A"/>
                </a:solidFill>
                <a:latin typeface="Calibri"/>
              </a:rPr>
              <a:t> so </a:t>
            </a:r>
            <a:r>
              <a:rPr sz="2500" b="1" i="0" dirty="0" err="1">
                <a:solidFill>
                  <a:srgbClr val="10161A"/>
                </a:solidFill>
                <a:latin typeface="Calibri"/>
              </a:rPr>
              <a:t>với</a:t>
            </a:r>
            <a:r>
              <a:rPr sz="2500" b="1" i="0" dirty="0">
                <a:solidFill>
                  <a:srgbClr val="10161A"/>
                </a:solidFill>
                <a:latin typeface="Calibri"/>
              </a:rPr>
              <a:t> </a:t>
            </a:r>
            <a:r>
              <a:rPr sz="2500" b="1" i="0" dirty="0" err="1">
                <a:solidFill>
                  <a:srgbClr val="10161A"/>
                </a:solidFill>
                <a:latin typeface="Calibri"/>
              </a:rPr>
              <a:t>từng</a:t>
            </a:r>
            <a:r>
              <a:rPr sz="2500" b="1" i="0" dirty="0">
                <a:solidFill>
                  <a:srgbClr val="10161A"/>
                </a:solidFill>
                <a:latin typeface="Calibri"/>
              </a:rPr>
              <a:t> model </a:t>
            </a:r>
            <a:r>
              <a:rPr sz="2500" b="1" i="0" dirty="0" err="1">
                <a:solidFill>
                  <a:srgbClr val="10161A"/>
                </a:solidFill>
                <a:latin typeface="Calibri"/>
              </a:rPr>
              <a:t>riêng</a:t>
            </a:r>
            <a:r>
              <a:rPr sz="2500" b="1" i="0" dirty="0">
                <a:solidFill>
                  <a:srgbClr val="10161A"/>
                </a:solidFill>
                <a:latin typeface="Calibri"/>
              </a:rPr>
              <a:t> </a:t>
            </a:r>
            <a:r>
              <a:rPr sz="2500" b="1" i="0" dirty="0" err="1">
                <a:solidFill>
                  <a:srgbClr val="10161A"/>
                </a:solidFill>
                <a:latin typeface="Calibri"/>
              </a:rPr>
              <a:t>lẻ</a:t>
            </a:r>
            <a:r>
              <a:rPr sz="2500" b="1" i="0" dirty="0">
                <a:solidFill>
                  <a:srgbClr val="10161A"/>
                </a:solidFill>
                <a:latin typeface="Calibri"/>
              </a:rPr>
              <a:t>?</a:t>
            </a:r>
          </a:p>
        </p:txBody>
      </p:sp>
      <p:pic>
        <p:nvPicPr>
          <p:cNvPr id="4" name="Picture 3" descr="chart_members_vs_ensemble.png"/>
          <p:cNvPicPr>
            <a:picLocks noChangeAspect="1"/>
          </p:cNvPicPr>
          <p:nvPr/>
        </p:nvPicPr>
        <p:blipFill>
          <a:blip r:embed="rId2"/>
          <a:stretch>
            <a:fillRect/>
          </a:stretch>
        </p:blipFill>
        <p:spPr>
          <a:xfrm>
            <a:off x="2539835" y="1543269"/>
            <a:ext cx="7112330" cy="4543989"/>
          </a:xfrm>
          <a:prstGeom prst="rect">
            <a:avLst/>
          </a:prstGeom>
        </p:spPr>
      </p:pic>
      <p:sp>
        <p:nvSpPr>
          <p:cNvPr id="5" name="TextBox 4"/>
          <p:cNvSpPr txBox="1"/>
          <p:nvPr/>
        </p:nvSpPr>
        <p:spPr>
          <a:xfrm>
            <a:off x="11247120" y="6446520"/>
            <a:ext cx="731520" cy="320040"/>
          </a:xfrm>
          <a:prstGeom prst="rect">
            <a:avLst/>
          </a:prstGeom>
          <a:noFill/>
        </p:spPr>
        <p:txBody>
          <a:bodyPr wrap="square">
            <a:spAutoFit/>
          </a:bodyPr>
          <a:lstStyle/>
          <a:p>
            <a:pPr algn="l"/>
            <a:r>
              <a:rPr sz="1000" b="0" i="0">
                <a:solidFill>
                  <a:srgbClr val="4C5860"/>
                </a:solidFill>
                <a:latin typeface="Calibri"/>
              </a:rPr>
              <a:t>7</a:t>
            </a:r>
          </a:p>
        </p:txBody>
      </p:sp>
      <p:sp>
        <p:nvSpPr>
          <p:cNvPr id="6" name="TextBox 5"/>
          <p:cNvSpPr txBox="1"/>
          <p:nvPr/>
        </p:nvSpPr>
        <p:spPr>
          <a:xfrm>
            <a:off x="548640" y="6446520"/>
            <a:ext cx="5486400" cy="320040"/>
          </a:xfrm>
          <a:prstGeom prst="rect">
            <a:avLst/>
          </a:prstGeom>
          <a:noFill/>
        </p:spPr>
        <p:txBody>
          <a:bodyPr wrap="square">
            <a:spAutoFit/>
          </a:bodyPr>
          <a:lstStyle/>
          <a:p>
            <a:pPr algn="l"/>
            <a:r>
              <a:rPr sz="900" b="0" i="1">
                <a:solidFill>
                  <a:srgbClr val="4C5860"/>
                </a:solidFill>
                <a:latin typeface="Calibri"/>
              </a:rPr>
              <a:t>Smart-Air TinyML — Thử nghiệm tổ hợp Ensemble + Binary + Beijing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28156" y="320040"/>
            <a:ext cx="6735684" cy="292388"/>
          </a:xfrm>
          <a:prstGeom prst="rect">
            <a:avLst/>
          </a:prstGeom>
          <a:noFill/>
        </p:spPr>
        <p:txBody>
          <a:bodyPr wrap="square">
            <a:spAutoFit/>
          </a:bodyPr>
          <a:lstStyle/>
          <a:p>
            <a:pPr algn="l"/>
            <a:r>
              <a:rPr sz="1300" b="1" i="0" dirty="0">
                <a:solidFill>
                  <a:srgbClr val="14788A"/>
                </a:solidFill>
                <a:latin typeface="Calibri"/>
              </a:rPr>
              <a:t>04 · GIỚI HẠN &amp; KHUYẾN NGHỊ</a:t>
            </a:r>
          </a:p>
        </p:txBody>
      </p:sp>
      <p:sp>
        <p:nvSpPr>
          <p:cNvPr id="3" name="TextBox 2"/>
          <p:cNvSpPr txBox="1"/>
          <p:nvPr/>
        </p:nvSpPr>
        <p:spPr>
          <a:xfrm>
            <a:off x="884712" y="1160813"/>
            <a:ext cx="10179528" cy="477054"/>
          </a:xfrm>
          <a:prstGeom prst="rect">
            <a:avLst/>
          </a:prstGeom>
          <a:noFill/>
        </p:spPr>
        <p:txBody>
          <a:bodyPr wrap="square">
            <a:spAutoFit/>
          </a:bodyPr>
          <a:lstStyle/>
          <a:p>
            <a:pPr algn="l"/>
            <a:r>
              <a:rPr sz="2500" b="1" i="0" dirty="0" err="1">
                <a:solidFill>
                  <a:srgbClr val="10161A"/>
                </a:solidFill>
                <a:latin typeface="Calibri"/>
              </a:rPr>
              <a:t>Vẫn</a:t>
            </a:r>
            <a:r>
              <a:rPr sz="2500" b="1" i="0" dirty="0">
                <a:solidFill>
                  <a:srgbClr val="10161A"/>
                </a:solidFill>
                <a:latin typeface="Calibri"/>
              </a:rPr>
              <a:t> </a:t>
            </a:r>
            <a:r>
              <a:rPr sz="2500" b="1" i="0" dirty="0" err="1">
                <a:solidFill>
                  <a:srgbClr val="10161A"/>
                </a:solidFill>
                <a:latin typeface="Calibri"/>
              </a:rPr>
              <a:t>còn</a:t>
            </a:r>
            <a:r>
              <a:rPr sz="2500" b="1" i="0" dirty="0">
                <a:solidFill>
                  <a:srgbClr val="10161A"/>
                </a:solidFill>
                <a:latin typeface="Calibri"/>
              </a:rPr>
              <a:t> 2.7 </a:t>
            </a:r>
            <a:r>
              <a:rPr sz="2500" b="1" i="0" dirty="0" err="1">
                <a:solidFill>
                  <a:srgbClr val="10161A"/>
                </a:solidFill>
                <a:latin typeface="Calibri"/>
              </a:rPr>
              <a:t>điểm</a:t>
            </a:r>
            <a:r>
              <a:rPr sz="2500" b="1" i="0" dirty="0">
                <a:solidFill>
                  <a:srgbClr val="10161A"/>
                </a:solidFill>
                <a:latin typeface="Calibri"/>
              </a:rPr>
              <a:t> % </a:t>
            </a:r>
            <a:r>
              <a:rPr sz="2500" b="1" i="0" dirty="0" err="1">
                <a:solidFill>
                  <a:srgbClr val="10161A"/>
                </a:solidFill>
                <a:latin typeface="Calibri"/>
              </a:rPr>
              <a:t>và</a:t>
            </a:r>
            <a:r>
              <a:rPr sz="2500" b="1" i="0" dirty="0">
                <a:solidFill>
                  <a:srgbClr val="10161A"/>
                </a:solidFill>
                <a:latin typeface="Calibri"/>
              </a:rPr>
              <a:t> </a:t>
            </a:r>
            <a:r>
              <a:rPr sz="2500" b="1" i="0" dirty="0" err="1">
                <a:solidFill>
                  <a:srgbClr val="10161A"/>
                </a:solidFill>
                <a:latin typeface="Calibri"/>
              </a:rPr>
              <a:t>vài</a:t>
            </a:r>
            <a:r>
              <a:rPr sz="2500" b="1" i="0" dirty="0">
                <a:solidFill>
                  <a:srgbClr val="10161A"/>
                </a:solidFill>
                <a:latin typeface="Calibri"/>
              </a:rPr>
              <a:t> </a:t>
            </a:r>
            <a:r>
              <a:rPr sz="2500" b="1" i="0" dirty="0" err="1">
                <a:solidFill>
                  <a:srgbClr val="10161A"/>
                </a:solidFill>
                <a:latin typeface="Calibri"/>
              </a:rPr>
              <a:t>lưu</a:t>
            </a:r>
            <a:r>
              <a:rPr sz="2500" b="1" i="0" dirty="0">
                <a:solidFill>
                  <a:srgbClr val="10161A"/>
                </a:solidFill>
                <a:latin typeface="Calibri"/>
              </a:rPr>
              <a:t> ý </a:t>
            </a:r>
            <a:r>
              <a:rPr sz="2500" b="1" i="0" dirty="0" err="1">
                <a:solidFill>
                  <a:srgbClr val="10161A"/>
                </a:solidFill>
                <a:latin typeface="Calibri"/>
              </a:rPr>
              <a:t>quan</a:t>
            </a:r>
            <a:r>
              <a:rPr sz="2500" b="1" i="0" dirty="0">
                <a:solidFill>
                  <a:srgbClr val="10161A"/>
                </a:solidFill>
                <a:latin typeface="Calibri"/>
              </a:rPr>
              <a:t> </a:t>
            </a:r>
            <a:r>
              <a:rPr sz="2500" b="1" i="0" dirty="0" err="1">
                <a:solidFill>
                  <a:srgbClr val="10161A"/>
                </a:solidFill>
                <a:latin typeface="Calibri"/>
              </a:rPr>
              <a:t>trọng</a:t>
            </a:r>
            <a:endParaRPr sz="2500" b="1" i="0" dirty="0">
              <a:solidFill>
                <a:srgbClr val="10161A"/>
              </a:solidFill>
              <a:latin typeface="Calibri"/>
            </a:endParaRPr>
          </a:p>
        </p:txBody>
      </p:sp>
      <p:sp>
        <p:nvSpPr>
          <p:cNvPr id="4" name="TextBox 3"/>
          <p:cNvSpPr txBox="1"/>
          <p:nvPr/>
        </p:nvSpPr>
        <p:spPr>
          <a:xfrm>
            <a:off x="548640" y="1828800"/>
            <a:ext cx="10972800" cy="2743200"/>
          </a:xfrm>
          <a:prstGeom prst="rect">
            <a:avLst/>
          </a:prstGeom>
          <a:noFill/>
        </p:spPr>
        <p:txBody>
          <a:bodyPr wrap="square">
            <a:spAutoFit/>
          </a:bodyPr>
          <a:lstStyle/>
          <a:p>
            <a:pPr>
              <a:spcAft>
                <a:spcPts val="1200"/>
              </a:spcAft>
              <a:defRPr sz="1600">
                <a:solidFill>
                  <a:srgbClr val="10161A"/>
                </a:solidFill>
              </a:defRPr>
            </a:pPr>
            <a:r>
              <a:rPr dirty="0"/>
              <a:t>•  Khi </a:t>
            </a:r>
            <a:r>
              <a:rPr dirty="0" err="1"/>
              <a:t>ép</a:t>
            </a:r>
            <a:r>
              <a:rPr dirty="0"/>
              <a:t> </a:t>
            </a:r>
            <a:r>
              <a:rPr dirty="0" err="1"/>
              <a:t>ngưỡng</a:t>
            </a:r>
            <a:r>
              <a:rPr dirty="0"/>
              <a:t> </a:t>
            </a:r>
            <a:r>
              <a:rPr dirty="0" err="1"/>
              <a:t>đúng</a:t>
            </a:r>
            <a:r>
              <a:rPr dirty="0"/>
              <a:t> 90%, False Alarm Rate </a:t>
            </a:r>
            <a:r>
              <a:rPr dirty="0" err="1"/>
              <a:t>của</a:t>
            </a:r>
            <a:r>
              <a:rPr dirty="0"/>
              <a:t> </a:t>
            </a:r>
            <a:r>
              <a:rPr dirty="0" err="1"/>
              <a:t>tổ</a:t>
            </a:r>
            <a:r>
              <a:rPr dirty="0"/>
              <a:t> </a:t>
            </a:r>
            <a:r>
              <a:rPr dirty="0" err="1"/>
              <a:t>hợp</a:t>
            </a:r>
            <a:r>
              <a:rPr dirty="0"/>
              <a:t> </a:t>
            </a:r>
            <a:r>
              <a:rPr dirty="0" err="1"/>
              <a:t>nhảy</a:t>
            </a:r>
            <a:r>
              <a:rPr dirty="0"/>
              <a:t> </a:t>
            </a:r>
            <a:r>
              <a:rPr dirty="0" err="1"/>
              <a:t>lên</a:t>
            </a:r>
            <a:r>
              <a:rPr dirty="0"/>
              <a:t> 79.3% (</a:t>
            </a:r>
            <a:r>
              <a:rPr dirty="0" err="1"/>
              <a:t>tệ</a:t>
            </a:r>
            <a:r>
              <a:rPr dirty="0"/>
              <a:t> </a:t>
            </a:r>
            <a:r>
              <a:rPr dirty="0" err="1"/>
              <a:t>hơn</a:t>
            </a:r>
            <a:r>
              <a:rPr dirty="0"/>
              <a:t> model </a:t>
            </a:r>
            <a:r>
              <a:rPr dirty="0" err="1"/>
              <a:t>nofreeze</a:t>
            </a:r>
            <a:r>
              <a:rPr dirty="0"/>
              <a:t> </a:t>
            </a:r>
            <a:r>
              <a:rPr dirty="0" err="1"/>
              <a:t>đơn</a:t>
            </a:r>
            <a:r>
              <a:rPr dirty="0"/>
              <a:t> </a:t>
            </a:r>
            <a:r>
              <a:rPr dirty="0" err="1"/>
              <a:t>lẻ</a:t>
            </a:r>
            <a:r>
              <a:rPr dirty="0"/>
              <a:t> 53.5%) — model "freeze" </a:t>
            </a:r>
            <a:r>
              <a:rPr dirty="0" err="1"/>
              <a:t>tách</a:t>
            </a:r>
            <a:r>
              <a:rPr dirty="0"/>
              <a:t> </a:t>
            </a:r>
            <a:r>
              <a:rPr dirty="0" err="1"/>
              <a:t>xác</a:t>
            </a:r>
            <a:r>
              <a:rPr dirty="0"/>
              <a:t> </a:t>
            </a:r>
            <a:r>
              <a:rPr dirty="0" err="1"/>
              <a:t>suất</a:t>
            </a:r>
            <a:r>
              <a:rPr dirty="0"/>
              <a:t> </a:t>
            </a:r>
            <a:r>
              <a:rPr dirty="0" err="1"/>
              <a:t>kém</a:t>
            </a:r>
            <a:r>
              <a:rPr dirty="0"/>
              <a:t> </a:t>
            </a:r>
            <a:r>
              <a:rPr dirty="0" err="1"/>
              <a:t>khi</a:t>
            </a:r>
            <a:r>
              <a:rPr dirty="0"/>
              <a:t> </a:t>
            </a:r>
            <a:r>
              <a:rPr dirty="0" err="1"/>
              <a:t>bị</a:t>
            </a:r>
            <a:r>
              <a:rPr dirty="0"/>
              <a:t> </a:t>
            </a:r>
            <a:r>
              <a:rPr dirty="0" err="1"/>
              <a:t>ép</a:t>
            </a:r>
            <a:r>
              <a:rPr dirty="0"/>
              <a:t> </a:t>
            </a:r>
            <a:r>
              <a:rPr dirty="0" err="1"/>
              <a:t>cực</a:t>
            </a:r>
            <a:r>
              <a:rPr dirty="0"/>
              <a:t> </a:t>
            </a:r>
            <a:r>
              <a:rPr dirty="0" err="1"/>
              <a:t>đoan</a:t>
            </a:r>
            <a:r>
              <a:rPr dirty="0"/>
              <a:t>.</a:t>
            </a:r>
          </a:p>
          <a:p>
            <a:pPr>
              <a:spcAft>
                <a:spcPts val="1200"/>
              </a:spcAft>
              <a:defRPr sz="1600">
                <a:solidFill>
                  <a:srgbClr val="10161A"/>
                </a:solidFill>
              </a:defRPr>
            </a:pPr>
            <a:r>
              <a:rPr dirty="0"/>
              <a:t>•  </a:t>
            </a:r>
            <a:r>
              <a:rPr dirty="0" err="1"/>
              <a:t>Kết</a:t>
            </a:r>
            <a:r>
              <a:rPr dirty="0"/>
              <a:t> </a:t>
            </a:r>
            <a:r>
              <a:rPr dirty="0" err="1"/>
              <a:t>quả</a:t>
            </a:r>
            <a:r>
              <a:rPr dirty="0"/>
              <a:t> </a:t>
            </a:r>
            <a:r>
              <a:rPr dirty="0" err="1"/>
              <a:t>dựa</a:t>
            </a:r>
            <a:r>
              <a:rPr dirty="0"/>
              <a:t> </a:t>
            </a:r>
            <a:r>
              <a:rPr dirty="0" err="1"/>
              <a:t>trên</a:t>
            </a:r>
            <a:r>
              <a:rPr dirty="0"/>
              <a:t> 8/63 </a:t>
            </a:r>
            <a:r>
              <a:rPr dirty="0" err="1"/>
              <a:t>mẫu</a:t>
            </a:r>
            <a:r>
              <a:rPr dirty="0"/>
              <a:t> </a:t>
            </a:r>
            <a:r>
              <a:rPr dirty="0" err="1"/>
              <a:t>dương</a:t>
            </a:r>
            <a:r>
              <a:rPr dirty="0"/>
              <a:t> — </a:t>
            </a:r>
            <a:r>
              <a:rPr dirty="0" err="1"/>
              <a:t>cỡ</a:t>
            </a:r>
            <a:r>
              <a:rPr dirty="0"/>
              <a:t> </a:t>
            </a:r>
            <a:r>
              <a:rPr dirty="0" err="1"/>
              <a:t>mẫu</a:t>
            </a:r>
            <a:r>
              <a:rPr dirty="0"/>
              <a:t> </a:t>
            </a:r>
            <a:r>
              <a:rPr dirty="0" err="1"/>
              <a:t>nhỏ</a:t>
            </a:r>
            <a:r>
              <a:rPr dirty="0"/>
              <a:t>, </a:t>
            </a:r>
            <a:r>
              <a:rPr dirty="0" err="1"/>
              <a:t>cần</a:t>
            </a:r>
            <a:r>
              <a:rPr dirty="0"/>
              <a:t> </a:t>
            </a:r>
            <a:r>
              <a:rPr dirty="0" err="1"/>
              <a:t>xác</a:t>
            </a:r>
            <a:r>
              <a:rPr dirty="0"/>
              <a:t> </a:t>
            </a:r>
            <a:r>
              <a:rPr dirty="0" err="1"/>
              <a:t>nhận</a:t>
            </a:r>
            <a:r>
              <a:rPr dirty="0"/>
              <a:t> </a:t>
            </a:r>
            <a:r>
              <a:rPr dirty="0" err="1"/>
              <a:t>thêm</a:t>
            </a:r>
            <a:r>
              <a:rPr dirty="0"/>
              <a:t> </a:t>
            </a:r>
            <a:r>
              <a:rPr dirty="0" err="1"/>
              <a:t>bằng</a:t>
            </a:r>
            <a:r>
              <a:rPr dirty="0"/>
              <a:t> k-fold </a:t>
            </a:r>
            <a:r>
              <a:rPr dirty="0" err="1"/>
              <a:t>hoặc</a:t>
            </a:r>
            <a:r>
              <a:rPr dirty="0"/>
              <a:t> </a:t>
            </a:r>
            <a:r>
              <a:rPr dirty="0" err="1"/>
              <a:t>tập</a:t>
            </a:r>
            <a:r>
              <a:rPr dirty="0"/>
              <a:t> test </a:t>
            </a:r>
            <a:r>
              <a:rPr dirty="0" err="1"/>
              <a:t>lớn</a:t>
            </a:r>
            <a:r>
              <a:rPr dirty="0"/>
              <a:t> </a:t>
            </a:r>
            <a:r>
              <a:rPr dirty="0" err="1"/>
              <a:t>hơn</a:t>
            </a:r>
            <a:r>
              <a:rPr dirty="0"/>
              <a:t> </a:t>
            </a:r>
            <a:r>
              <a:rPr dirty="0" err="1"/>
              <a:t>trước</a:t>
            </a:r>
            <a:r>
              <a:rPr dirty="0"/>
              <a:t> </a:t>
            </a:r>
            <a:r>
              <a:rPr dirty="0" err="1"/>
              <a:t>khi</a:t>
            </a:r>
            <a:r>
              <a:rPr dirty="0"/>
              <a:t> </a:t>
            </a:r>
            <a:r>
              <a:rPr dirty="0" err="1"/>
              <a:t>thay</a:t>
            </a:r>
            <a:r>
              <a:rPr dirty="0"/>
              <a:t> </a:t>
            </a:r>
            <a:r>
              <a:rPr dirty="0" err="1"/>
              <a:t>thế</a:t>
            </a:r>
            <a:r>
              <a:rPr dirty="0"/>
              <a:t> </a:t>
            </a:r>
            <a:r>
              <a:rPr dirty="0" err="1"/>
              <a:t>chính</a:t>
            </a:r>
            <a:r>
              <a:rPr dirty="0"/>
              <a:t> </a:t>
            </a:r>
            <a:r>
              <a:rPr dirty="0" err="1"/>
              <a:t>thức</a:t>
            </a:r>
            <a:r>
              <a:rPr dirty="0"/>
              <a:t>.</a:t>
            </a:r>
          </a:p>
          <a:p>
            <a:pPr>
              <a:spcAft>
                <a:spcPts val="1200"/>
              </a:spcAft>
              <a:defRPr sz="1600">
                <a:solidFill>
                  <a:srgbClr val="10161A"/>
                </a:solidFill>
              </a:defRPr>
            </a:pPr>
            <a:r>
              <a:rPr dirty="0"/>
              <a:t>•  </a:t>
            </a:r>
            <a:r>
              <a:rPr dirty="0" err="1"/>
              <a:t>Trần</a:t>
            </a:r>
            <a:r>
              <a:rPr dirty="0"/>
              <a:t> </a:t>
            </a:r>
            <a:r>
              <a:rPr dirty="0" err="1"/>
              <a:t>hiệu</a:t>
            </a:r>
            <a:r>
              <a:rPr dirty="0"/>
              <a:t> </a:t>
            </a:r>
            <a:r>
              <a:rPr dirty="0" err="1"/>
              <a:t>năng</a:t>
            </a:r>
            <a:r>
              <a:rPr dirty="0"/>
              <a:t> </a:t>
            </a:r>
            <a:r>
              <a:rPr dirty="0" err="1"/>
              <a:t>cuối</a:t>
            </a:r>
            <a:r>
              <a:rPr dirty="0"/>
              <a:t> </a:t>
            </a:r>
            <a:r>
              <a:rPr dirty="0" err="1"/>
              <a:t>cùng</a:t>
            </a:r>
            <a:r>
              <a:rPr dirty="0"/>
              <a:t> </a:t>
            </a:r>
            <a:r>
              <a:rPr dirty="0" err="1"/>
              <a:t>vẫn</a:t>
            </a:r>
            <a:r>
              <a:rPr dirty="0"/>
              <a:t> do </a:t>
            </a:r>
            <a:r>
              <a:rPr dirty="0" err="1"/>
              <a:t>thiếu</a:t>
            </a:r>
            <a:r>
              <a:rPr dirty="0"/>
              <a:t> </a:t>
            </a:r>
            <a:r>
              <a:rPr dirty="0" err="1"/>
              <a:t>dữ</a:t>
            </a:r>
            <a:r>
              <a:rPr dirty="0"/>
              <a:t> </a:t>
            </a:r>
            <a:r>
              <a:rPr dirty="0" err="1"/>
              <a:t>liệu</a:t>
            </a:r>
            <a:r>
              <a:rPr dirty="0"/>
              <a:t> HCMC </a:t>
            </a:r>
            <a:r>
              <a:rPr dirty="0" err="1"/>
              <a:t>thật</a:t>
            </a:r>
            <a:r>
              <a:rPr dirty="0"/>
              <a:t> </a:t>
            </a:r>
            <a:r>
              <a:rPr dirty="0" err="1"/>
              <a:t>cho</a:t>
            </a:r>
            <a:r>
              <a:rPr dirty="0"/>
              <a:t> </a:t>
            </a:r>
            <a:r>
              <a:rPr dirty="0" err="1"/>
              <a:t>lớp</a:t>
            </a:r>
            <a:r>
              <a:rPr dirty="0"/>
              <a:t> </a:t>
            </a:r>
            <a:r>
              <a:rPr dirty="0" err="1"/>
              <a:t>hiếm</a:t>
            </a:r>
            <a:r>
              <a:rPr dirty="0"/>
              <a:t> (198/12/7 </a:t>
            </a:r>
            <a:r>
              <a:rPr dirty="0" err="1"/>
              <a:t>mẫu</a:t>
            </a:r>
            <a:r>
              <a:rPr dirty="0"/>
              <a:t>) — </a:t>
            </a:r>
            <a:r>
              <a:rPr dirty="0" err="1"/>
              <a:t>không</a:t>
            </a:r>
            <a:r>
              <a:rPr dirty="0"/>
              <a:t> </a:t>
            </a:r>
            <a:r>
              <a:rPr dirty="0" err="1"/>
              <a:t>kỹ</a:t>
            </a:r>
            <a:r>
              <a:rPr dirty="0"/>
              <a:t> </a:t>
            </a:r>
            <a:r>
              <a:rPr dirty="0" err="1"/>
              <a:t>thuật</a:t>
            </a:r>
            <a:r>
              <a:rPr dirty="0"/>
              <a:t> </a:t>
            </a:r>
            <a:r>
              <a:rPr dirty="0" err="1"/>
              <a:t>tổ</a:t>
            </a:r>
            <a:r>
              <a:rPr dirty="0"/>
              <a:t> </a:t>
            </a:r>
            <a:r>
              <a:rPr dirty="0" err="1"/>
              <a:t>hợp</a:t>
            </a:r>
            <a:r>
              <a:rPr dirty="0"/>
              <a:t> </a:t>
            </a:r>
            <a:r>
              <a:rPr dirty="0" err="1"/>
              <a:t>nào</a:t>
            </a:r>
            <a:r>
              <a:rPr dirty="0"/>
              <a:t> </a:t>
            </a:r>
            <a:r>
              <a:rPr dirty="0" err="1"/>
              <a:t>thay</a:t>
            </a:r>
            <a:r>
              <a:rPr dirty="0"/>
              <a:t> </a:t>
            </a:r>
            <a:r>
              <a:rPr dirty="0" err="1"/>
              <a:t>thế</a:t>
            </a:r>
            <a:r>
              <a:rPr dirty="0"/>
              <a:t> </a:t>
            </a:r>
            <a:r>
              <a:rPr dirty="0" err="1"/>
              <a:t>được</a:t>
            </a:r>
            <a:r>
              <a:rPr dirty="0"/>
              <a:t> </a:t>
            </a:r>
            <a:r>
              <a:rPr dirty="0" err="1"/>
              <a:t>dữ</a:t>
            </a:r>
            <a:r>
              <a:rPr dirty="0"/>
              <a:t> </a:t>
            </a:r>
            <a:r>
              <a:rPr dirty="0" err="1"/>
              <a:t>liệu</a:t>
            </a:r>
            <a:r>
              <a:rPr dirty="0"/>
              <a:t> </a:t>
            </a:r>
            <a:r>
              <a:rPr dirty="0" err="1"/>
              <a:t>thật</a:t>
            </a:r>
            <a:r>
              <a:rPr dirty="0"/>
              <a:t>.</a:t>
            </a:r>
          </a:p>
        </p:txBody>
      </p:sp>
      <p:sp>
        <p:nvSpPr>
          <p:cNvPr id="5" name="Rectangle 4"/>
          <p:cNvSpPr/>
          <p:nvPr/>
        </p:nvSpPr>
        <p:spPr>
          <a:xfrm>
            <a:off x="502920" y="4137660"/>
            <a:ext cx="11064240" cy="1371600"/>
          </a:xfrm>
          <a:prstGeom prst="rect">
            <a:avLst/>
          </a:prstGeom>
          <a:solidFill>
            <a:srgbClr val="E3F2F4"/>
          </a:solidFill>
          <a:ln>
            <a:solidFill>
              <a:srgbClr val="14788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E5C6B"/>
                </a:solidFill>
              </a:defRPr>
            </a:pPr>
            <a:r>
              <a:rPr dirty="0" err="1"/>
              <a:t>Khuyến</a:t>
            </a:r>
            <a:r>
              <a:rPr dirty="0"/>
              <a:t> </a:t>
            </a:r>
            <a:r>
              <a:rPr dirty="0" err="1"/>
              <a:t>nghị</a:t>
            </a:r>
            <a:r>
              <a:rPr dirty="0"/>
              <a:t>: </a:t>
            </a:r>
            <a:r>
              <a:rPr dirty="0" err="1"/>
              <a:t>cân</a:t>
            </a:r>
            <a:r>
              <a:rPr dirty="0"/>
              <a:t> </a:t>
            </a:r>
            <a:r>
              <a:rPr dirty="0" err="1"/>
              <a:t>nhắc</a:t>
            </a:r>
            <a:r>
              <a:rPr dirty="0"/>
              <a:t> </a:t>
            </a:r>
            <a:r>
              <a:rPr dirty="0" err="1"/>
              <a:t>thay</a:t>
            </a:r>
            <a:r>
              <a:rPr dirty="0"/>
              <a:t> outputs/ </a:t>
            </a:r>
            <a:r>
              <a:rPr dirty="0" err="1"/>
              <a:t>bằng</a:t>
            </a:r>
            <a:r>
              <a:rPr dirty="0"/>
              <a:t> </a:t>
            </a:r>
            <a:r>
              <a:rPr dirty="0" err="1"/>
              <a:t>tổ</a:t>
            </a:r>
            <a:r>
              <a:rPr dirty="0"/>
              <a:t> </a:t>
            </a:r>
            <a:r>
              <a:rPr dirty="0" err="1"/>
              <a:t>hợp</a:t>
            </a:r>
            <a:r>
              <a:rPr dirty="0"/>
              <a:t> (</a:t>
            </a:r>
            <a:r>
              <a:rPr dirty="0" err="1"/>
              <a:t>outputs_binary_beijing_freeze</a:t>
            </a:r>
            <a:r>
              <a:rPr dirty="0"/>
              <a:t> + </a:t>
            </a:r>
            <a:r>
              <a:rPr dirty="0" err="1"/>
              <a:t>outputs_binary_beijing_nofreeze</a:t>
            </a:r>
            <a:r>
              <a:rPr dirty="0"/>
              <a:t>, soft-vote) </a:t>
            </a:r>
            <a:r>
              <a:rPr dirty="0" err="1"/>
              <a:t>cho</a:t>
            </a:r>
            <a:r>
              <a:rPr dirty="0"/>
              <a:t> </a:t>
            </a:r>
            <a:r>
              <a:rPr dirty="0" err="1"/>
              <a:t>bản</a:t>
            </a:r>
            <a:r>
              <a:rPr dirty="0"/>
              <a:t> </a:t>
            </a:r>
            <a:r>
              <a:rPr dirty="0" err="1"/>
              <a:t>triển</a:t>
            </a:r>
            <a:r>
              <a:rPr dirty="0"/>
              <a:t> </a:t>
            </a:r>
            <a:r>
              <a:rPr dirty="0" err="1"/>
              <a:t>khai</a:t>
            </a:r>
            <a:r>
              <a:rPr dirty="0"/>
              <a:t> </a:t>
            </a:r>
            <a:r>
              <a:rPr dirty="0" err="1"/>
              <a:t>tiếp</a:t>
            </a:r>
            <a:r>
              <a:rPr dirty="0"/>
              <a:t> </a:t>
            </a:r>
            <a:r>
              <a:rPr dirty="0" err="1"/>
              <a:t>theo</a:t>
            </a:r>
            <a:r>
              <a:rPr dirty="0"/>
              <a:t> — </a:t>
            </a:r>
            <a:r>
              <a:rPr dirty="0" err="1"/>
              <a:t>cải</a:t>
            </a:r>
            <a:r>
              <a:rPr dirty="0"/>
              <a:t> </a:t>
            </a:r>
            <a:r>
              <a:rPr dirty="0" err="1"/>
              <a:t>thiện</a:t>
            </a:r>
            <a:r>
              <a:rPr dirty="0"/>
              <a:t> recall </a:t>
            </a:r>
            <a:r>
              <a:rPr dirty="0" err="1"/>
              <a:t>đáng</a:t>
            </a:r>
            <a:r>
              <a:rPr dirty="0"/>
              <a:t> </a:t>
            </a:r>
            <a:r>
              <a:rPr dirty="0" err="1"/>
              <a:t>kể</a:t>
            </a:r>
            <a:r>
              <a:rPr dirty="0"/>
              <a:t>, false alarm </a:t>
            </a:r>
            <a:r>
              <a:rPr dirty="0" err="1"/>
              <a:t>vẫn</a:t>
            </a:r>
            <a:r>
              <a:rPr dirty="0"/>
              <a:t> </a:t>
            </a:r>
            <a:r>
              <a:rPr dirty="0" err="1"/>
              <a:t>tương</a:t>
            </a:r>
            <a:r>
              <a:rPr dirty="0"/>
              <a:t> </a:t>
            </a:r>
            <a:r>
              <a:rPr dirty="0" err="1"/>
              <a:t>đương</a:t>
            </a:r>
            <a:r>
              <a:rPr dirty="0"/>
              <a:t> baseline.</a:t>
            </a:r>
          </a:p>
        </p:txBody>
      </p:sp>
      <p:sp>
        <p:nvSpPr>
          <p:cNvPr id="6" name="TextBox 5"/>
          <p:cNvSpPr txBox="1"/>
          <p:nvPr/>
        </p:nvSpPr>
        <p:spPr>
          <a:xfrm>
            <a:off x="11247120" y="6446520"/>
            <a:ext cx="731520" cy="320040"/>
          </a:xfrm>
          <a:prstGeom prst="rect">
            <a:avLst/>
          </a:prstGeom>
          <a:noFill/>
        </p:spPr>
        <p:txBody>
          <a:bodyPr wrap="square">
            <a:spAutoFit/>
          </a:bodyPr>
          <a:lstStyle/>
          <a:p>
            <a:pPr algn="l"/>
            <a:r>
              <a:rPr sz="1000" b="0" i="0">
                <a:solidFill>
                  <a:srgbClr val="4C5860"/>
                </a:solidFill>
                <a:latin typeface="Calibri"/>
              </a:rPr>
              <a:t>8</a:t>
            </a:r>
          </a:p>
        </p:txBody>
      </p:sp>
      <p:sp>
        <p:nvSpPr>
          <p:cNvPr id="7" name="TextBox 6"/>
          <p:cNvSpPr txBox="1"/>
          <p:nvPr/>
        </p:nvSpPr>
        <p:spPr>
          <a:xfrm>
            <a:off x="548640" y="6446520"/>
            <a:ext cx="5486400" cy="320040"/>
          </a:xfrm>
          <a:prstGeom prst="rect">
            <a:avLst/>
          </a:prstGeom>
          <a:noFill/>
        </p:spPr>
        <p:txBody>
          <a:bodyPr wrap="square">
            <a:spAutoFit/>
          </a:bodyPr>
          <a:lstStyle/>
          <a:p>
            <a:pPr algn="l"/>
            <a:r>
              <a:rPr sz="900" b="0" i="1">
                <a:solidFill>
                  <a:srgbClr val="4C5860"/>
                </a:solidFill>
                <a:latin typeface="Calibri"/>
              </a:rPr>
              <a:t>Smart-Air TinyML — Thử nghiệm tổ hợp Ensemble + Binary + Beijing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Box 3"/>
          <p:cNvSpPr/>
          <p:nvPr/>
        </p:nvSpPr>
        <p:spPr>
          <a:xfrm>
            <a:off x="1523880" y="320040"/>
            <a:ext cx="6431040" cy="28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300" b="1" strike="noStrike" spc="-1">
                <a:solidFill>
                  <a:srgbClr val="3EB489"/>
                </a:solidFill>
                <a:latin typeface="Calibri"/>
              </a:rPr>
              <a:t>HƯỚNG TIẾP THEO</a:t>
            </a:r>
            <a:endParaRPr lang="en-US" sz="1300" b="0" strike="noStrike" spc="-1">
              <a:latin typeface="Arial"/>
            </a:endParaRPr>
          </a:p>
        </p:txBody>
      </p:sp>
      <p:sp>
        <p:nvSpPr>
          <p:cNvPr id="211" name="TextBox 4"/>
          <p:cNvSpPr/>
          <p:nvPr/>
        </p:nvSpPr>
        <p:spPr>
          <a:xfrm>
            <a:off x="1143000" y="594360"/>
            <a:ext cx="10515240" cy="54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3000" b="1" strike="noStrike" spc="-1">
                <a:solidFill>
                  <a:srgbClr val="1B2A4A"/>
                </a:solidFill>
                <a:latin typeface="Calibri"/>
              </a:rPr>
              <a:t>Chưa làm — nằm ngoài phạm vi hiện tại</a:t>
            </a:r>
            <a:endParaRPr lang="en-US" sz="3000" b="0" strike="noStrike" spc="-1">
              <a:latin typeface="Arial"/>
            </a:endParaRPr>
          </a:p>
        </p:txBody>
      </p:sp>
      <p:sp>
        <p:nvSpPr>
          <p:cNvPr id="212" name="Rectangle 5"/>
          <p:cNvSpPr/>
          <p:nvPr/>
        </p:nvSpPr>
        <p:spPr>
          <a:xfrm>
            <a:off x="640080" y="1280160"/>
            <a:ext cx="1005480" cy="37800"/>
          </a:xfrm>
          <a:prstGeom prst="rect">
            <a:avLst/>
          </a:prstGeom>
          <a:solidFill>
            <a:srgbClr val="3EB489"/>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3" name="TextBox 6"/>
          <p:cNvSpPr/>
          <p:nvPr/>
        </p:nvSpPr>
        <p:spPr>
          <a:xfrm>
            <a:off x="685800" y="1645920"/>
            <a:ext cx="10698120" cy="158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Aft>
                <a:spcPts val="1800"/>
              </a:spcAft>
              <a:buNone/>
            </a:pPr>
            <a:r>
              <a:rPr lang="en-US" sz="1700" b="1" strike="noStrike" spc="-1">
                <a:solidFill>
                  <a:srgbClr val="3EB489"/>
                </a:solidFill>
                <a:latin typeface="Calibri"/>
              </a:rPr>
              <a:t>●  Export ONNX → TFLite → INT8 + C header</a:t>
            </a:r>
            <a:r>
              <a:rPr lang="en-US" sz="1700" b="0" strike="noStrike" spc="-1">
                <a:solidFill>
                  <a:srgbClr val="1B2A4A"/>
                </a:solidFill>
                <a:latin typeface="Calibri"/>
              </a:rPr>
              <a:t>  cho firmware (thiết kế đã sẵn sàng, chưa cài công cụ/thực thi).</a:t>
            </a:r>
            <a:endParaRPr lang="en-US" sz="1700" b="0" strike="noStrike" spc="-1">
              <a:latin typeface="Arial"/>
            </a:endParaRPr>
          </a:p>
          <a:p>
            <a:pPr>
              <a:lnSpc>
                <a:spcPct val="100000"/>
              </a:lnSpc>
              <a:spcAft>
                <a:spcPts val="1800"/>
              </a:spcAft>
              <a:buNone/>
            </a:pPr>
            <a:r>
              <a:rPr lang="en-US" sz="1700" b="1" strike="noStrike" spc="-1">
                <a:solidFill>
                  <a:srgbClr val="3EB489"/>
                </a:solidFill>
                <a:latin typeface="Calibri"/>
              </a:rPr>
              <a:t>●  Firmware C++ (ESP-IDF)</a:t>
            </a:r>
            <a:r>
              <a:rPr lang="en-US" sz="1700" b="0" strike="noStrike" spc="-1">
                <a:solidFill>
                  <a:srgbClr val="1B2A4A"/>
                </a:solidFill>
                <a:latin typeface="Calibri"/>
              </a:rPr>
              <a:t>  repo smart-air-cps chưa có module TFLite/inference.</a:t>
            </a:r>
            <a:endParaRPr lang="en-US" sz="1700" b="0" strike="noStrike" spc="-1">
              <a:latin typeface="Arial"/>
            </a:endParaRPr>
          </a:p>
          <a:p>
            <a:pPr>
              <a:lnSpc>
                <a:spcPct val="100000"/>
              </a:lnSpc>
              <a:spcAft>
                <a:spcPts val="1800"/>
              </a:spcAft>
              <a:buNone/>
            </a:pPr>
            <a:r>
              <a:rPr lang="en-US" sz="1700" b="1" strike="noStrike" spc="-1">
                <a:solidFill>
                  <a:srgbClr val="3EB489"/>
                </a:solidFill>
                <a:latin typeface="Calibri"/>
              </a:rPr>
              <a:t>●  Hiệu chuẩn thực địa</a:t>
            </a:r>
            <a:r>
              <a:rPr lang="en-US" sz="1700" b="0" strike="noStrike" spc="-1">
                <a:solidFill>
                  <a:srgbClr val="1B2A4A"/>
                </a:solidFill>
                <a:latin typeface="Calibri"/>
              </a:rPr>
              <a:t>  chưa đối chiếu board thật với trạm tham chiếu (Phương án A đầy đủ).</a:t>
            </a:r>
            <a:endParaRPr lang="en-US" sz="1700" b="0" strike="noStrike" spc="-1">
              <a:latin typeface="Arial"/>
            </a:endParaRPr>
          </a:p>
        </p:txBody>
      </p:sp>
      <p:sp>
        <p:nvSpPr>
          <p:cNvPr id="214" name="TextBox 7"/>
          <p:cNvSpPr/>
          <p:nvPr/>
        </p:nvSpPr>
        <p:spPr>
          <a:xfrm>
            <a:off x="640080" y="6473880"/>
            <a:ext cx="5486040" cy="24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000" b="0" strike="noStrike" spc="-1">
                <a:solidFill>
                  <a:srgbClr val="5A5A5A"/>
                </a:solidFill>
                <a:latin typeface="Calibri"/>
              </a:rPr>
              <a:t>Smart-Air — TinyML AQI trên ESP32-S3</a:t>
            </a:r>
            <a:endParaRPr lang="en-US" sz="1000" b="0" strike="noStrike" spc="-1">
              <a:latin typeface="Arial"/>
            </a:endParaRPr>
          </a:p>
        </p:txBody>
      </p:sp>
      <p:sp>
        <p:nvSpPr>
          <p:cNvPr id="215" name="TextBox 8"/>
          <p:cNvSpPr/>
          <p:nvPr/>
        </p:nvSpPr>
        <p:spPr>
          <a:xfrm>
            <a:off x="10972800" y="6473880"/>
            <a:ext cx="731160" cy="24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buNone/>
            </a:pPr>
            <a:r>
              <a:rPr lang="en-US" sz="1000" b="0" strike="noStrike" spc="-1">
                <a:solidFill>
                  <a:srgbClr val="5A5A5A"/>
                </a:solidFill>
                <a:latin typeface="Calibri"/>
              </a:rPr>
              <a:t>11</a:t>
            </a:r>
            <a:endParaRPr lang="en-US" sz="10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1219320" y="457200"/>
            <a:ext cx="10058040" cy="563040"/>
          </a:xfrm>
          <a:prstGeom prst="rect">
            <a:avLst/>
          </a:prstGeom>
          <a:noFill/>
          <a:ln w="0">
            <a:noFill/>
          </a:ln>
        </p:spPr>
        <p:txBody>
          <a:bodyPr numCol="1" spcCol="0" anchor="ctr">
            <a:noAutofit/>
          </a:bodyPr>
          <a:lstStyle/>
          <a:p>
            <a:pPr>
              <a:lnSpc>
                <a:spcPct val="100000"/>
              </a:lnSpc>
              <a:buNone/>
            </a:pPr>
            <a:r>
              <a:rPr lang="en-US" sz="2800" b="1" strike="noStrike" spc="-1">
                <a:solidFill>
                  <a:srgbClr val="4B546F"/>
                </a:solidFill>
                <a:latin typeface="Arial"/>
              </a:rPr>
              <a:t>Tiến độ thực tế (dự kiến)</a:t>
            </a:r>
            <a:endParaRPr lang="en-US" sz="2800" b="0" strike="noStrike" spc="-1">
              <a:solidFill>
                <a:srgbClr val="000000"/>
              </a:solidFill>
              <a:latin typeface="Arial"/>
            </a:endParaRPr>
          </a:p>
        </p:txBody>
      </p:sp>
      <p:sp>
        <p:nvSpPr>
          <p:cNvPr id="217" name="PlaceHolder 2"/>
          <p:cNvSpPr>
            <a:spLocks noGrp="1"/>
          </p:cNvSpPr>
          <p:nvPr>
            <p:ph/>
          </p:nvPr>
        </p:nvSpPr>
        <p:spPr>
          <a:xfrm>
            <a:off x="507960" y="1295280"/>
            <a:ext cx="11073960" cy="4723920"/>
          </a:xfrm>
          <a:prstGeom prst="rect">
            <a:avLst/>
          </a:prstGeom>
          <a:noFill/>
          <a:ln w="0">
            <a:noFill/>
          </a:ln>
        </p:spPr>
        <p:txBody>
          <a:bodyPr numCol="1" spcCol="0" anchor="t">
            <a:noAutofit/>
          </a:bodyPr>
          <a:lstStyle/>
          <a:p>
            <a:pPr marL="343080" indent="-343080">
              <a:lnSpc>
                <a:spcPct val="100000"/>
              </a:lnSpc>
              <a:spcBef>
                <a:spcPts val="400"/>
              </a:spcBef>
              <a:buClr>
                <a:srgbClr val="4B546F"/>
              </a:buClr>
              <a:buFont typeface="Wingdings" charset="2"/>
              <a:buChar char=""/>
            </a:pPr>
            <a:r>
              <a:rPr lang="en-US" sz="2000" b="0" strike="noStrike" spc="-1">
                <a:solidFill>
                  <a:srgbClr val="144082"/>
                </a:solidFill>
                <a:latin typeface="Arial"/>
              </a:rPr>
              <a:t>Link:https:</a:t>
            </a:r>
            <a:r>
              <a:rPr lang="en-US" sz="2000" b="0" u="sng" strike="noStrike" spc="-1">
                <a:solidFill>
                  <a:srgbClr val="1B505B"/>
                </a:solidFill>
                <a:uFillTx/>
                <a:latin typeface="Arial"/>
                <a:hlinkClick r:id="rId2"/>
              </a:rPr>
              <a:t>//docs.google.com/spreadsheets/d/1qN74SvrrdN4LHQbeoC8bmP_FywuzR8jE/edit?usp=sharing&amp;ouid=100093805528198327086&amp;rtpof=true&amp;sd=true</a:t>
            </a:r>
            <a:endParaRPr lang="en-US" sz="2000" b="0" strike="noStrike" spc="-1">
              <a:solidFill>
                <a:srgbClr val="000000"/>
              </a:solidFill>
              <a:latin typeface="Arial"/>
            </a:endParaRPr>
          </a:p>
        </p:txBody>
      </p:sp>
      <p:pic>
        <p:nvPicPr>
          <p:cNvPr id="218" name="Picture 7"/>
          <p:cNvPicPr/>
          <p:nvPr/>
        </p:nvPicPr>
        <p:blipFill>
          <a:blip r:embed="rId3"/>
          <a:stretch/>
        </p:blipFill>
        <p:spPr>
          <a:xfrm>
            <a:off x="1619280" y="1981080"/>
            <a:ext cx="9258120" cy="420660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1219320" y="457200"/>
            <a:ext cx="10058040" cy="563040"/>
          </a:xfrm>
          <a:prstGeom prst="rect">
            <a:avLst/>
          </a:prstGeom>
          <a:noFill/>
          <a:ln w="0">
            <a:noFill/>
          </a:ln>
        </p:spPr>
        <p:txBody>
          <a:bodyPr numCol="1" spcCol="0" anchor="ctr">
            <a:noAutofit/>
          </a:bodyPr>
          <a:lstStyle/>
          <a:p>
            <a:pPr>
              <a:lnSpc>
                <a:spcPct val="100000"/>
              </a:lnSpc>
              <a:buNone/>
            </a:pPr>
            <a:r>
              <a:rPr lang="en-US" sz="2800" b="1" strike="noStrike" spc="-1">
                <a:solidFill>
                  <a:srgbClr val="4B546F"/>
                </a:solidFill>
                <a:latin typeface="Arial"/>
              </a:rPr>
              <a:t>5. Report mỗi tuần ( </a:t>
            </a:r>
            <a:r>
              <a:rPr lang="en-US" sz="2800" b="1" strike="noStrike" spc="-1">
                <a:solidFill>
                  <a:srgbClr val="4B546F"/>
                </a:solidFill>
                <a:latin typeface="Wingdings"/>
              </a:rPr>
              <a:t></a:t>
            </a:r>
            <a:r>
              <a:rPr lang="en-US" sz="2800" b="1" strike="noStrike" spc="-1">
                <a:solidFill>
                  <a:srgbClr val="4B546F"/>
                </a:solidFill>
                <a:latin typeface="Arial"/>
              </a:rPr>
              <a:t> đồng bộ lên github)</a:t>
            </a:r>
            <a:endParaRPr lang="en-US" sz="2800" b="0" strike="noStrike" spc="-1">
              <a:solidFill>
                <a:srgbClr val="000000"/>
              </a:solidFill>
              <a:latin typeface="Arial"/>
            </a:endParaRPr>
          </a:p>
        </p:txBody>
      </p:sp>
      <p:sp>
        <p:nvSpPr>
          <p:cNvPr id="220" name="PlaceHolder 2"/>
          <p:cNvSpPr>
            <a:spLocks noGrp="1"/>
          </p:cNvSpPr>
          <p:nvPr>
            <p:ph/>
          </p:nvPr>
        </p:nvSpPr>
        <p:spPr>
          <a:xfrm>
            <a:off x="507960" y="1295280"/>
            <a:ext cx="11073960" cy="4723920"/>
          </a:xfrm>
          <a:prstGeom prst="rect">
            <a:avLst/>
          </a:prstGeom>
          <a:noFill/>
          <a:ln w="0">
            <a:noFill/>
          </a:ln>
        </p:spPr>
        <p:txBody>
          <a:bodyPr numCol="1" spcCol="0" anchor="t">
            <a:noAutofit/>
          </a:bodyPr>
          <a:lstStyle/>
          <a:p>
            <a:pPr>
              <a:lnSpc>
                <a:spcPct val="100000"/>
              </a:lnSpc>
              <a:spcBef>
                <a:spcPts val="561"/>
              </a:spcBef>
              <a:buNone/>
              <a:tabLst>
                <a:tab pos="0" algn="l"/>
              </a:tabLst>
            </a:pPr>
            <a:r>
              <a:rPr lang="en-US" sz="2800" b="0" strike="noStrike" spc="-1">
                <a:solidFill>
                  <a:srgbClr val="144082"/>
                </a:solidFill>
                <a:latin typeface="Arial"/>
              </a:rPr>
              <a:t>Link project nhóm: </a:t>
            </a:r>
            <a:r>
              <a:rPr lang="en-US" sz="2800" b="0" u="sng" strike="noStrike" spc="-1">
                <a:solidFill>
                  <a:srgbClr val="1B505B"/>
                </a:solidFill>
                <a:uFillTx/>
                <a:latin typeface="Arial"/>
                <a:hlinkClick r:id="rId2"/>
              </a:rPr>
              <a:t>https://github.com/meeTeam05/smart-air.git</a:t>
            </a:r>
            <a:endParaRPr lang="en-US" sz="280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WordArt 3"/>
          <p:cNvSpPr txBox="1"/>
          <p:nvPr/>
        </p:nvSpPr>
        <p:spPr>
          <a:xfrm>
            <a:off x="2842560" y="2819520"/>
            <a:ext cx="6857640" cy="761760"/>
          </a:xfrm>
          <a:prstGeom prst="rect">
            <a:avLst/>
          </a:prstGeom>
        </p:spPr>
        <p:txBody>
          <a:bodyPr wrap="none" lIns="90000" tIns="45000" rIns="90000" bIns="45000" anchor="t" anchorCtr="1">
            <a:prstTxWarp prst="textDeflate">
              <a:avLst>
                <a:gd name="adj" fmla="val 0"/>
              </a:avLst>
            </a:prstTxWarp>
            <a:noAutofit/>
          </a:bodyPr>
          <a:lstStyle/>
          <a:p>
            <a:pPr algn="ctr">
              <a:lnSpc>
                <a:spcPct val="100000"/>
              </a:lnSpc>
              <a:buNone/>
            </a:pPr>
            <a:r>
              <a:rPr lang="en-US" sz="5400" b="1" strike="noStrike" spc="-1">
                <a:ln w="0">
                  <a:noFill/>
                </a:ln>
                <a:solidFill>
                  <a:srgbClr val="000000"/>
                </a:solidFill>
                <a:latin typeface="Verdana"/>
                <a:ea typeface="Verdana"/>
              </a:rPr>
              <a:t>Thank You</a:t>
            </a:r>
            <a:endParaRPr lang="en-US" sz="5400" b="0" strike="noStrike" spc="-1">
              <a:ln w="0">
                <a:noFill/>
              </a:ln>
              <a:solidFill>
                <a:srgbClr val="000000"/>
              </a:solidFill>
              <a:latin typeface="Arial"/>
            </a:endParaRPr>
          </a:p>
        </p:txBody>
      </p:sp>
      <p:sp>
        <p:nvSpPr>
          <p:cNvPr id="222" name="Rectangle 4"/>
          <p:cNvSpPr/>
          <p:nvPr/>
        </p:nvSpPr>
        <p:spPr>
          <a:xfrm>
            <a:off x="5181480" y="5867280"/>
            <a:ext cx="3580920" cy="38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a:lnSpc>
                <a:spcPct val="90000"/>
              </a:lnSpc>
              <a:spcBef>
                <a:spcPts val="281"/>
              </a:spcBef>
              <a:buNone/>
            </a:pPr>
            <a:r>
              <a:rPr lang="en-US" sz="1400" b="1" strike="noStrike" spc="-1">
                <a:solidFill>
                  <a:srgbClr val="FFFFFF"/>
                </a:solidFill>
                <a:latin typeface="Arial"/>
              </a:rPr>
              <a:t>www.themegallery.com</a:t>
            </a:r>
            <a:endParaRPr lang="en-US" sz="14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cdb2004212gl</Template>
  <TotalTime>4631</TotalTime>
  <Words>1546</Words>
  <Application>Microsoft Office PowerPoint</Application>
  <PresentationFormat>Widescreen</PresentationFormat>
  <Paragraphs>141</Paragraphs>
  <Slides>18</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18</vt:i4>
      </vt:variant>
    </vt:vector>
  </HeadingPairs>
  <TitlesOfParts>
    <vt:vector size="30" baseType="lpstr">
      <vt:lpstr>Arial</vt:lpstr>
      <vt:lpstr>Calibri</vt:lpstr>
      <vt:lpstr>Consolas</vt:lpstr>
      <vt:lpstr>StarSymbol</vt:lpstr>
      <vt:lpstr>Symbol</vt:lpstr>
      <vt:lpstr>Tahoma</vt:lpstr>
      <vt:lpstr>Times New Roman</vt:lpstr>
      <vt:lpstr>Verdana</vt:lpstr>
      <vt:lpstr>Wingdings</vt:lpstr>
      <vt:lpstr>Office Theme</vt:lpstr>
      <vt:lpstr>Office Theme</vt:lpstr>
      <vt:lpstr>Office Theme</vt:lpstr>
      <vt:lpstr>Môn: Phát triển ứng dụng di động (Tuần5 -Project ck+gk)</vt:lpstr>
      <vt:lpstr>Pipeline đã xây dựng (TypeScript/React Native)</vt:lpstr>
      <vt:lpstr>PowerPoint Presentation</vt:lpstr>
      <vt:lpstr>Tiến độ xây dựng theo module (App)</vt:lpstr>
      <vt:lpstr>PowerPoint Presentation</vt:lpstr>
      <vt:lpstr>PowerPoint Presentation</vt:lpstr>
      <vt:lpstr>PowerPoint Presentation</vt:lpstr>
      <vt:lpstr>Pipeline đã xây dựng (thư mục src/)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Tiến độ thực tế (dự kiến)</vt:lpstr>
      <vt:lpstr>5. Report mỗi tuần (  đồng bộ lên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Research &amp; Technology and Training</dc:title>
  <dc:subject/>
  <dc:creator>FANCA</dc:creator>
  <dc:description/>
  <cp:lastModifiedBy>mei</cp:lastModifiedBy>
  <cp:revision>411</cp:revision>
  <cp:lastPrinted>2018-01-16T10:17:52Z</cp:lastPrinted>
  <dcterms:created xsi:type="dcterms:W3CDTF">2017-11-10T03:20:57Z</dcterms:created>
  <dcterms:modified xsi:type="dcterms:W3CDTF">2026-09-21T01:55:24Z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16</vt:i4>
  </property>
</Properties>
</file>