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Cambria"/>
              </a:defRPr>
            </a:pPr>
            <a:r>
              <a:rPr sz="1500" b="0" i="0" u="none" strike="noStrike">
                <a:solidFill>
                  <a:srgbClr val="1F2937"/>
                </a:solidFill>
                <a:latin typeface="Cambria"/>
              </a:rPr>
              <a:t>Tỉ lệ đợt vượt ngưỡng được báo trước (%)</a:t>
            </a:r>
          </a:p>
        </c:rich>
      </c:tx>
      <c:layout/>
      <c:overlay val="0"/>
    </c:title>
    <c:autoTitleDeleted val="0"/>
    <c:plotArea>
      <c:layout/>
      <c:barChart>
        <c:barDir val="col"/>
        <c:grouping val="clustered"/>
        <c:varyColors val="0"/>
        <c:ser>
          <c:idx val="0"/>
          <c:order val="0"/>
          <c:tx>
            <c:strRef>
              <c:f>Sheet1!$B$1</c:f>
              <c:strCache>
                <c:ptCount val="1"/>
                <c:pt idx="0">
                  <c:v>CO</c:v>
                </c:pt>
              </c:strCache>
            </c:strRef>
          </c:tx>
          <c:spPr>
            <a:solidFill>
              <a:srgbClr val="0F766E"/>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Luật QCVN</c:v>
                  </c:pt>
                  <c:pt idx="1">
                    <c:v>Ngoại suy + luật</c:v>
                  </c:pt>
                  <c:pt idx="2">
                    <c:v>AI + luật</c:v>
                  </c:pt>
                  <c:pt idx="3">
                    <c:v>Hệ thống đề xuất</c:v>
                  </c:pt>
                </c:lvl>
              </c:multiLvlStrCache>
            </c:multiLvlStrRef>
          </c:cat>
          <c:val>
            <c:numRef>
              <c:f>Sheet1!$B$2:$B$5</c:f>
              <c:numCache>
                <c:formatCode>General</c:formatCode>
                <c:ptCount val="4"/>
                <c:pt idx="0">
                  <c:v>25.3</c:v>
                </c:pt>
                <c:pt idx="1">
                  <c:v>70.7</c:v>
                </c:pt>
                <c:pt idx="2">
                  <c:v>89.9</c:v>
                </c:pt>
                <c:pt idx="3">
                  <c:v>91.9</c:v>
                </c:pt>
              </c:numCache>
            </c:numRef>
          </c:val>
        </c:ser>
        <c:ser>
          <c:idx val="1"/>
          <c:order val="1"/>
          <c:tx>
            <c:strRef>
              <c:f>Sheet1!$C$1</c:f>
              <c:strCache>
                <c:ptCount val="1"/>
                <c:pt idx="0">
                  <c:v>NO₂</c:v>
                </c:pt>
              </c:strCache>
            </c:strRef>
          </c:tx>
          <c:spPr>
            <a:solidFill>
              <a:srgbClr val="F59E0B"/>
            </a:solidFill>
            <a:effectLst/>
          </c:spPr>
          <c:invertIfNegative val="0"/>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Luật QCVN</c:v>
                  </c:pt>
                  <c:pt idx="1">
                    <c:v>Ngoại suy + luật</c:v>
                  </c:pt>
                  <c:pt idx="2">
                    <c:v>AI + luật</c:v>
                  </c:pt>
                  <c:pt idx="3">
                    <c:v>Hệ thống đề xuất</c:v>
                  </c:pt>
                </c:lvl>
              </c:multiLvlStrCache>
            </c:multiLvlStrRef>
          </c:cat>
          <c:val>
            <c:numRef>
              <c:f>Sheet1!$C$2:$C$5</c:f>
              <c:numCache>
                <c:formatCode>General</c:formatCode>
                <c:ptCount val="4"/>
                <c:pt idx="0">
                  <c:v>21.6</c:v>
                </c:pt>
                <c:pt idx="1">
                  <c:v>100</c:v>
                </c:pt>
                <c:pt idx="2">
                  <c:v>94.6</c:v>
                </c:pt>
                <c:pt idx="3">
                  <c:v>100</c:v>
                </c:pt>
              </c:numCache>
            </c:numRef>
          </c:val>
        </c:ser>
        <c:dLbls>
          <c:numFmt formatCode="0.0"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Cambria"/>
              </a:defRPr>
            </a:pPr>
            <a:r>
              <a:rPr sz="1500" b="0" i="0" u="none" strike="noStrike">
                <a:solidFill>
                  <a:srgbClr val="1F2937"/>
                </a:solidFill>
                <a:latin typeface="Cambria"/>
              </a:rPr>
              <a:t>Tỉ lệ đợt vượt ngưỡng được báo trước (%)</a:t>
            </a:r>
          </a:p>
        </c:rich>
      </c:tx>
      <c:layout/>
      <c:overlay val="0"/>
    </c:title>
    <c:autoTitleDeleted val="0"/>
    <c:plotArea>
      <c:layout/>
      <c:barChart>
        <c:barDir val="col"/>
        <c:grouping val="clustered"/>
        <c:varyColors val="0"/>
        <c:ser>
          <c:idx val="0"/>
          <c:order val="0"/>
          <c:tx>
            <c:strRef>
              <c:f>Sheet1!$B$1</c:f>
              <c:strCache>
                <c:ptCount val="1"/>
                <c:pt idx="0">
                  <c:v>Luật QCVN (không AI)</c:v>
                </c:pt>
              </c:strCache>
            </c:strRef>
          </c:tx>
          <c:spPr>
            <a:solidFill>
              <a:srgbClr val="94A3B8"/>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CO</c:v>
                  </c:pt>
                  <c:pt idx="1">
                    <c:v>NO₂</c:v>
                  </c:pt>
                </c:lvl>
              </c:multiLvlStrCache>
            </c:multiLvlStrRef>
          </c:cat>
          <c:val>
            <c:numRef>
              <c:f>Sheet1!$B$2:$B$3</c:f>
              <c:numCache>
                <c:formatCode>General</c:formatCode>
                <c:ptCount val="2"/>
                <c:pt idx="0">
                  <c:v>13.5</c:v>
                </c:pt>
                <c:pt idx="1">
                  <c:v>36.8</c:v>
                </c:pt>
              </c:numCache>
            </c:numRef>
          </c:val>
        </c:ser>
        <c:ser>
          <c:idx val="1"/>
          <c:order val="1"/>
          <c:tx>
            <c:strRef>
              <c:f>Sheet1!$C$1</c:f>
              <c:strCache>
                <c:ptCount val="1"/>
                <c:pt idx="0">
                  <c:v>Hệ thống đề xuất</c:v>
                </c:pt>
              </c:strCache>
            </c:strRef>
          </c:tx>
          <c:spPr>
            <a:solidFill>
              <a:srgbClr val="0F766E"/>
            </a:solidFill>
            <a:effectLst/>
          </c:spPr>
          <c:invertIfNegative val="0"/>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Sheet1!$A$2:$A$3</c:f>
              <c:multiLvlStrCache>
                <c:ptCount val="2"/>
                <c:lvl>
                  <c:pt idx="0">
                    <c:v>CO</c:v>
                  </c:pt>
                  <c:pt idx="1">
                    <c:v>NO₂</c:v>
                  </c:pt>
                </c:lvl>
              </c:multiLvlStrCache>
            </c:multiLvlStrRef>
          </c:cat>
          <c:val>
            <c:numRef>
              <c:f>Sheet1!$C$2:$C$3</c:f>
              <c:numCache>
                <c:formatCode>General</c:formatCode>
                <c:ptCount val="2"/>
                <c:pt idx="0">
                  <c:v>94.2</c:v>
                </c:pt>
                <c:pt idx="1">
                  <c:v>100</c:v>
                </c:pt>
              </c:numCache>
            </c:numRef>
          </c:val>
        </c:ser>
        <c:dLbls>
          <c:numFmt formatCode="0.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phần AI: hệ thống cảnh báo sớm khí CO và NO2 chạy ngay trên thiết bị. Ba con số bên phải là kết quả chính trên bộ dữ liệu đánh giá xây dựng từ các dataset đã công bố.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vấn đề: thiết bị đo thông thường chỉ báo khi đã vượt ngưỡng. Hệ thống của nhóm dự đoán trước 10 phút, và chạy hoàn toàn trên thiết bị.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QCVN 03:2019/BYT dùng STEL 15 phút và TWA 8 giờ. Hệ thống có ba mức; mức 1 cảnh báo sớm là đóng góp chính của phần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xử lý năm bước. Nhấn mạnh thiết kế ba lớp bảo vệ: an toàn ngay cả khi mô hình AI gặp sự cố.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nhỏ gọn: bốn lớp tích chập stride 2 giảm dần chiều dài chuỗi, không cần pooling. Chuẩn hoá theo ngưỡng giúp một mô hình xử lý cả CO và NO2.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huấn luyện trên dữ liệu mô phỏng vật lý được hiệu chỉnh theo dữ liệu thiết bị. Để đánh giá khách quan, nhóm xây dựng bộ dữ liệu độc lập từ ba dataset đã công bố, không dùng khi huấn luyện.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bước xây dựng: chuẩn hoá đơn vị về ppm, tạo nền từ UCI, nhúng sự cố thật từ Mendeley và Kashtan với biên độ trải cả dưới và trên ngưỡng, nhúng nhiễu chéo, mô phỏng cảm biến và gắn nhãn QCVN.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Đánh giá ở hai cấp: từng bước 10 giây như bài toán phân loại, và từng đợt vượt ngưỡng như trải nghiệm người dùng. Mọi số liệu tính trên mô hình INT8, có khoảng tin cậy và kiểm định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AUROC 0,996 với CO và 0,993 với NO2. So với luật QCVN truyền thống chỉ báo trước 25,3% đợt CO, hệ thống báo trước 91,9%.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100 ngày dữ liệu với 139 sự cố vượt ngưỡng từ dataset công bố, hệ thống báo trước 94,2% đợt CO và toàn bộ đợt NO2.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Kiểm định McNemar trên từng đợt CO: AI báo trước nhiều đợt mà ngoại suy bỏ lỡ, khác biệt có ý nghĩa thống kê cả trên tập kiểm tra và nguồn khí mới. Trên dataset công bố, kết hợp AI với ngoại suy nâng tỉ lệ báo trước rõ rệt.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chỉ 20,9 KB, suy luận khoảng 4 ms. Chế độ phát lại trên bo mạch cho kết quả trùng khớp 100% với mô hình gốc; kịch bản CO được báo trước hơn 7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bốn kết quả chính và các hướng phát triển.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3"/>
        </a:solidFill>
      </p:bgPr>
    </p:bg>
    <p:spTree>
      <p:nvGrpSpPr>
        <p:cNvPr id="1" name=""/>
        <p:cNvGrpSpPr/>
        <p:nvPr/>
      </p:nvGrpSpPr>
      <p:grpSpPr>
        <a:xfrm>
          <a:off x="0" y="0"/>
          <a:ext cx="0" cy="0"/>
          <a:chOff x="0" y="0"/>
          <a:chExt cx="0" cy="0"/>
        </a:xfrm>
      </p:grpSpPr>
      <p:sp>
        <p:nvSpPr>
          <p:cNvPr id="2" name="Text 0"/>
          <p:cNvSpPr txBox="1"/>
          <p:nvPr/>
        </p:nvSpPr>
        <p:spPr>
          <a:xfrm>
            <a:off x="548640" y="1188720"/>
            <a:ext cx="7315200" cy="365760"/>
          </a:xfrm>
          <a:prstGeom prst="rect">
            <a:avLst/>
          </a:prstGeom>
          <a:noFill/>
          <a:ln/>
        </p:spPr>
        <p:txBody>
          <a:bodyPr wrap="square" lIns="0" tIns="0" rIns="0" bIns="0" rtlCol="0" anchor="ctr"/>
          <a:lstStyle/>
          <a:p>
            <a:pPr indent="0" marL="0">
              <a:buNone/>
            </a:pPr>
            <a:r>
              <a:rPr lang="en-US" sz="1600" b="1" spc="300" kern="0" dirty="0">
                <a:solidFill>
                  <a:srgbClr val="F59E0B"/>
                </a:solidFill>
                <a:latin typeface="Calibri" pitchFamily="34" charset="0"/>
                <a:ea typeface="Calibri" pitchFamily="34" charset="-122"/>
                <a:cs typeface="Calibri" pitchFamily="34" charset="-120"/>
              </a:rPr>
              <a:t>BÁO CÁO PHẦN TRÍ TUỆ NHÂN TẠO</a:t>
            </a:r>
            <a:endParaRPr lang="en-US" sz="1600" dirty="0"/>
          </a:p>
        </p:txBody>
      </p:sp>
      <p:sp>
        <p:nvSpPr>
          <p:cNvPr id="3" name="Text 1"/>
          <p:cNvSpPr txBox="1"/>
          <p:nvPr/>
        </p:nvSpPr>
        <p:spPr>
          <a:xfrm>
            <a:off x="548640" y="1645920"/>
            <a:ext cx="7315200" cy="17373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Cảnh báo sớm khí CO &amp; NO₂</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bằng Edge AI</a:t>
            </a:r>
            <a:endParaRPr lang="en-US" sz="4400" dirty="0"/>
          </a:p>
        </p:txBody>
      </p:sp>
      <p:sp>
        <p:nvSpPr>
          <p:cNvPr id="4" name="Text 2"/>
          <p:cNvSpPr txBox="1"/>
          <p:nvPr/>
        </p:nvSpPr>
        <p:spPr>
          <a:xfrm>
            <a:off x="548640" y="3474720"/>
            <a:ext cx="6949440" cy="457200"/>
          </a:xfrm>
          <a:prstGeom prst="rect">
            <a:avLst/>
          </a:prstGeom>
          <a:noFill/>
          <a:ln/>
        </p:spPr>
        <p:txBody>
          <a:bodyPr wrap="square" lIns="0" tIns="0" rIns="0" bIns="0" rtlCol="0" anchor="ctr"/>
          <a:lstStyle/>
          <a:p>
            <a:pPr indent="0" marL="0">
              <a:buNone/>
            </a:pPr>
            <a:r>
              <a:rPr lang="en-US" sz="1800" dirty="0">
                <a:solidFill>
                  <a:srgbClr val="CFE3E1"/>
                </a:solidFill>
                <a:latin typeface="Calibri" pitchFamily="34" charset="0"/>
                <a:ea typeface="Calibri" pitchFamily="34" charset="-122"/>
                <a:cs typeface="Calibri" pitchFamily="34" charset="-120"/>
              </a:rPr>
              <a:t>Mô hình 1D-CNN chạy trực tiếp trên ESP32-S3, theo QCVN 03:2019/BYT</a:t>
            </a:r>
            <a:endParaRPr lang="en-US" sz="1800" dirty="0"/>
          </a:p>
        </p:txBody>
      </p:sp>
      <p:sp>
        <p:nvSpPr>
          <p:cNvPr id="5" name="Text 3"/>
          <p:cNvSpPr txBox="1"/>
          <p:nvPr/>
        </p:nvSpPr>
        <p:spPr>
          <a:xfrm>
            <a:off x="548640" y="5852160"/>
            <a:ext cx="6400800" cy="365760"/>
          </a:xfrm>
          <a:prstGeom prst="rect">
            <a:avLst/>
          </a:prstGeom>
          <a:noFill/>
          <a:ln/>
        </p:spPr>
        <p:txBody>
          <a:bodyPr wrap="square" lIns="0" tIns="0" rIns="0" bIns="0" rtlCol="0" anchor="ctr"/>
          <a:lstStyle/>
          <a:p>
            <a:pPr indent="0" marL="0">
              <a:buNone/>
            </a:pPr>
            <a:r>
              <a:rPr lang="en-US" sz="1400" dirty="0">
                <a:solidFill>
                  <a:srgbClr val="9FC2BF"/>
                </a:solidFill>
                <a:latin typeface="Calibri" pitchFamily="34" charset="0"/>
                <a:ea typeface="Calibri" pitchFamily="34" charset="-122"/>
                <a:cs typeface="Calibri" pitchFamily="34" charset="-120"/>
              </a:rPr>
              <a:t>Dự án Smart Air  ·  Tháng 9/2026</a:t>
            </a:r>
            <a:endParaRPr lang="en-US" sz="1400" dirty="0"/>
          </a:p>
        </p:txBody>
      </p:sp>
      <p:sp>
        <p:nvSpPr>
          <p:cNvPr id="6" name="Shape 4"/>
          <p:cNvSpPr/>
          <p:nvPr/>
        </p:nvSpPr>
        <p:spPr>
          <a:xfrm>
            <a:off x="8229600" y="1463040"/>
            <a:ext cx="3383280" cy="3931920"/>
          </a:xfrm>
          <a:prstGeom prst="roundRect">
            <a:avLst>
              <a:gd name="adj" fmla="val 4054"/>
            </a:avLst>
          </a:prstGeom>
          <a:solidFill>
            <a:srgbClr val="134B55"/>
          </a:solidFill>
          <a:ln w="12700">
            <a:solidFill>
              <a:srgbClr val="1D6470"/>
            </a:solidFill>
            <a:prstDash val="solid"/>
          </a:ln>
        </p:spPr>
      </p:sp>
      <p:sp>
        <p:nvSpPr>
          <p:cNvPr id="7" name="Text 5"/>
          <p:cNvSpPr txBox="1"/>
          <p:nvPr/>
        </p:nvSpPr>
        <p:spPr>
          <a:xfrm>
            <a:off x="8503920" y="1691640"/>
            <a:ext cx="2926080" cy="640080"/>
          </a:xfrm>
          <a:prstGeom prst="rect">
            <a:avLst/>
          </a:prstGeom>
          <a:noFill/>
          <a:ln/>
        </p:spPr>
        <p:txBody>
          <a:bodyPr wrap="square" lIns="0" tIns="0" rIns="0" bIns="0" rtlCol="0" anchor="ctr"/>
          <a:lstStyle/>
          <a:p>
            <a:pPr indent="0" marL="0">
              <a:buNone/>
            </a:pPr>
            <a:r>
              <a:rPr lang="en-US" sz="3600" b="1" dirty="0">
                <a:solidFill>
                  <a:srgbClr val="F59E0B"/>
                </a:solidFill>
                <a:latin typeface="Cambria" pitchFamily="34" charset="0"/>
                <a:ea typeface="Cambria" pitchFamily="34" charset="-122"/>
                <a:cs typeface="Cambria" pitchFamily="34" charset="-120"/>
              </a:rPr>
              <a:t>94,2%</a:t>
            </a:r>
            <a:endParaRPr lang="en-US" sz="3600" dirty="0"/>
          </a:p>
        </p:txBody>
      </p:sp>
      <p:sp>
        <p:nvSpPr>
          <p:cNvPr id="8" name="Text 6"/>
          <p:cNvSpPr txBox="1"/>
          <p:nvPr/>
        </p:nvSpPr>
        <p:spPr>
          <a:xfrm>
            <a:off x="8503920" y="2286000"/>
            <a:ext cx="2926080" cy="365760"/>
          </a:xfrm>
          <a:prstGeom prst="rect">
            <a:avLst/>
          </a:prstGeom>
          <a:noFill/>
          <a:ln/>
        </p:spPr>
        <p:txBody>
          <a:bodyPr wrap="square" lIns="0" tIns="0" rIns="0" bIns="0" rtlCol="0" anchor="ctr"/>
          <a:lstStyle/>
          <a:p>
            <a:pPr indent="0" marL="0">
              <a:buNone/>
            </a:pPr>
            <a:r>
              <a:rPr lang="en-US" sz="1400" dirty="0">
                <a:solidFill>
                  <a:srgbClr val="CFE3E1"/>
                </a:solidFill>
                <a:latin typeface="Calibri" pitchFamily="34" charset="0"/>
                <a:ea typeface="Calibri" pitchFamily="34" charset="-122"/>
                <a:cs typeface="Calibri" pitchFamily="34" charset="-120"/>
              </a:rPr>
              <a:t>đợt CO được báo trước</a:t>
            </a:r>
            <a:endParaRPr lang="en-US" sz="1400" dirty="0"/>
          </a:p>
        </p:txBody>
      </p:sp>
      <p:sp>
        <p:nvSpPr>
          <p:cNvPr id="9" name="Text 7"/>
          <p:cNvSpPr txBox="1"/>
          <p:nvPr/>
        </p:nvSpPr>
        <p:spPr>
          <a:xfrm>
            <a:off x="8503920" y="2926080"/>
            <a:ext cx="2926080" cy="640080"/>
          </a:xfrm>
          <a:prstGeom prst="rect">
            <a:avLst/>
          </a:prstGeom>
          <a:noFill/>
          <a:ln/>
        </p:spPr>
        <p:txBody>
          <a:bodyPr wrap="square" lIns="0" tIns="0" rIns="0" bIns="0" rtlCol="0" anchor="ctr"/>
          <a:lstStyle/>
          <a:p>
            <a:pPr indent="0" marL="0">
              <a:buNone/>
            </a:pPr>
            <a:r>
              <a:rPr lang="en-US" sz="3600" b="1" dirty="0">
                <a:solidFill>
                  <a:srgbClr val="F59E0B"/>
                </a:solidFill>
                <a:latin typeface="Cambria" pitchFamily="34" charset="0"/>
                <a:ea typeface="Cambria" pitchFamily="34" charset="-122"/>
                <a:cs typeface="Cambria" pitchFamily="34" charset="-120"/>
              </a:rPr>
              <a:t>100%</a:t>
            </a:r>
            <a:endParaRPr lang="en-US" sz="3600" dirty="0"/>
          </a:p>
        </p:txBody>
      </p:sp>
      <p:sp>
        <p:nvSpPr>
          <p:cNvPr id="10" name="Text 8"/>
          <p:cNvSpPr txBox="1"/>
          <p:nvPr/>
        </p:nvSpPr>
        <p:spPr>
          <a:xfrm>
            <a:off x="8503920" y="3520440"/>
            <a:ext cx="2926080" cy="365760"/>
          </a:xfrm>
          <a:prstGeom prst="rect">
            <a:avLst/>
          </a:prstGeom>
          <a:noFill/>
          <a:ln/>
        </p:spPr>
        <p:txBody>
          <a:bodyPr wrap="square" lIns="0" tIns="0" rIns="0" bIns="0" rtlCol="0" anchor="ctr"/>
          <a:lstStyle/>
          <a:p>
            <a:pPr indent="0" marL="0">
              <a:buNone/>
            </a:pPr>
            <a:r>
              <a:rPr lang="en-US" sz="1400" dirty="0">
                <a:solidFill>
                  <a:srgbClr val="CFE3E1"/>
                </a:solidFill>
                <a:latin typeface="Calibri" pitchFamily="34" charset="0"/>
                <a:ea typeface="Calibri" pitchFamily="34" charset="-122"/>
                <a:cs typeface="Calibri" pitchFamily="34" charset="-120"/>
              </a:rPr>
              <a:t>đợt NO₂ được báo trước</a:t>
            </a:r>
            <a:endParaRPr lang="en-US" sz="1400" dirty="0"/>
          </a:p>
        </p:txBody>
      </p:sp>
      <p:sp>
        <p:nvSpPr>
          <p:cNvPr id="11" name="Text 9"/>
          <p:cNvSpPr txBox="1"/>
          <p:nvPr/>
        </p:nvSpPr>
        <p:spPr>
          <a:xfrm>
            <a:off x="8503920" y="4160520"/>
            <a:ext cx="2926080" cy="640080"/>
          </a:xfrm>
          <a:prstGeom prst="rect">
            <a:avLst/>
          </a:prstGeom>
          <a:noFill/>
          <a:ln/>
        </p:spPr>
        <p:txBody>
          <a:bodyPr wrap="square" lIns="0" tIns="0" rIns="0" bIns="0" rtlCol="0" anchor="ctr"/>
          <a:lstStyle/>
          <a:p>
            <a:pPr indent="0" marL="0">
              <a:buNone/>
            </a:pPr>
            <a:r>
              <a:rPr lang="en-US" sz="3600" b="1" dirty="0">
                <a:solidFill>
                  <a:srgbClr val="F59E0B"/>
                </a:solidFill>
                <a:latin typeface="Cambria" pitchFamily="34" charset="0"/>
                <a:ea typeface="Cambria" pitchFamily="34" charset="-122"/>
                <a:cs typeface="Cambria" pitchFamily="34" charset="-120"/>
              </a:rPr>
              <a:t>≈ 4 ms</a:t>
            </a:r>
            <a:endParaRPr lang="en-US" sz="3600" dirty="0"/>
          </a:p>
        </p:txBody>
      </p:sp>
      <p:sp>
        <p:nvSpPr>
          <p:cNvPr id="12" name="Text 10"/>
          <p:cNvSpPr txBox="1"/>
          <p:nvPr/>
        </p:nvSpPr>
        <p:spPr>
          <a:xfrm>
            <a:off x="8503920" y="4754880"/>
            <a:ext cx="2926080" cy="365760"/>
          </a:xfrm>
          <a:prstGeom prst="rect">
            <a:avLst/>
          </a:prstGeom>
          <a:noFill/>
          <a:ln/>
        </p:spPr>
        <p:txBody>
          <a:bodyPr wrap="square" lIns="0" tIns="0" rIns="0" bIns="0" rtlCol="0" anchor="ctr"/>
          <a:lstStyle/>
          <a:p>
            <a:pPr indent="0" marL="0">
              <a:buNone/>
            </a:pPr>
            <a:r>
              <a:rPr lang="en-US" sz="1400" dirty="0">
                <a:solidFill>
                  <a:srgbClr val="CFE3E1"/>
                </a:solidFill>
                <a:latin typeface="Calibri" pitchFamily="34" charset="0"/>
                <a:ea typeface="Calibri" pitchFamily="34" charset="-122"/>
                <a:cs typeface="Calibri" pitchFamily="34" charset="-120"/>
              </a:rPr>
              <a:t>mỗi lần suy luận trên chip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Bài toán: báo động truyền thống luôn đến muộn</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Mục tiêu: cảnh báo TRƯỚC khi nồng độ vượt ngưỡng an toàn</a:t>
            </a:r>
            <a:endParaRPr lang="en-US" sz="1600" dirty="0"/>
          </a:p>
        </p:txBody>
      </p:sp>
      <p:sp>
        <p:nvSpPr>
          <p:cNvPr id="4" name="Shape 2"/>
          <p:cNvSpPr/>
          <p:nvPr/>
        </p:nvSpPr>
        <p:spPr>
          <a:xfrm>
            <a:off x="548640" y="1737360"/>
            <a:ext cx="731520" cy="731520"/>
          </a:xfrm>
          <a:prstGeom prst="ellipse">
            <a:avLst/>
          </a:prstGeom>
          <a:solidFill>
            <a:srgbClr val="0F766E"/>
          </a:solidFill>
          <a:ln w="12700">
            <a:solidFill>
              <a:srgbClr val="0F766E"/>
            </a:solidFill>
            <a:prstDash val="solid"/>
          </a:ln>
        </p:spPr>
      </p:sp>
      <p:pic>
        <p:nvPicPr>
          <p:cNvPr id="5" name="Image 0" descr="preencoded.png">    </p:cNvPr>
          <p:cNvPicPr>
            <a:picLocks noChangeAspect="1"/>
          </p:cNvPicPr>
          <p:nvPr/>
        </p:nvPicPr>
        <p:blipFill>
          <a:blip r:embed="rId1"/>
          <a:stretch>
            <a:fillRect/>
          </a:stretch>
        </p:blipFill>
        <p:spPr>
          <a:xfrm>
            <a:off x="709574" y="1898294"/>
            <a:ext cx="409651" cy="409651"/>
          </a:xfrm>
          <a:prstGeom prst="rect">
            <a:avLst/>
          </a:prstGeom>
        </p:spPr>
      </p:pic>
      <p:sp>
        <p:nvSpPr>
          <p:cNvPr id="6" name="Text 3"/>
          <p:cNvSpPr txBox="1"/>
          <p:nvPr/>
        </p:nvSpPr>
        <p:spPr>
          <a:xfrm>
            <a:off x="1554480" y="1719072"/>
            <a:ext cx="5852160" cy="36576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Nguy cơ thường trực</a:t>
            </a:r>
            <a:endParaRPr lang="en-US" sz="1900" dirty="0"/>
          </a:p>
        </p:txBody>
      </p:sp>
      <p:sp>
        <p:nvSpPr>
          <p:cNvPr id="7" name="Text 4"/>
          <p:cNvSpPr txBox="1"/>
          <p:nvPr/>
        </p:nvSpPr>
        <p:spPr>
          <a:xfrm>
            <a:off x="1554480" y="2103120"/>
            <a:ext cx="5852160" cy="64008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CO và NO₂ từ bếp gas, than tổ ong, khí thải động cơ, cháy âm ỉ — không màu, khó nhận biết.</a:t>
            </a:r>
            <a:endParaRPr lang="en-US" sz="1400" dirty="0"/>
          </a:p>
        </p:txBody>
      </p:sp>
      <p:sp>
        <p:nvSpPr>
          <p:cNvPr id="8" name="Shape 5"/>
          <p:cNvSpPr/>
          <p:nvPr/>
        </p:nvSpPr>
        <p:spPr>
          <a:xfrm>
            <a:off x="548640" y="2907792"/>
            <a:ext cx="731520" cy="731520"/>
          </a:xfrm>
          <a:prstGeom prst="ellipse">
            <a:avLst/>
          </a:prstGeom>
          <a:solidFill>
            <a:srgbClr val="0F766E"/>
          </a:solidFill>
          <a:ln w="12700">
            <a:solidFill>
              <a:srgbClr val="0F766E"/>
            </a:solidFill>
            <a:prstDash val="solid"/>
          </a:ln>
        </p:spPr>
      </p:sp>
      <p:pic>
        <p:nvPicPr>
          <p:cNvPr id="9" name="Image 1" descr="preencoded.png">    </p:cNvPr>
          <p:cNvPicPr>
            <a:picLocks noChangeAspect="1"/>
          </p:cNvPicPr>
          <p:nvPr/>
        </p:nvPicPr>
        <p:blipFill>
          <a:blip r:embed="rId2"/>
          <a:stretch>
            <a:fillRect/>
          </a:stretch>
        </p:blipFill>
        <p:spPr>
          <a:xfrm>
            <a:off x="709574" y="3068726"/>
            <a:ext cx="409651" cy="409651"/>
          </a:xfrm>
          <a:prstGeom prst="rect">
            <a:avLst/>
          </a:prstGeom>
        </p:spPr>
      </p:pic>
      <p:sp>
        <p:nvSpPr>
          <p:cNvPr id="10" name="Text 6"/>
          <p:cNvSpPr txBox="1"/>
          <p:nvPr/>
        </p:nvSpPr>
        <p:spPr>
          <a:xfrm>
            <a:off x="1554480" y="2889504"/>
            <a:ext cx="5852160" cy="36576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Thiết bị hiện nay báo muộn</a:t>
            </a:r>
            <a:endParaRPr lang="en-US" sz="1900" dirty="0"/>
          </a:p>
        </p:txBody>
      </p:sp>
      <p:sp>
        <p:nvSpPr>
          <p:cNvPr id="11" name="Text 7"/>
          <p:cNvSpPr txBox="1"/>
          <p:nvPr/>
        </p:nvSpPr>
        <p:spPr>
          <a:xfrm>
            <a:off x="1554480" y="3273552"/>
            <a:ext cx="5852160" cy="64008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Chỉ báo động khi nồng độ ĐÃ vượt ngưỡng — lúc người trong phòng đã bị phơi nhiễm.</a:t>
            </a:r>
            <a:endParaRPr lang="en-US" sz="1400" dirty="0"/>
          </a:p>
        </p:txBody>
      </p:sp>
      <p:sp>
        <p:nvSpPr>
          <p:cNvPr id="12" name="Shape 8"/>
          <p:cNvSpPr/>
          <p:nvPr/>
        </p:nvSpPr>
        <p:spPr>
          <a:xfrm>
            <a:off x="548640" y="4078224"/>
            <a:ext cx="731520" cy="731520"/>
          </a:xfrm>
          <a:prstGeom prst="ellipse">
            <a:avLst/>
          </a:prstGeom>
          <a:solidFill>
            <a:srgbClr val="F59E0B"/>
          </a:solidFill>
          <a:ln w="12700">
            <a:solidFill>
              <a:srgbClr val="F59E0B"/>
            </a:solidFill>
            <a:prstDash val="solid"/>
          </a:ln>
        </p:spPr>
      </p:sp>
      <p:pic>
        <p:nvPicPr>
          <p:cNvPr id="13" name="Image 2" descr="preencoded.png">    </p:cNvPr>
          <p:cNvPicPr>
            <a:picLocks noChangeAspect="1"/>
          </p:cNvPicPr>
          <p:nvPr/>
        </p:nvPicPr>
        <p:blipFill>
          <a:blip r:embed="rId3"/>
          <a:stretch>
            <a:fillRect/>
          </a:stretch>
        </p:blipFill>
        <p:spPr>
          <a:xfrm>
            <a:off x="709574" y="4239158"/>
            <a:ext cx="409651" cy="409651"/>
          </a:xfrm>
          <a:prstGeom prst="rect">
            <a:avLst/>
          </a:prstGeom>
        </p:spPr>
      </p:pic>
      <p:sp>
        <p:nvSpPr>
          <p:cNvPr id="14" name="Text 9"/>
          <p:cNvSpPr txBox="1"/>
          <p:nvPr/>
        </p:nvSpPr>
        <p:spPr>
          <a:xfrm>
            <a:off x="1554480" y="4059936"/>
            <a:ext cx="5852160" cy="36576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Giải pháp đề xuất</a:t>
            </a:r>
            <a:endParaRPr lang="en-US" sz="1900" dirty="0"/>
          </a:p>
        </p:txBody>
      </p:sp>
      <p:sp>
        <p:nvSpPr>
          <p:cNvPr id="15" name="Text 10"/>
          <p:cNvSpPr txBox="1"/>
          <p:nvPr/>
        </p:nvSpPr>
        <p:spPr>
          <a:xfrm>
            <a:off x="1554480" y="4443984"/>
            <a:ext cx="5852160" cy="64008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Dự đoán nồng độ trung bình 15 phút (STEL) sẽ vượt ngưỡng QCVN trong 10 phút tới.</a:t>
            </a:r>
            <a:endParaRPr lang="en-US" sz="1400" dirty="0"/>
          </a:p>
        </p:txBody>
      </p:sp>
      <p:sp>
        <p:nvSpPr>
          <p:cNvPr id="16" name="Shape 11"/>
          <p:cNvSpPr/>
          <p:nvPr/>
        </p:nvSpPr>
        <p:spPr>
          <a:xfrm>
            <a:off x="548640" y="5248656"/>
            <a:ext cx="731520" cy="731520"/>
          </a:xfrm>
          <a:prstGeom prst="ellipse">
            <a:avLst/>
          </a:prstGeom>
          <a:solidFill>
            <a:srgbClr val="0F766E"/>
          </a:solidFill>
          <a:ln w="12700">
            <a:solidFill>
              <a:srgbClr val="0F766E"/>
            </a:solidFill>
            <a:prstDash val="solid"/>
          </a:ln>
        </p:spPr>
      </p:sp>
      <p:pic>
        <p:nvPicPr>
          <p:cNvPr id="17" name="Image 3" descr="preencoded.png">    </p:cNvPr>
          <p:cNvPicPr>
            <a:picLocks noChangeAspect="1"/>
          </p:cNvPicPr>
          <p:nvPr/>
        </p:nvPicPr>
        <p:blipFill>
          <a:blip r:embed="rId4"/>
          <a:stretch>
            <a:fillRect/>
          </a:stretch>
        </p:blipFill>
        <p:spPr>
          <a:xfrm>
            <a:off x="709574" y="5409590"/>
            <a:ext cx="409651" cy="409651"/>
          </a:xfrm>
          <a:prstGeom prst="rect">
            <a:avLst/>
          </a:prstGeom>
        </p:spPr>
      </p:pic>
      <p:sp>
        <p:nvSpPr>
          <p:cNvPr id="18" name="Text 12"/>
          <p:cNvSpPr txBox="1"/>
          <p:nvPr/>
        </p:nvSpPr>
        <p:spPr>
          <a:xfrm>
            <a:off x="1554480" y="5230368"/>
            <a:ext cx="5852160" cy="36576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Chạy ngay trên thiết bị</a:t>
            </a:r>
            <a:endParaRPr lang="en-US" sz="1900" dirty="0"/>
          </a:p>
        </p:txBody>
      </p:sp>
      <p:sp>
        <p:nvSpPr>
          <p:cNvPr id="19" name="Text 13"/>
          <p:cNvSpPr txBox="1"/>
          <p:nvPr/>
        </p:nvSpPr>
        <p:spPr>
          <a:xfrm>
            <a:off x="1554480" y="5614416"/>
            <a:ext cx="5852160" cy="64008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Suy luận trên ESP32-S3: không cần mạng, phản hồi tức thời, dữ liệu không rời thiết bị.</a:t>
            </a:r>
            <a:endParaRPr lang="en-US" sz="1400" dirty="0"/>
          </a:p>
        </p:txBody>
      </p:sp>
      <p:sp>
        <p:nvSpPr>
          <p:cNvPr id="20" name="Shape 14"/>
          <p:cNvSpPr/>
          <p:nvPr/>
        </p:nvSpPr>
        <p:spPr>
          <a:xfrm>
            <a:off x="7863840" y="1737360"/>
            <a:ext cx="3749040" cy="4480560"/>
          </a:xfrm>
          <a:prstGeom prst="roundRect">
            <a:avLst>
              <a:gd name="adj" fmla="val 2927"/>
            </a:avLst>
          </a:prstGeom>
          <a:solidFill>
            <a:srgbClr val="E3F1EF"/>
          </a:solidFill>
          <a:ln w="9525">
            <a:solidFill>
              <a:srgbClr val="E3F1EF"/>
            </a:solidFill>
            <a:prstDash val="solid"/>
          </a:ln>
          <a:effectLst>
            <a:outerShdw sx="100000" sy="100000" kx="0" ky="0" algn="bl" rotWithShape="0" blurRad="76200" dist="25400" dir="5400000">
              <a:srgbClr val="000000">
                <a:alpha val="12000"/>
              </a:srgbClr>
            </a:outerShdw>
          </a:effectLst>
        </p:spPr>
      </p:sp>
      <p:sp>
        <p:nvSpPr>
          <p:cNvPr id="21" name="Text 15"/>
          <p:cNvSpPr txBox="1"/>
          <p:nvPr/>
        </p:nvSpPr>
        <p:spPr>
          <a:xfrm>
            <a:off x="8138160" y="1965960"/>
            <a:ext cx="3200400" cy="36576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Khoảng thời gian vàng</a:t>
            </a:r>
            <a:endParaRPr lang="en-US" sz="1800" dirty="0"/>
          </a:p>
        </p:txBody>
      </p:sp>
      <p:sp>
        <p:nvSpPr>
          <p:cNvPr id="22" name="Text 16"/>
          <p:cNvSpPr txBox="1"/>
          <p:nvPr/>
        </p:nvSpPr>
        <p:spPr>
          <a:xfrm>
            <a:off x="8138160" y="2423160"/>
            <a:ext cx="3200400"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STEL là trung bình trượt 15 phút, nên khi khí tăng nhanh, STEL cần vài phút mới đuổi kịp.</a:t>
            </a:r>
            <a:endParaRPr lang="en-US" sz="1400" dirty="0"/>
          </a:p>
        </p:txBody>
      </p:sp>
      <p:sp>
        <p:nvSpPr>
          <p:cNvPr id="23" name="Text 17"/>
          <p:cNvSpPr txBox="1"/>
          <p:nvPr/>
        </p:nvSpPr>
        <p:spPr>
          <a:xfrm>
            <a:off x="8138160" y="3520440"/>
            <a:ext cx="3200400" cy="731520"/>
          </a:xfrm>
          <a:prstGeom prst="rect">
            <a:avLst/>
          </a:prstGeom>
          <a:noFill/>
          <a:ln/>
        </p:spPr>
        <p:txBody>
          <a:bodyPr wrap="square" lIns="0" tIns="0" rIns="0" bIns="0" rtlCol="0" anchor="ctr"/>
          <a:lstStyle/>
          <a:p>
            <a:pPr indent="0" marL="0">
              <a:buNone/>
            </a:pPr>
            <a:r>
              <a:rPr lang="en-US" sz="4000" b="1" dirty="0">
                <a:solidFill>
                  <a:srgbClr val="F59E0B"/>
                </a:solidFill>
                <a:latin typeface="Cambria" pitchFamily="34" charset="0"/>
                <a:ea typeface="Cambria" pitchFamily="34" charset="-122"/>
                <a:cs typeface="Cambria" pitchFamily="34" charset="-120"/>
              </a:rPr>
              <a:t>6,5 phút</a:t>
            </a:r>
            <a:endParaRPr lang="en-US" sz="4000" dirty="0"/>
          </a:p>
        </p:txBody>
      </p:sp>
      <p:sp>
        <p:nvSpPr>
          <p:cNvPr id="24" name="Text 18"/>
          <p:cNvSpPr txBox="1"/>
          <p:nvPr/>
        </p:nvSpPr>
        <p:spPr>
          <a:xfrm>
            <a:off x="8138160" y="4251960"/>
            <a:ext cx="320040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thời gian báo trước trung vị với CO</a:t>
            </a:r>
            <a:endParaRPr lang="en-US" sz="1300" dirty="0"/>
          </a:p>
        </p:txBody>
      </p:sp>
      <p:sp>
        <p:nvSpPr>
          <p:cNvPr id="25" name="Text 19"/>
          <p:cNvSpPr txBox="1"/>
          <p:nvPr/>
        </p:nvSpPr>
        <p:spPr>
          <a:xfrm>
            <a:off x="8138160" y="4663440"/>
            <a:ext cx="3200400" cy="731520"/>
          </a:xfrm>
          <a:prstGeom prst="rect">
            <a:avLst/>
          </a:prstGeom>
          <a:noFill/>
          <a:ln/>
        </p:spPr>
        <p:txBody>
          <a:bodyPr wrap="square" lIns="0" tIns="0" rIns="0" bIns="0" rtlCol="0" anchor="ctr"/>
          <a:lstStyle/>
          <a:p>
            <a:pPr indent="0" marL="0">
              <a:buNone/>
            </a:pPr>
            <a:r>
              <a:rPr lang="en-US" sz="4000" b="1" dirty="0">
                <a:solidFill>
                  <a:srgbClr val="F59E0B"/>
                </a:solidFill>
                <a:latin typeface="Cambria" pitchFamily="34" charset="0"/>
                <a:ea typeface="Cambria" pitchFamily="34" charset="-122"/>
                <a:cs typeface="Cambria" pitchFamily="34" charset="-120"/>
              </a:rPr>
              <a:t>12,7 phút</a:t>
            </a:r>
            <a:endParaRPr lang="en-US" sz="4000" dirty="0"/>
          </a:p>
        </p:txBody>
      </p:sp>
      <p:sp>
        <p:nvSpPr>
          <p:cNvPr id="26" name="Text 20"/>
          <p:cNvSpPr txBox="1"/>
          <p:nvPr/>
        </p:nvSpPr>
        <p:spPr>
          <a:xfrm>
            <a:off x="8138160" y="5394960"/>
            <a:ext cx="320040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thời gian báo trước trung vị với NO₂</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Chuẩn đánh giá: QCVN 03:2019/BYT</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Đánh giá theo nồng độ trung bình theo thời gian, không theo giá trị tức thời</a:t>
            </a:r>
            <a:endParaRPr lang="en-US" sz="1600" dirty="0"/>
          </a:p>
        </p:txBody>
      </p:sp>
      <p:sp>
        <p:nvSpPr>
          <p:cNvPr id="4" name="Shape 2"/>
          <p:cNvSpPr/>
          <p:nvPr/>
        </p:nvSpPr>
        <p:spPr>
          <a:xfrm>
            <a:off x="548640" y="1737360"/>
            <a:ext cx="2697480" cy="2377440"/>
          </a:xfrm>
          <a:prstGeom prst="roundRect">
            <a:avLst>
              <a:gd name="adj" fmla="val 4615"/>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874520"/>
            <a:ext cx="2194560" cy="502920"/>
          </a:xfrm>
          <a:prstGeom prst="rect">
            <a:avLst/>
          </a:prstGeom>
          <a:noFill/>
          <a:ln/>
        </p:spPr>
        <p:txBody>
          <a:bodyPr wrap="square" lIns="0" tIns="0" rIns="0" bIns="0" rtlCol="0" anchor="ctr"/>
          <a:lstStyle/>
          <a:p>
            <a:pPr indent="0" marL="0">
              <a:buNone/>
            </a:pPr>
            <a:r>
              <a:rPr lang="en-US" sz="2800" b="1" dirty="0">
                <a:solidFill>
                  <a:srgbClr val="0F766E"/>
                </a:solidFill>
                <a:latin typeface="Cambria" pitchFamily="34" charset="0"/>
                <a:ea typeface="Cambria" pitchFamily="34" charset="-122"/>
                <a:cs typeface="Cambria" pitchFamily="34" charset="-120"/>
              </a:rPr>
              <a:t>CO</a:t>
            </a:r>
            <a:endParaRPr lang="en-US" sz="2800" dirty="0"/>
          </a:p>
        </p:txBody>
      </p:sp>
      <p:sp>
        <p:nvSpPr>
          <p:cNvPr id="6" name="Text 4"/>
          <p:cNvSpPr txBox="1"/>
          <p:nvPr/>
        </p:nvSpPr>
        <p:spPr>
          <a:xfrm>
            <a:off x="822960" y="2423160"/>
            <a:ext cx="2194560" cy="8686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STEL 15 phút</a:t>
            </a:r>
            <a:endParaRPr lang="en-US" sz="1200" dirty="0"/>
          </a:p>
          <a:p>
            <a:pPr indent="0" marL="0">
              <a:buNone/>
            </a:pPr>
            <a:r>
              <a:rPr lang="en-US" sz="2400" b="1" dirty="0">
                <a:solidFill>
                  <a:srgbClr val="1F2937"/>
                </a:solidFill>
                <a:latin typeface="Calibri" pitchFamily="34" charset="0"/>
                <a:ea typeface="Calibri" pitchFamily="34" charset="-122"/>
                <a:cs typeface="Calibri" pitchFamily="34" charset="-120"/>
              </a:rPr>
              <a:t>34,92 ppm</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40 mg/m³</a:t>
            </a:r>
            <a:endParaRPr lang="en-US" sz="1200" dirty="0"/>
          </a:p>
        </p:txBody>
      </p:sp>
      <p:sp>
        <p:nvSpPr>
          <p:cNvPr id="7" name="Text 5"/>
          <p:cNvSpPr txBox="1"/>
          <p:nvPr/>
        </p:nvSpPr>
        <p:spPr>
          <a:xfrm>
            <a:off x="822960" y="3383280"/>
            <a:ext cx="2286000" cy="5486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TWA 8 giờ</a:t>
            </a:r>
            <a:endParaRPr lang="en-US" sz="1200" dirty="0"/>
          </a:p>
          <a:p>
            <a:pPr indent="0" marL="0">
              <a:buNone/>
            </a:pPr>
            <a:r>
              <a:rPr lang="en-US" sz="1500" b="1" dirty="0">
                <a:solidFill>
                  <a:srgbClr val="1F2937"/>
                </a:solidFill>
                <a:latin typeface="Calibri" pitchFamily="34" charset="0"/>
                <a:ea typeface="Calibri" pitchFamily="34" charset="-122"/>
                <a:cs typeface="Calibri" pitchFamily="34" charset="-120"/>
              </a:rPr>
              <a:t>17,46 ppm  ·  20 mg/m³</a:t>
            </a:r>
            <a:endParaRPr lang="en-US" sz="1200" dirty="0"/>
          </a:p>
        </p:txBody>
      </p:sp>
      <p:sp>
        <p:nvSpPr>
          <p:cNvPr id="8" name="Shape 6"/>
          <p:cNvSpPr/>
          <p:nvPr/>
        </p:nvSpPr>
        <p:spPr>
          <a:xfrm>
            <a:off x="3474720" y="1737360"/>
            <a:ext cx="2697480" cy="2377440"/>
          </a:xfrm>
          <a:prstGeom prst="roundRect">
            <a:avLst>
              <a:gd name="adj" fmla="val 4615"/>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749040" y="1874520"/>
            <a:ext cx="2194560" cy="502920"/>
          </a:xfrm>
          <a:prstGeom prst="rect">
            <a:avLst/>
          </a:prstGeom>
          <a:noFill/>
          <a:ln/>
        </p:spPr>
        <p:txBody>
          <a:bodyPr wrap="square" lIns="0" tIns="0" rIns="0" bIns="0" rtlCol="0" anchor="ctr"/>
          <a:lstStyle/>
          <a:p>
            <a:pPr indent="0" marL="0">
              <a:buNone/>
            </a:pPr>
            <a:r>
              <a:rPr lang="en-US" sz="2800" b="1" dirty="0">
                <a:solidFill>
                  <a:srgbClr val="0F766E"/>
                </a:solidFill>
                <a:latin typeface="Cambria" pitchFamily="34" charset="0"/>
                <a:ea typeface="Cambria" pitchFamily="34" charset="-122"/>
                <a:cs typeface="Cambria" pitchFamily="34" charset="-120"/>
              </a:rPr>
              <a:t>NO₂</a:t>
            </a:r>
            <a:endParaRPr lang="en-US" sz="2800" dirty="0"/>
          </a:p>
        </p:txBody>
      </p:sp>
      <p:sp>
        <p:nvSpPr>
          <p:cNvPr id="10" name="Text 8"/>
          <p:cNvSpPr txBox="1"/>
          <p:nvPr/>
        </p:nvSpPr>
        <p:spPr>
          <a:xfrm>
            <a:off x="3749040" y="2423160"/>
            <a:ext cx="2194560" cy="8686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STEL 15 phút</a:t>
            </a:r>
            <a:endParaRPr lang="en-US" sz="1200" dirty="0"/>
          </a:p>
          <a:p>
            <a:pPr indent="0" marL="0">
              <a:buNone/>
            </a:pPr>
            <a:r>
              <a:rPr lang="en-US" sz="2400" b="1" dirty="0">
                <a:solidFill>
                  <a:srgbClr val="1F2937"/>
                </a:solidFill>
                <a:latin typeface="Calibri" pitchFamily="34" charset="0"/>
                <a:ea typeface="Calibri" pitchFamily="34" charset="-122"/>
                <a:cs typeface="Calibri" pitchFamily="34" charset="-120"/>
              </a:rPr>
              <a:t>5,31 ppm</a:t>
            </a:r>
            <a:endParaRPr lang="en-US" sz="1200" dirty="0"/>
          </a:p>
          <a:p>
            <a:pPr indent="0" marL="0">
              <a:buNone/>
            </a:pPr>
            <a:r>
              <a:rPr lang="en-US" sz="1200" dirty="0">
                <a:solidFill>
                  <a:srgbClr val="64748B"/>
                </a:solidFill>
                <a:latin typeface="Calibri" pitchFamily="34" charset="0"/>
                <a:ea typeface="Calibri" pitchFamily="34" charset="-122"/>
                <a:cs typeface="Calibri" pitchFamily="34" charset="-120"/>
              </a:rPr>
              <a:t>10 mg/m³</a:t>
            </a:r>
            <a:endParaRPr lang="en-US" sz="1200" dirty="0"/>
          </a:p>
        </p:txBody>
      </p:sp>
      <p:sp>
        <p:nvSpPr>
          <p:cNvPr id="11" name="Text 9"/>
          <p:cNvSpPr txBox="1"/>
          <p:nvPr/>
        </p:nvSpPr>
        <p:spPr>
          <a:xfrm>
            <a:off x="3749040" y="3383280"/>
            <a:ext cx="2286000" cy="54864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TWA 8 giờ</a:t>
            </a:r>
            <a:endParaRPr lang="en-US" sz="1200" dirty="0"/>
          </a:p>
          <a:p>
            <a:pPr indent="0" marL="0">
              <a:buNone/>
            </a:pPr>
            <a:r>
              <a:rPr lang="en-US" sz="1500" b="1" dirty="0">
                <a:solidFill>
                  <a:srgbClr val="1F2937"/>
                </a:solidFill>
                <a:latin typeface="Calibri" pitchFamily="34" charset="0"/>
                <a:ea typeface="Calibri" pitchFamily="34" charset="-122"/>
                <a:cs typeface="Calibri" pitchFamily="34" charset="-120"/>
              </a:rPr>
              <a:t>2,66 ppm  ·  5 mg/m³</a:t>
            </a:r>
            <a:endParaRPr lang="en-US" sz="1200" dirty="0"/>
          </a:p>
        </p:txBody>
      </p:sp>
      <p:sp>
        <p:nvSpPr>
          <p:cNvPr id="12" name="Text 10"/>
          <p:cNvSpPr txBox="1"/>
          <p:nvPr/>
        </p:nvSpPr>
        <p:spPr>
          <a:xfrm>
            <a:off x="548640" y="4389120"/>
            <a:ext cx="5669280" cy="365760"/>
          </a:xfrm>
          <a:prstGeom prst="rect">
            <a:avLst/>
          </a:prstGeom>
          <a:noFill/>
          <a:ln/>
        </p:spPr>
        <p:txBody>
          <a:bodyPr wrap="square" lIns="0" tIns="0" rIns="0" bIns="0" rtlCol="0" anchor="t"/>
          <a:lstStyle/>
          <a:p>
            <a:pPr indent="0" marL="0">
              <a:buNone/>
            </a:pPr>
            <a:r>
              <a:rPr lang="en-US" sz="1300" i="1" dirty="0">
                <a:solidFill>
                  <a:srgbClr val="64748B"/>
                </a:solidFill>
                <a:latin typeface="Calibri" pitchFamily="34" charset="0"/>
                <a:ea typeface="Calibri" pitchFamily="34" charset="-122"/>
                <a:cs typeface="Calibri" pitchFamily="34" charset="-120"/>
              </a:rPr>
              <a:t>Quy đổi mg/m³ → ppm ở 25 °C, 1 atm: C(ppm) = C(mg/m³) × 24,45 / M</a:t>
            </a:r>
            <a:endParaRPr lang="en-US" sz="1300" dirty="0"/>
          </a:p>
        </p:txBody>
      </p:sp>
      <p:sp>
        <p:nvSpPr>
          <p:cNvPr id="13" name="Text 11"/>
          <p:cNvSpPr txBox="1"/>
          <p:nvPr/>
        </p:nvSpPr>
        <p:spPr>
          <a:xfrm>
            <a:off x="6858000" y="1737360"/>
            <a:ext cx="4572000" cy="411480"/>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Ba mức cảnh báo</a:t>
            </a:r>
            <a:endParaRPr lang="en-US" sz="2000" dirty="0"/>
          </a:p>
        </p:txBody>
      </p:sp>
      <p:sp>
        <p:nvSpPr>
          <p:cNvPr id="14" name="Shape 12"/>
          <p:cNvSpPr/>
          <p:nvPr/>
        </p:nvSpPr>
        <p:spPr>
          <a:xfrm>
            <a:off x="6858000" y="2331720"/>
            <a:ext cx="4754880" cy="1005840"/>
          </a:xfrm>
          <a:prstGeom prst="roundRect">
            <a:avLst>
              <a:gd name="adj" fmla="val 10909"/>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086600" y="2532888"/>
            <a:ext cx="603504" cy="603504"/>
          </a:xfrm>
          <a:prstGeom prst="ellipse">
            <a:avLst/>
          </a:prstGeom>
          <a:solidFill>
            <a:srgbClr val="16A34A"/>
          </a:solidFill>
          <a:ln w="12700">
            <a:solidFill>
              <a:srgbClr val="16A34A"/>
            </a:solidFill>
            <a:prstDash val="solid"/>
          </a:ln>
        </p:spPr>
      </p:sp>
      <p:sp>
        <p:nvSpPr>
          <p:cNvPr id="16" name="Text 14"/>
          <p:cNvSpPr txBox="1"/>
          <p:nvPr/>
        </p:nvSpPr>
        <p:spPr>
          <a:xfrm>
            <a:off x="7086600" y="253288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a:t>
            </a:r>
            <a:endParaRPr lang="en-US" sz="2200" dirty="0"/>
          </a:p>
        </p:txBody>
      </p:sp>
      <p:sp>
        <p:nvSpPr>
          <p:cNvPr id="17" name="Text 15"/>
          <p:cNvSpPr txBox="1"/>
          <p:nvPr/>
        </p:nvSpPr>
        <p:spPr>
          <a:xfrm>
            <a:off x="7909560" y="2441448"/>
            <a:ext cx="356616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An toàn</a:t>
            </a:r>
            <a:endParaRPr lang="en-US" sz="1700" dirty="0"/>
          </a:p>
        </p:txBody>
      </p:sp>
      <p:sp>
        <p:nvSpPr>
          <p:cNvPr id="18" name="Text 16"/>
          <p:cNvSpPr txBox="1"/>
          <p:nvPr/>
        </p:nvSpPr>
        <p:spPr>
          <a:xfrm>
            <a:off x="7909560" y="2807208"/>
            <a:ext cx="3566160" cy="4572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Không vượt, không có dấu hiệu sắp vượt</a:t>
            </a:r>
            <a:endParaRPr lang="en-US" sz="1300" dirty="0"/>
          </a:p>
        </p:txBody>
      </p:sp>
      <p:sp>
        <p:nvSpPr>
          <p:cNvPr id="19" name="Shape 17"/>
          <p:cNvSpPr/>
          <p:nvPr/>
        </p:nvSpPr>
        <p:spPr>
          <a:xfrm>
            <a:off x="6858000" y="3520440"/>
            <a:ext cx="4754880" cy="1005840"/>
          </a:xfrm>
          <a:prstGeom prst="roundRect">
            <a:avLst>
              <a:gd name="adj" fmla="val 10909"/>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086600" y="3721608"/>
            <a:ext cx="603504" cy="603504"/>
          </a:xfrm>
          <a:prstGeom prst="ellipse">
            <a:avLst/>
          </a:prstGeom>
          <a:solidFill>
            <a:srgbClr val="F59E0B"/>
          </a:solidFill>
          <a:ln w="12700">
            <a:solidFill>
              <a:srgbClr val="F59E0B"/>
            </a:solidFill>
            <a:prstDash val="solid"/>
          </a:ln>
        </p:spPr>
      </p:sp>
      <p:sp>
        <p:nvSpPr>
          <p:cNvPr id="21" name="Text 19"/>
          <p:cNvSpPr txBox="1"/>
          <p:nvPr/>
        </p:nvSpPr>
        <p:spPr>
          <a:xfrm>
            <a:off x="7086600" y="372160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22" name="Text 20"/>
          <p:cNvSpPr txBox="1"/>
          <p:nvPr/>
        </p:nvSpPr>
        <p:spPr>
          <a:xfrm>
            <a:off x="7909560" y="3630168"/>
            <a:ext cx="356616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Cảnh báo sớm</a:t>
            </a:r>
            <a:endParaRPr lang="en-US" sz="1700" dirty="0"/>
          </a:p>
        </p:txBody>
      </p:sp>
      <p:sp>
        <p:nvSpPr>
          <p:cNvPr id="23" name="Text 21"/>
          <p:cNvSpPr txBox="1"/>
          <p:nvPr/>
        </p:nvSpPr>
        <p:spPr>
          <a:xfrm>
            <a:off x="7909560" y="3995928"/>
            <a:ext cx="3566160" cy="4572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Dự đoán STEL vượt ngưỡng trong 10 phút tới · còi 3 tiếng dài</a:t>
            </a:r>
            <a:endParaRPr lang="en-US" sz="1300" dirty="0"/>
          </a:p>
        </p:txBody>
      </p:sp>
      <p:sp>
        <p:nvSpPr>
          <p:cNvPr id="24" name="Shape 22"/>
          <p:cNvSpPr/>
          <p:nvPr/>
        </p:nvSpPr>
        <p:spPr>
          <a:xfrm>
            <a:off x="6858000" y="4709160"/>
            <a:ext cx="4754880" cy="1005840"/>
          </a:xfrm>
          <a:prstGeom prst="roundRect">
            <a:avLst>
              <a:gd name="adj" fmla="val 10909"/>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7086600" y="4910328"/>
            <a:ext cx="603504" cy="603504"/>
          </a:xfrm>
          <a:prstGeom prst="ellipse">
            <a:avLst/>
          </a:prstGeom>
          <a:solidFill>
            <a:srgbClr val="DC2626"/>
          </a:solidFill>
          <a:ln w="12700">
            <a:solidFill>
              <a:srgbClr val="DC2626"/>
            </a:solidFill>
            <a:prstDash val="solid"/>
          </a:ln>
        </p:spPr>
      </p:sp>
      <p:sp>
        <p:nvSpPr>
          <p:cNvPr id="26" name="Text 24"/>
          <p:cNvSpPr txBox="1"/>
          <p:nvPr/>
        </p:nvSpPr>
        <p:spPr>
          <a:xfrm>
            <a:off x="7086600" y="4910328"/>
            <a:ext cx="603504" cy="603504"/>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27" name="Text 25"/>
          <p:cNvSpPr txBox="1"/>
          <p:nvPr/>
        </p:nvSpPr>
        <p:spPr>
          <a:xfrm>
            <a:off x="7909560" y="4818888"/>
            <a:ext cx="356616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Vượt ngưỡng</a:t>
            </a:r>
            <a:endParaRPr lang="en-US" sz="1700" dirty="0"/>
          </a:p>
        </p:txBody>
      </p:sp>
      <p:sp>
        <p:nvSpPr>
          <p:cNvPr id="28" name="Text 26"/>
          <p:cNvSpPr txBox="1"/>
          <p:nvPr/>
        </p:nvSpPr>
        <p:spPr>
          <a:xfrm>
            <a:off x="7909560" y="5184648"/>
            <a:ext cx="3566160" cy="45720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STEL hoặc TWA đo được đã vượt · còi 4 tiếng rất dài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Kiến trúc xử lý trên thiết bị</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Toàn bộ chuỗi chạy trên ESP32-S3, mỗi 10 giây một lần quyết định</a:t>
            </a:r>
            <a:endParaRPr lang="en-US" sz="1600" dirty="0"/>
          </a:p>
        </p:txBody>
      </p:sp>
      <p:sp>
        <p:nvSpPr>
          <p:cNvPr id="4" name="Shape 2"/>
          <p:cNvSpPr/>
          <p:nvPr/>
        </p:nvSpPr>
        <p:spPr>
          <a:xfrm>
            <a:off x="548640" y="1828800"/>
            <a:ext cx="1920240" cy="23774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1143000" y="2057400"/>
            <a:ext cx="731520" cy="73152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1303934" y="2218334"/>
            <a:ext cx="409651" cy="409651"/>
          </a:xfrm>
          <a:prstGeom prst="rect">
            <a:avLst/>
          </a:prstGeom>
        </p:spPr>
      </p:pic>
      <p:sp>
        <p:nvSpPr>
          <p:cNvPr id="7" name="Text 4"/>
          <p:cNvSpPr txBox="1"/>
          <p:nvPr/>
        </p:nvSpPr>
        <p:spPr>
          <a:xfrm>
            <a:off x="640080" y="2926080"/>
            <a:ext cx="1737360" cy="365760"/>
          </a:xfrm>
          <a:prstGeom prst="rect">
            <a:avLst/>
          </a:prstGeom>
          <a:noFill/>
          <a:ln/>
        </p:spPr>
        <p:txBody>
          <a:bodyPr wrap="square" lIns="0" tIns="0" rIns="0" bIns="0" rtlCol="0" anchor="ctr"/>
          <a:lstStyle/>
          <a:p>
            <a:pPr algn="ctr" indent="0" marL="0">
              <a:buNone/>
            </a:pPr>
            <a:r>
              <a:rPr lang="en-US" sz="1700" b="1" dirty="0">
                <a:solidFill>
                  <a:srgbClr val="1F2937"/>
                </a:solidFill>
                <a:latin typeface="Cambria" pitchFamily="34" charset="0"/>
                <a:ea typeface="Cambria" pitchFamily="34" charset="-122"/>
                <a:cs typeface="Cambria" pitchFamily="34" charset="-120"/>
              </a:rPr>
              <a:t>Thu thập</a:t>
            </a:r>
            <a:endParaRPr lang="en-US" sz="1700" dirty="0"/>
          </a:p>
        </p:txBody>
      </p:sp>
      <p:sp>
        <p:nvSpPr>
          <p:cNvPr id="8" name="Text 5"/>
          <p:cNvSpPr txBox="1"/>
          <p:nvPr/>
        </p:nvSpPr>
        <p:spPr>
          <a:xfrm>
            <a:off x="685800" y="3310128"/>
            <a:ext cx="1645920" cy="822960"/>
          </a:xfrm>
          <a:prstGeom prst="rect">
            <a:avLst/>
          </a:prstGeom>
          <a:noFill/>
          <a:ln/>
        </p:spPr>
        <p:txBody>
          <a:bodyPr wrap="square" lIns="0" tIns="0" rIns="0" bIns="0"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CO, NO₂, nhiệt độ, độ ẩm mỗi 5 giây</a:t>
            </a:r>
            <a:endParaRPr lang="en-US" sz="1300" dirty="0"/>
          </a:p>
        </p:txBody>
      </p:sp>
      <p:sp>
        <p:nvSpPr>
          <p:cNvPr id="9" name="Shape 6"/>
          <p:cNvSpPr/>
          <p:nvPr/>
        </p:nvSpPr>
        <p:spPr>
          <a:xfrm>
            <a:off x="2545804" y="2880360"/>
            <a:ext cx="219456" cy="329184"/>
          </a:xfrm>
          <a:prstGeom prst="chevron">
            <a:avLst/>
          </a:prstGeom>
          <a:solidFill>
            <a:srgbClr val="0F766E"/>
          </a:solidFill>
          <a:ln w="12700">
            <a:solidFill>
              <a:srgbClr val="0F766E"/>
            </a:solidFill>
            <a:prstDash val="solid"/>
          </a:ln>
        </p:spPr>
      </p:sp>
      <p:sp>
        <p:nvSpPr>
          <p:cNvPr id="10" name="Shape 7"/>
          <p:cNvSpPr/>
          <p:nvPr/>
        </p:nvSpPr>
        <p:spPr>
          <a:xfrm>
            <a:off x="2842184" y="1828800"/>
            <a:ext cx="1920240" cy="23774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436544" y="2057400"/>
            <a:ext cx="731520" cy="731520"/>
          </a:xfrm>
          <a:prstGeom prst="ellipse">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3597478" y="2218334"/>
            <a:ext cx="409651" cy="409651"/>
          </a:xfrm>
          <a:prstGeom prst="rect">
            <a:avLst/>
          </a:prstGeom>
        </p:spPr>
      </p:pic>
      <p:sp>
        <p:nvSpPr>
          <p:cNvPr id="13" name="Text 9"/>
          <p:cNvSpPr txBox="1"/>
          <p:nvPr/>
        </p:nvSpPr>
        <p:spPr>
          <a:xfrm>
            <a:off x="2933624" y="2926080"/>
            <a:ext cx="1737360" cy="365760"/>
          </a:xfrm>
          <a:prstGeom prst="rect">
            <a:avLst/>
          </a:prstGeom>
          <a:noFill/>
          <a:ln/>
        </p:spPr>
        <p:txBody>
          <a:bodyPr wrap="square" lIns="0" tIns="0" rIns="0" bIns="0" rtlCol="0" anchor="ctr"/>
          <a:lstStyle/>
          <a:p>
            <a:pPr algn="ctr" indent="0" marL="0">
              <a:buNone/>
            </a:pPr>
            <a:r>
              <a:rPr lang="en-US" sz="1700" b="1" dirty="0">
                <a:solidFill>
                  <a:srgbClr val="1F2937"/>
                </a:solidFill>
                <a:latin typeface="Cambria" pitchFamily="34" charset="0"/>
                <a:ea typeface="Cambria" pitchFamily="34" charset="-122"/>
                <a:cs typeface="Cambria" pitchFamily="34" charset="-120"/>
              </a:rPr>
              <a:t>Tiền xử lý</a:t>
            </a:r>
            <a:endParaRPr lang="en-US" sz="1700" dirty="0"/>
          </a:p>
        </p:txBody>
      </p:sp>
      <p:sp>
        <p:nvSpPr>
          <p:cNvPr id="14" name="Text 10"/>
          <p:cNvSpPr txBox="1"/>
          <p:nvPr/>
        </p:nvSpPr>
        <p:spPr>
          <a:xfrm>
            <a:off x="2979344" y="3310128"/>
            <a:ext cx="1645920" cy="822960"/>
          </a:xfrm>
          <a:prstGeom prst="rect">
            <a:avLst/>
          </a:prstGeom>
          <a:noFill/>
          <a:ln/>
        </p:spPr>
        <p:txBody>
          <a:bodyPr wrap="square" lIns="0" tIns="0" rIns="0" bIns="0"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Preheat, gộp 10 s, STEL, TWA, ngoại suy</a:t>
            </a:r>
            <a:endParaRPr lang="en-US" sz="1300" dirty="0"/>
          </a:p>
        </p:txBody>
      </p:sp>
      <p:sp>
        <p:nvSpPr>
          <p:cNvPr id="15" name="Shape 11"/>
          <p:cNvSpPr/>
          <p:nvPr/>
        </p:nvSpPr>
        <p:spPr>
          <a:xfrm>
            <a:off x="4839348" y="2880360"/>
            <a:ext cx="219456" cy="329184"/>
          </a:xfrm>
          <a:prstGeom prst="chevron">
            <a:avLst/>
          </a:prstGeom>
          <a:solidFill>
            <a:srgbClr val="0F766E"/>
          </a:solidFill>
          <a:ln w="12700">
            <a:solidFill>
              <a:srgbClr val="0F766E"/>
            </a:solidFill>
            <a:prstDash val="solid"/>
          </a:ln>
        </p:spPr>
      </p:sp>
      <p:sp>
        <p:nvSpPr>
          <p:cNvPr id="16" name="Shape 12"/>
          <p:cNvSpPr/>
          <p:nvPr/>
        </p:nvSpPr>
        <p:spPr>
          <a:xfrm>
            <a:off x="5135728" y="1828800"/>
            <a:ext cx="1920240" cy="2377440"/>
          </a:xfrm>
          <a:prstGeom prst="roundRect">
            <a:avLst>
              <a:gd name="adj" fmla="val 5714"/>
            </a:avLst>
          </a:prstGeom>
          <a:solidFill>
            <a:srgbClr val="FEF3C7"/>
          </a:solidFill>
          <a:ln w="9525">
            <a:solidFill>
              <a:srgbClr val="FEF3C7"/>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5730088" y="2057400"/>
            <a:ext cx="731520" cy="731520"/>
          </a:xfrm>
          <a:prstGeom prst="ellipse">
            <a:avLst/>
          </a:prstGeom>
          <a:solidFill>
            <a:srgbClr val="F59E0B"/>
          </a:solidFill>
          <a:ln w="12700">
            <a:solidFill>
              <a:srgbClr val="F59E0B"/>
            </a:solidFill>
            <a:prstDash val="solid"/>
          </a:ln>
        </p:spPr>
      </p:sp>
      <p:pic>
        <p:nvPicPr>
          <p:cNvPr id="18" name="Image 2" descr="preencoded.png">    </p:cNvPr>
          <p:cNvPicPr>
            <a:picLocks noChangeAspect="1"/>
          </p:cNvPicPr>
          <p:nvPr/>
        </p:nvPicPr>
        <p:blipFill>
          <a:blip r:embed="rId3"/>
          <a:stretch>
            <a:fillRect/>
          </a:stretch>
        </p:blipFill>
        <p:spPr>
          <a:xfrm>
            <a:off x="5891022" y="2218334"/>
            <a:ext cx="409651" cy="409651"/>
          </a:xfrm>
          <a:prstGeom prst="rect">
            <a:avLst/>
          </a:prstGeom>
        </p:spPr>
      </p:pic>
      <p:sp>
        <p:nvSpPr>
          <p:cNvPr id="19" name="Text 14"/>
          <p:cNvSpPr txBox="1"/>
          <p:nvPr/>
        </p:nvSpPr>
        <p:spPr>
          <a:xfrm>
            <a:off x="5227168" y="2926080"/>
            <a:ext cx="1737360" cy="365760"/>
          </a:xfrm>
          <a:prstGeom prst="rect">
            <a:avLst/>
          </a:prstGeom>
          <a:noFill/>
          <a:ln/>
        </p:spPr>
        <p:txBody>
          <a:bodyPr wrap="square" lIns="0" tIns="0" rIns="0" bIns="0" rtlCol="0" anchor="ctr"/>
          <a:lstStyle/>
          <a:p>
            <a:pPr algn="ctr" indent="0" marL="0">
              <a:buNone/>
            </a:pPr>
            <a:r>
              <a:rPr lang="en-US" sz="1700" b="1" dirty="0">
                <a:solidFill>
                  <a:srgbClr val="1F2937"/>
                </a:solidFill>
                <a:latin typeface="Cambria" pitchFamily="34" charset="0"/>
                <a:ea typeface="Cambria" pitchFamily="34" charset="-122"/>
                <a:cs typeface="Cambria" pitchFamily="34" charset="-120"/>
              </a:rPr>
              <a:t>Suy luận AI</a:t>
            </a:r>
            <a:endParaRPr lang="en-US" sz="1700" dirty="0"/>
          </a:p>
        </p:txBody>
      </p:sp>
      <p:sp>
        <p:nvSpPr>
          <p:cNvPr id="20" name="Text 15"/>
          <p:cNvSpPr txBox="1"/>
          <p:nvPr/>
        </p:nvSpPr>
        <p:spPr>
          <a:xfrm>
            <a:off x="5272888" y="3310128"/>
            <a:ext cx="1645920" cy="822960"/>
          </a:xfrm>
          <a:prstGeom prst="rect">
            <a:avLst/>
          </a:prstGeom>
          <a:noFill/>
          <a:ln/>
        </p:spPr>
        <p:txBody>
          <a:bodyPr wrap="square" lIns="0" tIns="0" rIns="0" bIns="0"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1D-CNN INT8 trên cửa sổ 20 phút</a:t>
            </a:r>
            <a:endParaRPr lang="en-US" sz="1300" dirty="0"/>
          </a:p>
        </p:txBody>
      </p:sp>
      <p:sp>
        <p:nvSpPr>
          <p:cNvPr id="21" name="Shape 16"/>
          <p:cNvSpPr/>
          <p:nvPr/>
        </p:nvSpPr>
        <p:spPr>
          <a:xfrm>
            <a:off x="7132892" y="2880360"/>
            <a:ext cx="219456" cy="329184"/>
          </a:xfrm>
          <a:prstGeom prst="chevron">
            <a:avLst/>
          </a:prstGeom>
          <a:solidFill>
            <a:srgbClr val="0F766E"/>
          </a:solidFill>
          <a:ln w="12700">
            <a:solidFill>
              <a:srgbClr val="0F766E"/>
            </a:solidFill>
            <a:prstDash val="solid"/>
          </a:ln>
        </p:spPr>
      </p:sp>
      <p:sp>
        <p:nvSpPr>
          <p:cNvPr id="22" name="Shape 17"/>
          <p:cNvSpPr/>
          <p:nvPr/>
        </p:nvSpPr>
        <p:spPr>
          <a:xfrm>
            <a:off x="7429271" y="1828800"/>
            <a:ext cx="1920240" cy="23774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8023631" y="2057400"/>
            <a:ext cx="731520" cy="731520"/>
          </a:xfrm>
          <a:prstGeom prst="ellipse">
            <a:avLst/>
          </a:prstGeom>
          <a:solidFill>
            <a:srgbClr val="0F766E"/>
          </a:solidFill>
          <a:ln w="12700">
            <a:solidFill>
              <a:srgbClr val="0F766E"/>
            </a:solidFill>
            <a:prstDash val="solid"/>
          </a:ln>
        </p:spPr>
      </p:sp>
      <p:pic>
        <p:nvPicPr>
          <p:cNvPr id="24" name="Image 3" descr="preencoded.png">    </p:cNvPr>
          <p:cNvPicPr>
            <a:picLocks noChangeAspect="1"/>
          </p:cNvPicPr>
          <p:nvPr/>
        </p:nvPicPr>
        <p:blipFill>
          <a:blip r:embed="rId4"/>
          <a:stretch>
            <a:fillRect/>
          </a:stretch>
        </p:blipFill>
        <p:spPr>
          <a:xfrm>
            <a:off x="8184566" y="2218334"/>
            <a:ext cx="409651" cy="409651"/>
          </a:xfrm>
          <a:prstGeom prst="rect">
            <a:avLst/>
          </a:prstGeom>
        </p:spPr>
      </p:pic>
      <p:sp>
        <p:nvSpPr>
          <p:cNvPr id="25" name="Text 19"/>
          <p:cNvSpPr txBox="1"/>
          <p:nvPr/>
        </p:nvSpPr>
        <p:spPr>
          <a:xfrm>
            <a:off x="7520711" y="2926080"/>
            <a:ext cx="1737360" cy="365760"/>
          </a:xfrm>
          <a:prstGeom prst="rect">
            <a:avLst/>
          </a:prstGeom>
          <a:noFill/>
          <a:ln/>
        </p:spPr>
        <p:txBody>
          <a:bodyPr wrap="square" lIns="0" tIns="0" rIns="0" bIns="0" rtlCol="0" anchor="ctr"/>
          <a:lstStyle/>
          <a:p>
            <a:pPr algn="ctr" indent="0" marL="0">
              <a:buNone/>
            </a:pPr>
            <a:r>
              <a:rPr lang="en-US" sz="1700" b="1" dirty="0">
                <a:solidFill>
                  <a:srgbClr val="1F2937"/>
                </a:solidFill>
                <a:latin typeface="Cambria" pitchFamily="34" charset="0"/>
                <a:ea typeface="Cambria" pitchFamily="34" charset="-122"/>
                <a:cs typeface="Cambria" pitchFamily="34" charset="-120"/>
              </a:rPr>
              <a:t>Quyết định</a:t>
            </a:r>
            <a:endParaRPr lang="en-US" sz="1700" dirty="0"/>
          </a:p>
        </p:txBody>
      </p:sp>
      <p:sp>
        <p:nvSpPr>
          <p:cNvPr id="26" name="Text 20"/>
          <p:cNvSpPr txBox="1"/>
          <p:nvPr/>
        </p:nvSpPr>
        <p:spPr>
          <a:xfrm>
            <a:off x="7566431" y="3310128"/>
            <a:ext cx="1645920" cy="822960"/>
          </a:xfrm>
          <a:prstGeom prst="rect">
            <a:avLst/>
          </a:prstGeom>
          <a:noFill/>
          <a:ln/>
        </p:spPr>
        <p:txBody>
          <a:bodyPr wrap="square" lIns="0" tIns="0" rIns="0" bIns="0"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AI hoặc ngoại suy hoặc luật QCVN, có chống nhiễu</a:t>
            </a:r>
            <a:endParaRPr lang="en-US" sz="1300" dirty="0"/>
          </a:p>
        </p:txBody>
      </p:sp>
      <p:sp>
        <p:nvSpPr>
          <p:cNvPr id="27" name="Shape 21"/>
          <p:cNvSpPr/>
          <p:nvPr/>
        </p:nvSpPr>
        <p:spPr>
          <a:xfrm>
            <a:off x="9426435" y="2880360"/>
            <a:ext cx="219456" cy="329184"/>
          </a:xfrm>
          <a:prstGeom prst="chevron">
            <a:avLst/>
          </a:prstGeom>
          <a:solidFill>
            <a:srgbClr val="0F766E"/>
          </a:solidFill>
          <a:ln w="12700">
            <a:solidFill>
              <a:srgbClr val="0F766E"/>
            </a:solidFill>
            <a:prstDash val="solid"/>
          </a:ln>
        </p:spPr>
      </p:sp>
      <p:sp>
        <p:nvSpPr>
          <p:cNvPr id="28" name="Shape 22"/>
          <p:cNvSpPr/>
          <p:nvPr/>
        </p:nvSpPr>
        <p:spPr>
          <a:xfrm>
            <a:off x="9722815" y="1828800"/>
            <a:ext cx="1920240" cy="23774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9" name="Shape 23"/>
          <p:cNvSpPr/>
          <p:nvPr/>
        </p:nvSpPr>
        <p:spPr>
          <a:xfrm>
            <a:off x="10317175" y="2057400"/>
            <a:ext cx="731520" cy="731520"/>
          </a:xfrm>
          <a:prstGeom prst="ellipse">
            <a:avLst/>
          </a:prstGeom>
          <a:solidFill>
            <a:srgbClr val="0F766E"/>
          </a:solidFill>
          <a:ln w="12700">
            <a:solidFill>
              <a:srgbClr val="0F766E"/>
            </a:solidFill>
            <a:prstDash val="solid"/>
          </a:ln>
        </p:spPr>
      </p:sp>
      <p:pic>
        <p:nvPicPr>
          <p:cNvPr id="30" name="Image 4" descr="preencoded.png">    </p:cNvPr>
          <p:cNvPicPr>
            <a:picLocks noChangeAspect="1"/>
          </p:cNvPicPr>
          <p:nvPr/>
        </p:nvPicPr>
        <p:blipFill>
          <a:blip r:embed="rId5"/>
          <a:stretch>
            <a:fillRect/>
          </a:stretch>
        </p:blipFill>
        <p:spPr>
          <a:xfrm>
            <a:off x="10478110" y="2218334"/>
            <a:ext cx="409651" cy="409651"/>
          </a:xfrm>
          <a:prstGeom prst="rect">
            <a:avLst/>
          </a:prstGeom>
        </p:spPr>
      </p:pic>
      <p:sp>
        <p:nvSpPr>
          <p:cNvPr id="31" name="Text 24"/>
          <p:cNvSpPr txBox="1"/>
          <p:nvPr/>
        </p:nvSpPr>
        <p:spPr>
          <a:xfrm>
            <a:off x="9814255" y="2926080"/>
            <a:ext cx="1737360" cy="365760"/>
          </a:xfrm>
          <a:prstGeom prst="rect">
            <a:avLst/>
          </a:prstGeom>
          <a:noFill/>
          <a:ln/>
        </p:spPr>
        <p:txBody>
          <a:bodyPr wrap="square" lIns="0" tIns="0" rIns="0" bIns="0" rtlCol="0" anchor="ctr"/>
          <a:lstStyle/>
          <a:p>
            <a:pPr algn="ctr" indent="0" marL="0">
              <a:buNone/>
            </a:pPr>
            <a:r>
              <a:rPr lang="en-US" sz="1700" b="1" dirty="0">
                <a:solidFill>
                  <a:srgbClr val="1F2937"/>
                </a:solidFill>
                <a:latin typeface="Cambria" pitchFamily="34" charset="0"/>
                <a:ea typeface="Cambria" pitchFamily="34" charset="-122"/>
                <a:cs typeface="Cambria" pitchFamily="34" charset="-120"/>
              </a:rPr>
              <a:t>Phản hồi</a:t>
            </a:r>
            <a:endParaRPr lang="en-US" sz="1700" dirty="0"/>
          </a:p>
        </p:txBody>
      </p:sp>
      <p:sp>
        <p:nvSpPr>
          <p:cNvPr id="32" name="Text 25"/>
          <p:cNvSpPr txBox="1"/>
          <p:nvPr/>
        </p:nvSpPr>
        <p:spPr>
          <a:xfrm>
            <a:off x="9859975" y="3310128"/>
            <a:ext cx="1645920" cy="822960"/>
          </a:xfrm>
          <a:prstGeom prst="rect">
            <a:avLst/>
          </a:prstGeom>
          <a:noFill/>
          <a:ln/>
        </p:spPr>
        <p:txBody>
          <a:bodyPr wrap="square" lIns="0" tIns="0" rIns="0" bIns="0"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Còi tại chỗ + trạng thái lên MQTT</a:t>
            </a:r>
            <a:endParaRPr lang="en-US" sz="1300" dirty="0"/>
          </a:p>
        </p:txBody>
      </p:sp>
      <p:sp>
        <p:nvSpPr>
          <p:cNvPr id="33" name="Shape 26"/>
          <p:cNvSpPr/>
          <p:nvPr/>
        </p:nvSpPr>
        <p:spPr>
          <a:xfrm>
            <a:off x="548640" y="4617720"/>
            <a:ext cx="11094415" cy="1463040"/>
          </a:xfrm>
          <a:prstGeom prst="roundRect">
            <a:avLst>
              <a:gd name="adj" fmla="val 7500"/>
            </a:avLst>
          </a:prstGeom>
          <a:solidFill>
            <a:srgbClr val="E3F1EF"/>
          </a:solidFill>
          <a:ln w="9525">
            <a:solidFill>
              <a:srgbClr val="E3F1EF"/>
            </a:solidFill>
            <a:prstDash val="solid"/>
          </a:ln>
          <a:effectLst>
            <a:outerShdw sx="100000" sy="100000" kx="0" ky="0" algn="bl" rotWithShape="0" blurRad="76200" dist="25400" dir="5400000">
              <a:srgbClr val="000000">
                <a:alpha val="12000"/>
              </a:srgbClr>
            </a:outerShdw>
          </a:effectLst>
        </p:spPr>
      </p:sp>
      <p:sp>
        <p:nvSpPr>
          <p:cNvPr id="34" name="Shape 27"/>
          <p:cNvSpPr/>
          <p:nvPr/>
        </p:nvSpPr>
        <p:spPr>
          <a:xfrm>
            <a:off x="822960" y="4983480"/>
            <a:ext cx="731520" cy="731520"/>
          </a:xfrm>
          <a:prstGeom prst="ellipse">
            <a:avLst/>
          </a:prstGeom>
          <a:solidFill>
            <a:srgbClr val="0F766E"/>
          </a:solidFill>
          <a:ln w="12700">
            <a:solidFill>
              <a:srgbClr val="0F766E"/>
            </a:solidFill>
            <a:prstDash val="solid"/>
          </a:ln>
        </p:spPr>
      </p:sp>
      <p:pic>
        <p:nvPicPr>
          <p:cNvPr id="35" name="Image 5" descr="preencoded.png">    </p:cNvPr>
          <p:cNvPicPr>
            <a:picLocks noChangeAspect="1"/>
          </p:cNvPicPr>
          <p:nvPr/>
        </p:nvPicPr>
        <p:blipFill>
          <a:blip r:embed="rId6"/>
          <a:stretch>
            <a:fillRect/>
          </a:stretch>
        </p:blipFill>
        <p:spPr>
          <a:xfrm>
            <a:off x="983894" y="5144414"/>
            <a:ext cx="409651" cy="409651"/>
          </a:xfrm>
          <a:prstGeom prst="rect">
            <a:avLst/>
          </a:prstGeom>
        </p:spPr>
      </p:pic>
      <p:sp>
        <p:nvSpPr>
          <p:cNvPr id="36" name="Text 28"/>
          <p:cNvSpPr txBox="1"/>
          <p:nvPr/>
        </p:nvSpPr>
        <p:spPr>
          <a:xfrm>
            <a:off x="1783080" y="4800600"/>
            <a:ext cx="3657600" cy="36576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Ba lớp bảo vệ</a:t>
            </a:r>
            <a:endParaRPr lang="en-US" sz="1800" dirty="0"/>
          </a:p>
        </p:txBody>
      </p:sp>
      <p:sp>
        <p:nvSpPr>
          <p:cNvPr id="37" name="Text 29"/>
          <p:cNvSpPr txBox="1"/>
          <p:nvPr/>
        </p:nvSpPr>
        <p:spPr>
          <a:xfrm>
            <a:off x="1783080" y="5212080"/>
            <a:ext cx="9539935" cy="7772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Luật QCVN đảm bảo không bỏ sót khi đã vượt ngưỡng  ·  Ngoại suy bắt các đợt tăng đều  ·  AI nhận diện mẫu tăng phức tạp. Mô hình lỗi hoặc không qua tự kiểm tra thì chỉ tắt AI — hai lớp còn lại vẫn chạy.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Mô hình 1D-CNN tối ưu cho vi điều khiển</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4 lớp tích chập stride 2 + 2 lớp kết nối đầy đủ, lượng tử hoá INT8</a:t>
            </a:r>
            <a:endParaRPr lang="en-US" sz="1600" dirty="0"/>
          </a:p>
        </p:txBody>
      </p:sp>
      <p:sp>
        <p:nvSpPr>
          <p:cNvPr id="4" name="Shape 2"/>
          <p:cNvSpPr/>
          <p:nvPr/>
        </p:nvSpPr>
        <p:spPr>
          <a:xfrm>
            <a:off x="548640" y="2194560"/>
            <a:ext cx="932688" cy="2743200"/>
          </a:xfrm>
          <a:prstGeom prst="roundRect">
            <a:avLst>
              <a:gd name="adj" fmla="val 7843"/>
            </a:avLst>
          </a:prstGeom>
          <a:solidFill>
            <a:srgbClr val="64748B"/>
          </a:solidFill>
          <a:ln w="12700">
            <a:solidFill>
              <a:srgbClr val="64748B"/>
            </a:solidFill>
            <a:prstDash val="solid"/>
          </a:ln>
        </p:spPr>
      </p:sp>
      <p:sp>
        <p:nvSpPr>
          <p:cNvPr id="5" name="Text 3"/>
          <p:cNvSpPr txBox="1"/>
          <p:nvPr/>
        </p:nvSpPr>
        <p:spPr>
          <a:xfrm>
            <a:off x="502920" y="5074920"/>
            <a:ext cx="1024128" cy="32004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502920" y="5394960"/>
            <a:ext cx="1024128"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120×8</a:t>
            </a:r>
            <a:endParaRPr lang="en-US" sz="1100" dirty="0"/>
          </a:p>
        </p:txBody>
      </p:sp>
      <p:sp>
        <p:nvSpPr>
          <p:cNvPr id="7" name="Shape 5"/>
          <p:cNvSpPr/>
          <p:nvPr/>
        </p:nvSpPr>
        <p:spPr>
          <a:xfrm>
            <a:off x="1600200" y="2423160"/>
            <a:ext cx="932688" cy="2286000"/>
          </a:xfrm>
          <a:prstGeom prst="roundRect">
            <a:avLst>
              <a:gd name="adj" fmla="val 7843"/>
            </a:avLst>
          </a:prstGeom>
          <a:solidFill>
            <a:srgbClr val="0F766E"/>
          </a:solidFill>
          <a:ln w="12700">
            <a:solidFill>
              <a:srgbClr val="0F766E"/>
            </a:solidFill>
            <a:prstDash val="solid"/>
          </a:ln>
        </p:spPr>
      </p:sp>
      <p:sp>
        <p:nvSpPr>
          <p:cNvPr id="8" name="Text 6"/>
          <p:cNvSpPr txBox="1"/>
          <p:nvPr/>
        </p:nvSpPr>
        <p:spPr>
          <a:xfrm>
            <a:off x="1554480" y="5074920"/>
            <a:ext cx="1024128" cy="32004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Conv1D 16</a:t>
            </a:r>
            <a:endParaRPr lang="en-US" sz="1200" dirty="0"/>
          </a:p>
        </p:txBody>
      </p:sp>
      <p:sp>
        <p:nvSpPr>
          <p:cNvPr id="9" name="Text 7"/>
          <p:cNvSpPr txBox="1"/>
          <p:nvPr/>
        </p:nvSpPr>
        <p:spPr>
          <a:xfrm>
            <a:off x="1554480" y="5394960"/>
            <a:ext cx="1024128"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60×16</a:t>
            </a:r>
            <a:endParaRPr lang="en-US" sz="1100" dirty="0"/>
          </a:p>
        </p:txBody>
      </p:sp>
      <p:sp>
        <p:nvSpPr>
          <p:cNvPr id="10" name="Shape 8"/>
          <p:cNvSpPr/>
          <p:nvPr/>
        </p:nvSpPr>
        <p:spPr>
          <a:xfrm>
            <a:off x="2651760" y="2651760"/>
            <a:ext cx="932688" cy="1828800"/>
          </a:xfrm>
          <a:prstGeom prst="roundRect">
            <a:avLst>
              <a:gd name="adj" fmla="val 7843"/>
            </a:avLst>
          </a:prstGeom>
          <a:solidFill>
            <a:srgbClr val="0F766E"/>
          </a:solidFill>
          <a:ln w="12700">
            <a:solidFill>
              <a:srgbClr val="0F766E"/>
            </a:solidFill>
            <a:prstDash val="solid"/>
          </a:ln>
        </p:spPr>
      </p:sp>
      <p:sp>
        <p:nvSpPr>
          <p:cNvPr id="11" name="Text 9"/>
          <p:cNvSpPr txBox="1"/>
          <p:nvPr/>
        </p:nvSpPr>
        <p:spPr>
          <a:xfrm>
            <a:off x="2606040" y="5074920"/>
            <a:ext cx="1024128" cy="32004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Conv1D 24</a:t>
            </a:r>
            <a:endParaRPr lang="en-US" sz="1200" dirty="0"/>
          </a:p>
        </p:txBody>
      </p:sp>
      <p:sp>
        <p:nvSpPr>
          <p:cNvPr id="12" name="Text 10"/>
          <p:cNvSpPr txBox="1"/>
          <p:nvPr/>
        </p:nvSpPr>
        <p:spPr>
          <a:xfrm>
            <a:off x="2606040" y="5394960"/>
            <a:ext cx="1024128"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30×24</a:t>
            </a:r>
            <a:endParaRPr lang="en-US" sz="1100" dirty="0"/>
          </a:p>
        </p:txBody>
      </p:sp>
      <p:sp>
        <p:nvSpPr>
          <p:cNvPr id="13" name="Shape 11"/>
          <p:cNvSpPr/>
          <p:nvPr/>
        </p:nvSpPr>
        <p:spPr>
          <a:xfrm>
            <a:off x="3703320" y="2834640"/>
            <a:ext cx="932688" cy="1463040"/>
          </a:xfrm>
          <a:prstGeom prst="roundRect">
            <a:avLst>
              <a:gd name="adj" fmla="val 7843"/>
            </a:avLst>
          </a:prstGeom>
          <a:solidFill>
            <a:srgbClr val="0F766E"/>
          </a:solidFill>
          <a:ln w="12700">
            <a:solidFill>
              <a:srgbClr val="0F766E"/>
            </a:solidFill>
            <a:prstDash val="solid"/>
          </a:ln>
        </p:spPr>
      </p:sp>
      <p:sp>
        <p:nvSpPr>
          <p:cNvPr id="14" name="Text 12"/>
          <p:cNvSpPr txBox="1"/>
          <p:nvPr/>
        </p:nvSpPr>
        <p:spPr>
          <a:xfrm>
            <a:off x="3657600" y="5074920"/>
            <a:ext cx="1024128" cy="32004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Conv1D 32</a:t>
            </a:r>
            <a:endParaRPr lang="en-US" sz="1200" dirty="0"/>
          </a:p>
        </p:txBody>
      </p:sp>
      <p:sp>
        <p:nvSpPr>
          <p:cNvPr id="15" name="Text 13"/>
          <p:cNvSpPr txBox="1"/>
          <p:nvPr/>
        </p:nvSpPr>
        <p:spPr>
          <a:xfrm>
            <a:off x="3657600" y="5394960"/>
            <a:ext cx="1024128"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15×32</a:t>
            </a:r>
            <a:endParaRPr lang="en-US" sz="1100" dirty="0"/>
          </a:p>
        </p:txBody>
      </p:sp>
      <p:sp>
        <p:nvSpPr>
          <p:cNvPr id="16" name="Shape 14"/>
          <p:cNvSpPr/>
          <p:nvPr/>
        </p:nvSpPr>
        <p:spPr>
          <a:xfrm>
            <a:off x="4754880" y="2994660"/>
            <a:ext cx="932688" cy="1143000"/>
          </a:xfrm>
          <a:prstGeom prst="roundRect">
            <a:avLst>
              <a:gd name="adj" fmla="val 7843"/>
            </a:avLst>
          </a:prstGeom>
          <a:solidFill>
            <a:srgbClr val="0F766E"/>
          </a:solidFill>
          <a:ln w="12700">
            <a:solidFill>
              <a:srgbClr val="0F766E"/>
            </a:solidFill>
            <a:prstDash val="solid"/>
          </a:ln>
        </p:spPr>
      </p:sp>
      <p:sp>
        <p:nvSpPr>
          <p:cNvPr id="17" name="Text 15"/>
          <p:cNvSpPr txBox="1"/>
          <p:nvPr/>
        </p:nvSpPr>
        <p:spPr>
          <a:xfrm>
            <a:off x="4709160" y="5074920"/>
            <a:ext cx="1024128" cy="32004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Conv1D 32</a:t>
            </a:r>
            <a:endParaRPr lang="en-US" sz="1200" dirty="0"/>
          </a:p>
        </p:txBody>
      </p:sp>
      <p:sp>
        <p:nvSpPr>
          <p:cNvPr id="18" name="Text 16"/>
          <p:cNvSpPr txBox="1"/>
          <p:nvPr/>
        </p:nvSpPr>
        <p:spPr>
          <a:xfrm>
            <a:off x="4709160" y="5394960"/>
            <a:ext cx="1024128"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8×32</a:t>
            </a:r>
            <a:endParaRPr lang="en-US" sz="1100" dirty="0"/>
          </a:p>
        </p:txBody>
      </p:sp>
      <p:sp>
        <p:nvSpPr>
          <p:cNvPr id="19" name="Shape 17"/>
          <p:cNvSpPr/>
          <p:nvPr/>
        </p:nvSpPr>
        <p:spPr>
          <a:xfrm>
            <a:off x="5806440" y="3177540"/>
            <a:ext cx="932688" cy="777240"/>
          </a:xfrm>
          <a:prstGeom prst="roundRect">
            <a:avLst>
              <a:gd name="adj" fmla="val 9412"/>
            </a:avLst>
          </a:prstGeom>
          <a:solidFill>
            <a:srgbClr val="14B8A6"/>
          </a:solidFill>
          <a:ln w="12700">
            <a:solidFill>
              <a:srgbClr val="14B8A6"/>
            </a:solidFill>
            <a:prstDash val="solid"/>
          </a:ln>
        </p:spPr>
      </p:sp>
      <p:sp>
        <p:nvSpPr>
          <p:cNvPr id="20" name="Text 18"/>
          <p:cNvSpPr txBox="1"/>
          <p:nvPr/>
        </p:nvSpPr>
        <p:spPr>
          <a:xfrm>
            <a:off x="5760720" y="5074920"/>
            <a:ext cx="1024128" cy="32004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Dense 16</a:t>
            </a:r>
            <a:endParaRPr lang="en-US" sz="1200" dirty="0"/>
          </a:p>
        </p:txBody>
      </p:sp>
      <p:sp>
        <p:nvSpPr>
          <p:cNvPr id="21" name="Text 19"/>
          <p:cNvSpPr txBox="1"/>
          <p:nvPr/>
        </p:nvSpPr>
        <p:spPr>
          <a:xfrm>
            <a:off x="5760720" y="5394960"/>
            <a:ext cx="1024128"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16</a:t>
            </a:r>
            <a:endParaRPr lang="en-US" sz="1100" dirty="0"/>
          </a:p>
        </p:txBody>
      </p:sp>
      <p:sp>
        <p:nvSpPr>
          <p:cNvPr id="22" name="Shape 20"/>
          <p:cNvSpPr/>
          <p:nvPr/>
        </p:nvSpPr>
        <p:spPr>
          <a:xfrm>
            <a:off x="6858000" y="3291840"/>
            <a:ext cx="932688" cy="548640"/>
          </a:xfrm>
          <a:prstGeom prst="roundRect">
            <a:avLst>
              <a:gd name="adj" fmla="val 13333"/>
            </a:avLst>
          </a:prstGeom>
          <a:solidFill>
            <a:srgbClr val="F59E0B"/>
          </a:solidFill>
          <a:ln w="12700">
            <a:solidFill>
              <a:srgbClr val="F59E0B"/>
            </a:solidFill>
            <a:prstDash val="solid"/>
          </a:ln>
        </p:spPr>
      </p:sp>
      <p:sp>
        <p:nvSpPr>
          <p:cNvPr id="23" name="Text 21"/>
          <p:cNvSpPr txBox="1"/>
          <p:nvPr/>
        </p:nvSpPr>
        <p:spPr>
          <a:xfrm>
            <a:off x="6812280" y="5074920"/>
            <a:ext cx="1024128" cy="320040"/>
          </a:xfrm>
          <a:prstGeom prst="rect">
            <a:avLst/>
          </a:prstGeom>
          <a:noFill/>
          <a:ln/>
        </p:spPr>
        <p:txBody>
          <a:bodyPr wrap="square" lIns="0" tIns="0" rIns="0" bIns="0" rtlCol="0" anchor="ctr"/>
          <a:lstStyle/>
          <a:p>
            <a:pPr algn="ctr" indent="0" marL="0">
              <a:buNone/>
            </a:pPr>
            <a:r>
              <a:rPr lang="en-US" sz="1200" b="1" dirty="0">
                <a:solidFill>
                  <a:srgbClr val="1F2937"/>
                </a:solidFill>
                <a:latin typeface="Calibri" pitchFamily="34" charset="0"/>
                <a:ea typeface="Calibri" pitchFamily="34" charset="-122"/>
                <a:cs typeface="Calibri" pitchFamily="34" charset="-120"/>
              </a:rPr>
              <a:t>Dense 2</a:t>
            </a:r>
            <a:endParaRPr lang="en-US" sz="1200" dirty="0"/>
          </a:p>
        </p:txBody>
      </p:sp>
      <p:sp>
        <p:nvSpPr>
          <p:cNvPr id="24" name="Text 22"/>
          <p:cNvSpPr txBox="1"/>
          <p:nvPr/>
        </p:nvSpPr>
        <p:spPr>
          <a:xfrm>
            <a:off x="6812280" y="5394960"/>
            <a:ext cx="1024128" cy="41148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p(CO), p(NO₂)</a:t>
            </a:r>
            <a:endParaRPr lang="en-US" sz="1100" dirty="0"/>
          </a:p>
        </p:txBody>
      </p:sp>
      <p:sp>
        <p:nvSpPr>
          <p:cNvPr id="25" name="Text 23"/>
          <p:cNvSpPr txBox="1"/>
          <p:nvPr/>
        </p:nvSpPr>
        <p:spPr>
          <a:xfrm>
            <a:off x="548640" y="1600200"/>
            <a:ext cx="713232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8 kênh vào: nồng độ, STEL 15 phút và STEL ngoại suy của CO/NO₂ (chuẩn hoá log₂(1 + x/ngưỡng)), nhiệt độ, độ ẩm</a:t>
            </a:r>
            <a:endParaRPr lang="en-US" sz="1300" dirty="0"/>
          </a:p>
        </p:txBody>
      </p:sp>
      <p:sp>
        <p:nvSpPr>
          <p:cNvPr id="26" name="Shape 24"/>
          <p:cNvSpPr/>
          <p:nvPr/>
        </p:nvSpPr>
        <p:spPr>
          <a:xfrm>
            <a:off x="8366760" y="1645920"/>
            <a:ext cx="3246120" cy="4572000"/>
          </a:xfrm>
          <a:prstGeom prst="roundRect">
            <a:avLst>
              <a:gd name="adj" fmla="val 3380"/>
            </a:avLst>
          </a:prstGeom>
          <a:solidFill>
            <a:srgbClr val="E3F1EF"/>
          </a:solidFill>
          <a:ln w="9525">
            <a:solidFill>
              <a:srgbClr val="E3F1EF"/>
            </a:solidFill>
            <a:prstDash val="solid"/>
          </a:ln>
          <a:effectLst>
            <a:outerShdw sx="100000" sy="100000" kx="0" ky="0" algn="bl" rotWithShape="0" blurRad="76200" dist="25400" dir="5400000">
              <a:srgbClr val="000000">
                <a:alpha val="12000"/>
              </a:srgbClr>
            </a:outerShdw>
          </a:effectLst>
        </p:spPr>
      </p:sp>
      <p:sp>
        <p:nvSpPr>
          <p:cNvPr id="27" name="Text 25"/>
          <p:cNvSpPr txBox="1"/>
          <p:nvPr/>
        </p:nvSpPr>
        <p:spPr>
          <a:xfrm>
            <a:off x="8641080" y="1828800"/>
            <a:ext cx="274320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12.186</a:t>
            </a:r>
            <a:endParaRPr lang="en-US" sz="3600" dirty="0"/>
          </a:p>
        </p:txBody>
      </p:sp>
      <p:sp>
        <p:nvSpPr>
          <p:cNvPr id="28" name="Text 26"/>
          <p:cNvSpPr txBox="1"/>
          <p:nvPr/>
        </p:nvSpPr>
        <p:spPr>
          <a:xfrm>
            <a:off x="8641080" y="2560320"/>
            <a:ext cx="274320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tham số</a:t>
            </a:r>
            <a:endParaRPr lang="en-US" sz="1300" dirty="0"/>
          </a:p>
        </p:txBody>
      </p:sp>
      <p:sp>
        <p:nvSpPr>
          <p:cNvPr id="29" name="Text 27"/>
          <p:cNvSpPr txBox="1"/>
          <p:nvPr/>
        </p:nvSpPr>
        <p:spPr>
          <a:xfrm>
            <a:off x="8641080" y="3246120"/>
            <a:ext cx="2743200" cy="731520"/>
          </a:xfrm>
          <a:prstGeom prst="rect">
            <a:avLst/>
          </a:prstGeom>
          <a:noFill/>
          <a:ln/>
        </p:spPr>
        <p:txBody>
          <a:bodyPr wrap="square" lIns="0" tIns="0" rIns="0" bIns="0" rtlCol="0" anchor="ctr"/>
          <a:lstStyle/>
          <a:p>
            <a:pPr indent="0" marL="0">
              <a:buNone/>
            </a:pPr>
            <a:r>
              <a:rPr lang="en-US" sz="3600" b="1" dirty="0">
                <a:solidFill>
                  <a:srgbClr val="F59E0B"/>
                </a:solidFill>
                <a:latin typeface="Cambria" pitchFamily="34" charset="0"/>
                <a:ea typeface="Cambria" pitchFamily="34" charset="-122"/>
                <a:cs typeface="Cambria" pitchFamily="34" charset="-120"/>
              </a:rPr>
              <a:t>20,9 KB</a:t>
            </a:r>
            <a:endParaRPr lang="en-US" sz="3600" dirty="0"/>
          </a:p>
        </p:txBody>
      </p:sp>
      <p:sp>
        <p:nvSpPr>
          <p:cNvPr id="30" name="Text 28"/>
          <p:cNvSpPr txBox="1"/>
          <p:nvPr/>
        </p:nvSpPr>
        <p:spPr>
          <a:xfrm>
            <a:off x="8641080" y="3977640"/>
            <a:ext cx="274320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kích thước INT8</a:t>
            </a:r>
            <a:endParaRPr lang="en-US" sz="1300" dirty="0"/>
          </a:p>
        </p:txBody>
      </p:sp>
      <p:sp>
        <p:nvSpPr>
          <p:cNvPr id="31" name="Text 29"/>
          <p:cNvSpPr txBox="1"/>
          <p:nvPr/>
        </p:nvSpPr>
        <p:spPr>
          <a:xfrm>
            <a:off x="8641080" y="4663440"/>
            <a:ext cx="2743200" cy="73152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2 khí</a:t>
            </a:r>
            <a:endParaRPr lang="en-US" sz="3600" dirty="0"/>
          </a:p>
        </p:txBody>
      </p:sp>
      <p:sp>
        <p:nvSpPr>
          <p:cNvPr id="32" name="Text 30"/>
          <p:cNvSpPr txBox="1"/>
          <p:nvPr/>
        </p:nvSpPr>
        <p:spPr>
          <a:xfrm>
            <a:off x="8641080" y="5394960"/>
            <a:ext cx="274320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một mô hình duy nhất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Dữ liệu huấn luyện và đánh giá</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Đánh giá độc lập trên bộ dữ liệu xây dựng từ 3 dataset đã công bố</a:t>
            </a:r>
            <a:endParaRPr lang="en-US" sz="1600" dirty="0"/>
          </a:p>
        </p:txBody>
      </p:sp>
      <p:sp>
        <p:nvSpPr>
          <p:cNvPr id="4" name="Shape 2"/>
          <p:cNvSpPr/>
          <p:nvPr/>
        </p:nvSpPr>
        <p:spPr>
          <a:xfrm>
            <a:off x="548640" y="1691640"/>
            <a:ext cx="4754880" cy="4526280"/>
          </a:xfrm>
          <a:prstGeom prst="roundRect">
            <a:avLst>
              <a:gd name="adj" fmla="val 242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822960" y="1920240"/>
            <a:ext cx="685800" cy="68580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973836" y="2071116"/>
            <a:ext cx="384048" cy="384048"/>
          </a:xfrm>
          <a:prstGeom prst="rect">
            <a:avLst/>
          </a:prstGeom>
        </p:spPr>
      </p:pic>
      <p:sp>
        <p:nvSpPr>
          <p:cNvPr id="7" name="Text 4"/>
          <p:cNvSpPr txBox="1"/>
          <p:nvPr/>
        </p:nvSpPr>
        <p:spPr>
          <a:xfrm>
            <a:off x="1691640" y="1965960"/>
            <a:ext cx="3474720" cy="365760"/>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Huấn luyện</a:t>
            </a:r>
            <a:endParaRPr lang="en-US" sz="2000" dirty="0"/>
          </a:p>
        </p:txBody>
      </p:sp>
      <p:sp>
        <p:nvSpPr>
          <p:cNvPr id="8" name="Text 5"/>
          <p:cNvSpPr txBox="1"/>
          <p:nvPr/>
        </p:nvSpPr>
        <p:spPr>
          <a:xfrm>
            <a:off x="1691640" y="2331720"/>
            <a:ext cx="3429000" cy="109728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Mô phỏng vật lý nguồn phát, thông gió, nhiễu chéo và mất dữ liệu; đặc tính cảm biến hiệu chỉnh theo dữ liệu thật đo từ thiết bị.</a:t>
            </a:r>
            <a:endParaRPr lang="en-US" sz="1300" dirty="0"/>
          </a:p>
        </p:txBody>
      </p:sp>
      <p:sp>
        <p:nvSpPr>
          <p:cNvPr id="9" name="Text 6"/>
          <p:cNvSpPr txBox="1"/>
          <p:nvPr/>
        </p:nvSpPr>
        <p:spPr>
          <a:xfrm>
            <a:off x="868680" y="3611880"/>
            <a:ext cx="2011680" cy="59436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300</a:t>
            </a:r>
            <a:endParaRPr lang="en-US" sz="3200" dirty="0"/>
          </a:p>
        </p:txBody>
      </p:sp>
      <p:sp>
        <p:nvSpPr>
          <p:cNvPr id="10" name="Text 7"/>
          <p:cNvSpPr txBox="1"/>
          <p:nvPr/>
        </p:nvSpPr>
        <p:spPr>
          <a:xfrm>
            <a:off x="868680" y="4206240"/>
            <a:ext cx="201168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ngày train</a:t>
            </a:r>
            <a:endParaRPr lang="en-US" sz="1300" dirty="0"/>
          </a:p>
        </p:txBody>
      </p:sp>
      <p:sp>
        <p:nvSpPr>
          <p:cNvPr id="11" name="Text 8"/>
          <p:cNvSpPr txBox="1"/>
          <p:nvPr/>
        </p:nvSpPr>
        <p:spPr>
          <a:xfrm>
            <a:off x="3063240" y="3611880"/>
            <a:ext cx="2011680" cy="59436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80</a:t>
            </a:r>
            <a:endParaRPr lang="en-US" sz="3200" dirty="0"/>
          </a:p>
        </p:txBody>
      </p:sp>
      <p:sp>
        <p:nvSpPr>
          <p:cNvPr id="12" name="Text 9"/>
          <p:cNvSpPr txBox="1"/>
          <p:nvPr/>
        </p:nvSpPr>
        <p:spPr>
          <a:xfrm>
            <a:off x="3063240" y="4206240"/>
            <a:ext cx="201168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ngày VAL</a:t>
            </a:r>
            <a:endParaRPr lang="en-US" sz="1300" dirty="0"/>
          </a:p>
        </p:txBody>
      </p:sp>
      <p:sp>
        <p:nvSpPr>
          <p:cNvPr id="13" name="Text 10"/>
          <p:cNvSpPr txBox="1"/>
          <p:nvPr/>
        </p:nvSpPr>
        <p:spPr>
          <a:xfrm>
            <a:off x="868680" y="4846320"/>
            <a:ext cx="2011680" cy="59436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150</a:t>
            </a:r>
            <a:endParaRPr lang="en-US" sz="3200" dirty="0"/>
          </a:p>
        </p:txBody>
      </p:sp>
      <p:sp>
        <p:nvSpPr>
          <p:cNvPr id="14" name="Text 11"/>
          <p:cNvSpPr txBox="1"/>
          <p:nvPr/>
        </p:nvSpPr>
        <p:spPr>
          <a:xfrm>
            <a:off x="868680" y="5440680"/>
            <a:ext cx="201168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ngày TEST</a:t>
            </a:r>
            <a:endParaRPr lang="en-US" sz="1300" dirty="0"/>
          </a:p>
        </p:txBody>
      </p:sp>
      <p:sp>
        <p:nvSpPr>
          <p:cNvPr id="15" name="Text 12"/>
          <p:cNvSpPr txBox="1"/>
          <p:nvPr/>
        </p:nvSpPr>
        <p:spPr>
          <a:xfrm>
            <a:off x="3063240" y="4846320"/>
            <a:ext cx="2011680" cy="594360"/>
          </a:xfrm>
          <a:prstGeom prst="rect">
            <a:avLst/>
          </a:prstGeom>
          <a:noFill/>
          <a:ln/>
        </p:spPr>
        <p:txBody>
          <a:bodyPr wrap="square" lIns="0" tIns="0" rIns="0" bIns="0" rtlCol="0" anchor="ctr"/>
          <a:lstStyle/>
          <a:p>
            <a:pPr indent="0" marL="0">
              <a:buNone/>
            </a:pPr>
            <a:r>
              <a:rPr lang="en-US" sz="3200" b="1" dirty="0">
                <a:solidFill>
                  <a:srgbClr val="0F766E"/>
                </a:solidFill>
                <a:latin typeface="Cambria" pitchFamily="34" charset="0"/>
                <a:ea typeface="Cambria" pitchFamily="34" charset="-122"/>
                <a:cs typeface="Cambria" pitchFamily="34" charset="-120"/>
              </a:rPr>
              <a:t>80</a:t>
            </a:r>
            <a:endParaRPr lang="en-US" sz="3200" dirty="0"/>
          </a:p>
        </p:txBody>
      </p:sp>
      <p:sp>
        <p:nvSpPr>
          <p:cNvPr id="16" name="Text 13"/>
          <p:cNvSpPr txBox="1"/>
          <p:nvPr/>
        </p:nvSpPr>
        <p:spPr>
          <a:xfrm>
            <a:off x="3063240" y="5440680"/>
            <a:ext cx="201168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ngày OOD</a:t>
            </a:r>
            <a:endParaRPr lang="en-US" sz="1300" dirty="0"/>
          </a:p>
        </p:txBody>
      </p:sp>
      <p:sp>
        <p:nvSpPr>
          <p:cNvPr id="17" name="Text 14"/>
          <p:cNvSpPr txBox="1"/>
          <p:nvPr/>
        </p:nvSpPr>
        <p:spPr>
          <a:xfrm>
            <a:off x="5669280" y="1737360"/>
            <a:ext cx="5943600" cy="411480"/>
          </a:xfrm>
          <a:prstGeom prst="rect">
            <a:avLst/>
          </a:prstGeom>
          <a:noFill/>
          <a:ln/>
        </p:spPr>
        <p:txBody>
          <a:bodyPr wrap="square" lIns="0" tIns="0" rIns="0" bIns="0" rtlCol="0" anchor="ctr"/>
          <a:lstStyle/>
          <a:p>
            <a:pPr indent="0" marL="0">
              <a:buNone/>
            </a:pPr>
            <a:r>
              <a:rPr lang="en-US" sz="2000" b="1" dirty="0">
                <a:solidFill>
                  <a:srgbClr val="1F2937"/>
                </a:solidFill>
                <a:latin typeface="Cambria" pitchFamily="34" charset="0"/>
                <a:ea typeface="Cambria" pitchFamily="34" charset="-122"/>
                <a:cs typeface="Cambria" pitchFamily="34" charset="-120"/>
              </a:rPr>
              <a:t>Đánh giá — dataset đã công bố</a:t>
            </a:r>
            <a:endParaRPr lang="en-US" sz="2000" dirty="0"/>
          </a:p>
        </p:txBody>
      </p:sp>
      <p:sp>
        <p:nvSpPr>
          <p:cNvPr id="18" name="Shape 15"/>
          <p:cNvSpPr/>
          <p:nvPr/>
        </p:nvSpPr>
        <p:spPr>
          <a:xfrm>
            <a:off x="5669280" y="2286000"/>
            <a:ext cx="5943600" cy="1143000"/>
          </a:xfrm>
          <a:prstGeom prst="roundRect">
            <a:avLst>
              <a:gd name="adj" fmla="val 9600"/>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5852160" y="2514600"/>
            <a:ext cx="685800" cy="685800"/>
          </a:xfrm>
          <a:prstGeom prst="ellipse">
            <a:avLst/>
          </a:prstGeom>
          <a:solidFill>
            <a:srgbClr val="F59E0B"/>
          </a:solidFill>
          <a:ln w="12700">
            <a:solidFill>
              <a:srgbClr val="F59E0B"/>
            </a:solidFill>
            <a:prstDash val="solid"/>
          </a:ln>
        </p:spPr>
      </p:sp>
      <p:pic>
        <p:nvPicPr>
          <p:cNvPr id="20" name="Image 1" descr="preencoded.png">    </p:cNvPr>
          <p:cNvPicPr>
            <a:picLocks noChangeAspect="1"/>
          </p:cNvPicPr>
          <p:nvPr/>
        </p:nvPicPr>
        <p:blipFill>
          <a:blip r:embed="rId2"/>
          <a:stretch>
            <a:fillRect/>
          </a:stretch>
        </p:blipFill>
        <p:spPr>
          <a:xfrm>
            <a:off x="6003036" y="2665476"/>
            <a:ext cx="384048" cy="384048"/>
          </a:xfrm>
          <a:prstGeom prst="rect">
            <a:avLst/>
          </a:prstGeom>
        </p:spPr>
      </p:pic>
      <p:sp>
        <p:nvSpPr>
          <p:cNvPr id="21" name="Text 17"/>
          <p:cNvSpPr txBox="1"/>
          <p:nvPr/>
        </p:nvSpPr>
        <p:spPr>
          <a:xfrm>
            <a:off x="6720840" y="2395728"/>
            <a:ext cx="4754880"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UCI Air Quality</a:t>
            </a:r>
            <a:endParaRPr lang="en-US" sz="1600" dirty="0"/>
          </a:p>
        </p:txBody>
      </p:sp>
      <p:sp>
        <p:nvSpPr>
          <p:cNvPr id="22" name="Text 18"/>
          <p:cNvSpPr txBox="1"/>
          <p:nvPr/>
        </p:nvSpPr>
        <p:spPr>
          <a:xfrm>
            <a:off x="6720840" y="2724912"/>
            <a:ext cx="4754880" cy="274320"/>
          </a:xfrm>
          <a:prstGeom prst="rect">
            <a:avLst/>
          </a:prstGeom>
          <a:noFill/>
          <a:ln/>
        </p:spPr>
        <p:txBody>
          <a:bodyPr wrap="square" lIns="0" tIns="0" rIns="0" bIns="0" rtlCol="0" anchor="t"/>
          <a:lstStyle/>
          <a:p>
            <a:pPr indent="0" marL="0">
              <a:buNone/>
            </a:pPr>
            <a:r>
              <a:rPr lang="en-US" sz="1100" dirty="0">
                <a:solidFill>
                  <a:srgbClr val="0F766E"/>
                </a:solidFill>
                <a:latin typeface="Calibri" pitchFamily="34" charset="0"/>
                <a:ea typeface="Calibri" pitchFamily="34" charset="-122"/>
                <a:cs typeface="Calibri" pitchFamily="34" charset="-120"/>
              </a:rPr>
              <a:t>De Vito et al., 2008 · CC BY 4.0</a:t>
            </a:r>
            <a:endParaRPr lang="en-US" sz="1100" dirty="0"/>
          </a:p>
        </p:txBody>
      </p:sp>
      <p:sp>
        <p:nvSpPr>
          <p:cNvPr id="23" name="Text 19"/>
          <p:cNvSpPr txBox="1"/>
          <p:nvPr/>
        </p:nvSpPr>
        <p:spPr>
          <a:xfrm>
            <a:off x="6720840" y="2999232"/>
            <a:ext cx="475488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Nền CO, NO₂, nhiệt độ, độ ẩm đo đồng thời</a:t>
            </a:r>
            <a:endParaRPr lang="en-US" sz="1300" dirty="0"/>
          </a:p>
        </p:txBody>
      </p:sp>
      <p:sp>
        <p:nvSpPr>
          <p:cNvPr id="24" name="Shape 20"/>
          <p:cNvSpPr/>
          <p:nvPr/>
        </p:nvSpPr>
        <p:spPr>
          <a:xfrm>
            <a:off x="5669280" y="3611880"/>
            <a:ext cx="5943600" cy="1143000"/>
          </a:xfrm>
          <a:prstGeom prst="roundRect">
            <a:avLst>
              <a:gd name="adj" fmla="val 9600"/>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5" name="Shape 21"/>
          <p:cNvSpPr/>
          <p:nvPr/>
        </p:nvSpPr>
        <p:spPr>
          <a:xfrm>
            <a:off x="5852160" y="3840480"/>
            <a:ext cx="685800" cy="685800"/>
          </a:xfrm>
          <a:prstGeom prst="ellipse">
            <a:avLst/>
          </a:prstGeom>
          <a:solidFill>
            <a:srgbClr val="F59E0B"/>
          </a:solidFill>
          <a:ln w="12700">
            <a:solidFill>
              <a:srgbClr val="F59E0B"/>
            </a:solidFill>
            <a:prstDash val="solid"/>
          </a:ln>
        </p:spPr>
      </p:sp>
      <p:pic>
        <p:nvPicPr>
          <p:cNvPr id="26" name="Image 2" descr="preencoded.png">    </p:cNvPr>
          <p:cNvPicPr>
            <a:picLocks noChangeAspect="1"/>
          </p:cNvPicPr>
          <p:nvPr/>
        </p:nvPicPr>
        <p:blipFill>
          <a:blip r:embed="rId3"/>
          <a:stretch>
            <a:fillRect/>
          </a:stretch>
        </p:blipFill>
        <p:spPr>
          <a:xfrm>
            <a:off x="6003036" y="3991356"/>
            <a:ext cx="384048" cy="384048"/>
          </a:xfrm>
          <a:prstGeom prst="rect">
            <a:avLst/>
          </a:prstGeom>
        </p:spPr>
      </p:pic>
      <p:sp>
        <p:nvSpPr>
          <p:cNvPr id="27" name="Text 22"/>
          <p:cNvSpPr txBox="1"/>
          <p:nvPr/>
        </p:nvSpPr>
        <p:spPr>
          <a:xfrm>
            <a:off x="6720840" y="3721608"/>
            <a:ext cx="4754880"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Mendeley Indoor Fire</a:t>
            </a:r>
            <a:endParaRPr lang="en-US" sz="1600" dirty="0"/>
          </a:p>
        </p:txBody>
      </p:sp>
      <p:sp>
        <p:nvSpPr>
          <p:cNvPr id="28" name="Text 23"/>
          <p:cNvSpPr txBox="1"/>
          <p:nvPr/>
        </p:nvSpPr>
        <p:spPr>
          <a:xfrm>
            <a:off x="6720840" y="4050792"/>
            <a:ext cx="4754880" cy="274320"/>
          </a:xfrm>
          <a:prstGeom prst="rect">
            <a:avLst/>
          </a:prstGeom>
          <a:noFill/>
          <a:ln/>
        </p:spPr>
        <p:txBody>
          <a:bodyPr wrap="square" lIns="0" tIns="0" rIns="0" bIns="0" rtlCol="0" anchor="t"/>
          <a:lstStyle/>
          <a:p>
            <a:pPr indent="0" marL="0">
              <a:buNone/>
            </a:pPr>
            <a:r>
              <a:rPr lang="en-US" sz="1100" dirty="0">
                <a:solidFill>
                  <a:srgbClr val="0F766E"/>
                </a:solidFill>
                <a:latin typeface="Calibri" pitchFamily="34" charset="0"/>
                <a:ea typeface="Calibri" pitchFamily="34" charset="-122"/>
                <a:cs typeface="Calibri" pitchFamily="34" charset="-120"/>
              </a:rPr>
              <a:t>Vorwerk et al., Fire 2023 · CC BY 4.0</a:t>
            </a:r>
            <a:endParaRPr lang="en-US" sz="1100" dirty="0"/>
          </a:p>
        </p:txBody>
      </p:sp>
      <p:sp>
        <p:nvSpPr>
          <p:cNvPr id="29" name="Text 24"/>
          <p:cNvSpPr txBox="1"/>
          <p:nvPr/>
        </p:nvSpPr>
        <p:spPr>
          <a:xfrm>
            <a:off x="6720840" y="4325112"/>
            <a:ext cx="475488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Sự cố CO thật: xả CO, khí thải, cháy; nhiễu chéo</a:t>
            </a:r>
            <a:endParaRPr lang="en-US" sz="1300" dirty="0"/>
          </a:p>
        </p:txBody>
      </p:sp>
      <p:sp>
        <p:nvSpPr>
          <p:cNvPr id="30" name="Shape 25"/>
          <p:cNvSpPr/>
          <p:nvPr/>
        </p:nvSpPr>
        <p:spPr>
          <a:xfrm>
            <a:off x="5669280" y="4937760"/>
            <a:ext cx="5943600" cy="1143000"/>
          </a:xfrm>
          <a:prstGeom prst="roundRect">
            <a:avLst>
              <a:gd name="adj" fmla="val 9600"/>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31" name="Shape 26"/>
          <p:cNvSpPr/>
          <p:nvPr/>
        </p:nvSpPr>
        <p:spPr>
          <a:xfrm>
            <a:off x="5852160" y="5166360"/>
            <a:ext cx="685800" cy="685800"/>
          </a:xfrm>
          <a:prstGeom prst="ellipse">
            <a:avLst/>
          </a:prstGeom>
          <a:solidFill>
            <a:srgbClr val="F59E0B"/>
          </a:solidFill>
          <a:ln w="12700">
            <a:solidFill>
              <a:srgbClr val="F59E0B"/>
            </a:solidFill>
            <a:prstDash val="solid"/>
          </a:ln>
        </p:spPr>
      </p:sp>
      <p:pic>
        <p:nvPicPr>
          <p:cNvPr id="32" name="Image 3" descr="preencoded.png">    </p:cNvPr>
          <p:cNvPicPr>
            <a:picLocks noChangeAspect="1"/>
          </p:cNvPicPr>
          <p:nvPr/>
        </p:nvPicPr>
        <p:blipFill>
          <a:blip r:embed="rId4"/>
          <a:stretch>
            <a:fillRect/>
          </a:stretch>
        </p:blipFill>
        <p:spPr>
          <a:xfrm>
            <a:off x="6003036" y="5317236"/>
            <a:ext cx="384048" cy="384048"/>
          </a:xfrm>
          <a:prstGeom prst="rect">
            <a:avLst/>
          </a:prstGeom>
        </p:spPr>
      </p:pic>
      <p:sp>
        <p:nvSpPr>
          <p:cNvPr id="33" name="Text 27"/>
          <p:cNvSpPr txBox="1"/>
          <p:nvPr/>
        </p:nvSpPr>
        <p:spPr>
          <a:xfrm>
            <a:off x="6720840" y="5047488"/>
            <a:ext cx="4754880"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Kashtan et al. 2024</a:t>
            </a:r>
            <a:endParaRPr lang="en-US" sz="1600" dirty="0"/>
          </a:p>
        </p:txBody>
      </p:sp>
      <p:sp>
        <p:nvSpPr>
          <p:cNvPr id="34" name="Text 28"/>
          <p:cNvSpPr txBox="1"/>
          <p:nvPr/>
        </p:nvSpPr>
        <p:spPr>
          <a:xfrm>
            <a:off x="6720840" y="5376672"/>
            <a:ext cx="4754880" cy="274320"/>
          </a:xfrm>
          <a:prstGeom prst="rect">
            <a:avLst/>
          </a:prstGeom>
          <a:noFill/>
          <a:ln/>
        </p:spPr>
        <p:txBody>
          <a:bodyPr wrap="square" lIns="0" tIns="0" rIns="0" bIns="0" rtlCol="0" anchor="t"/>
          <a:lstStyle/>
          <a:p>
            <a:pPr indent="0" marL="0">
              <a:buNone/>
            </a:pPr>
            <a:r>
              <a:rPr lang="en-US" sz="1100" dirty="0">
                <a:solidFill>
                  <a:srgbClr val="0F766E"/>
                </a:solidFill>
                <a:latin typeface="Calibri" pitchFamily="34" charset="0"/>
                <a:ea typeface="Calibri" pitchFamily="34" charset="-122"/>
                <a:cs typeface="Calibri" pitchFamily="34" charset="-120"/>
              </a:rPr>
              <a:t>Science Advances · CC0</a:t>
            </a:r>
            <a:endParaRPr lang="en-US" sz="1100" dirty="0"/>
          </a:p>
        </p:txBody>
      </p:sp>
      <p:sp>
        <p:nvSpPr>
          <p:cNvPr id="35" name="Text 29"/>
          <p:cNvSpPr txBox="1"/>
          <p:nvPr/>
        </p:nvSpPr>
        <p:spPr>
          <a:xfrm>
            <a:off x="6720840" y="5650992"/>
            <a:ext cx="4754880" cy="3200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Sự cố NO₂ thật khi đun bếp gas trong nhà</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Xây dựng bộ dữ liệu đánh giá</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Chuẩn hoá đơn vị, ghép nhiều nguồn và gắn nhãn theo QCVN</a:t>
            </a:r>
            <a:endParaRPr lang="en-US" sz="1600" dirty="0"/>
          </a:p>
        </p:txBody>
      </p:sp>
      <p:sp>
        <p:nvSpPr>
          <p:cNvPr id="4" name="Shape 2"/>
          <p:cNvSpPr/>
          <p:nvPr/>
        </p:nvSpPr>
        <p:spPr>
          <a:xfrm>
            <a:off x="548640" y="1737360"/>
            <a:ext cx="2331720" cy="1783080"/>
          </a:xfrm>
          <a:prstGeom prst="roundRect">
            <a:avLst>
              <a:gd name="adj" fmla="val 615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965960"/>
            <a:ext cx="594360" cy="59436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907999" y="2096719"/>
            <a:ext cx="332842" cy="332842"/>
          </a:xfrm>
          <a:prstGeom prst="rect">
            <a:avLst/>
          </a:prstGeom>
        </p:spPr>
      </p:pic>
      <p:sp>
        <p:nvSpPr>
          <p:cNvPr id="7" name="Text 4"/>
          <p:cNvSpPr txBox="1"/>
          <p:nvPr/>
        </p:nvSpPr>
        <p:spPr>
          <a:xfrm>
            <a:off x="2331720" y="1920240"/>
            <a:ext cx="411480" cy="411480"/>
          </a:xfrm>
          <a:prstGeom prst="rect">
            <a:avLst/>
          </a:prstGeom>
          <a:noFill/>
          <a:ln/>
        </p:spPr>
        <p:txBody>
          <a:bodyPr wrap="square" lIns="0" tIns="0" rIns="0" bIns="0" rtlCol="0" anchor="ctr"/>
          <a:lstStyle/>
          <a:p>
            <a:pPr algn="r" indent="0" marL="0">
              <a:buNone/>
            </a:pPr>
            <a:r>
              <a:rPr lang="en-US" sz="2000" b="1" dirty="0">
                <a:solidFill>
                  <a:srgbClr val="CBD5E1"/>
                </a:solidFill>
                <a:latin typeface="Cambria" pitchFamily="34" charset="0"/>
                <a:ea typeface="Cambria" pitchFamily="34" charset="-122"/>
                <a:cs typeface="Cambria" pitchFamily="34" charset="-120"/>
              </a:rPr>
              <a:t>1</a:t>
            </a:r>
            <a:endParaRPr lang="en-US" sz="2000" dirty="0"/>
          </a:p>
        </p:txBody>
      </p:sp>
      <p:sp>
        <p:nvSpPr>
          <p:cNvPr id="8" name="Text 5"/>
          <p:cNvSpPr txBox="1"/>
          <p:nvPr/>
        </p:nvSpPr>
        <p:spPr>
          <a:xfrm>
            <a:off x="777240" y="2651760"/>
            <a:ext cx="1965960" cy="32004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Chuẩn hoá đơn vị</a:t>
            </a:r>
            <a:endParaRPr lang="en-US" sz="1500" dirty="0"/>
          </a:p>
        </p:txBody>
      </p:sp>
      <p:sp>
        <p:nvSpPr>
          <p:cNvPr id="9" name="Text 6"/>
          <p:cNvSpPr txBox="1"/>
          <p:nvPr/>
        </p:nvSpPr>
        <p:spPr>
          <a:xfrm>
            <a:off x="777240" y="2971800"/>
            <a:ext cx="196596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mg/m³, µg/m³, ppbv → ppm</a:t>
            </a:r>
            <a:endParaRPr lang="en-US" sz="1200" dirty="0"/>
          </a:p>
        </p:txBody>
      </p:sp>
      <p:sp>
        <p:nvSpPr>
          <p:cNvPr id="10" name="Shape 7"/>
          <p:cNvSpPr/>
          <p:nvPr/>
        </p:nvSpPr>
        <p:spPr>
          <a:xfrm>
            <a:off x="3063240" y="1737360"/>
            <a:ext cx="2331720" cy="1783080"/>
          </a:xfrm>
          <a:prstGeom prst="roundRect">
            <a:avLst>
              <a:gd name="adj" fmla="val 615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291840" y="1965960"/>
            <a:ext cx="594360" cy="594360"/>
          </a:xfrm>
          <a:prstGeom prst="ellipse">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3422599" y="2096719"/>
            <a:ext cx="332842" cy="332842"/>
          </a:xfrm>
          <a:prstGeom prst="rect">
            <a:avLst/>
          </a:prstGeom>
        </p:spPr>
      </p:pic>
      <p:sp>
        <p:nvSpPr>
          <p:cNvPr id="13" name="Text 9"/>
          <p:cNvSpPr txBox="1"/>
          <p:nvPr/>
        </p:nvSpPr>
        <p:spPr>
          <a:xfrm>
            <a:off x="4846320" y="1920240"/>
            <a:ext cx="411480" cy="411480"/>
          </a:xfrm>
          <a:prstGeom prst="rect">
            <a:avLst/>
          </a:prstGeom>
          <a:noFill/>
          <a:ln/>
        </p:spPr>
        <p:txBody>
          <a:bodyPr wrap="square" lIns="0" tIns="0" rIns="0" bIns="0" rtlCol="0" anchor="ctr"/>
          <a:lstStyle/>
          <a:p>
            <a:pPr algn="r" indent="0" marL="0">
              <a:buNone/>
            </a:pPr>
            <a:r>
              <a:rPr lang="en-US" sz="2000" b="1" dirty="0">
                <a:solidFill>
                  <a:srgbClr val="CBD5E1"/>
                </a:solidFill>
                <a:latin typeface="Cambria" pitchFamily="34" charset="0"/>
                <a:ea typeface="Cambria" pitchFamily="34" charset="-122"/>
                <a:cs typeface="Cambria" pitchFamily="34" charset="-120"/>
              </a:rPr>
              <a:t>2</a:t>
            </a:r>
            <a:endParaRPr lang="en-US" sz="2000" dirty="0"/>
          </a:p>
        </p:txBody>
      </p:sp>
      <p:sp>
        <p:nvSpPr>
          <p:cNvPr id="14" name="Text 10"/>
          <p:cNvSpPr txBox="1"/>
          <p:nvPr/>
        </p:nvSpPr>
        <p:spPr>
          <a:xfrm>
            <a:off x="3291840" y="2651760"/>
            <a:ext cx="1965960" cy="32004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Tạo nền</a:t>
            </a:r>
            <a:endParaRPr lang="en-US" sz="1500" dirty="0"/>
          </a:p>
        </p:txBody>
      </p:sp>
      <p:sp>
        <p:nvSpPr>
          <p:cNvPr id="15" name="Text 11"/>
          <p:cNvSpPr txBox="1"/>
          <p:nvPr/>
        </p:nvSpPr>
        <p:spPr>
          <a:xfrm>
            <a:off x="3291840" y="2971800"/>
            <a:ext cx="196596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UCI tháng 6–9, nội suy 1 giờ → 5 giây</a:t>
            </a:r>
            <a:endParaRPr lang="en-US" sz="1200" dirty="0"/>
          </a:p>
        </p:txBody>
      </p:sp>
      <p:sp>
        <p:nvSpPr>
          <p:cNvPr id="16" name="Shape 12"/>
          <p:cNvSpPr/>
          <p:nvPr/>
        </p:nvSpPr>
        <p:spPr>
          <a:xfrm>
            <a:off x="5577840" y="1737360"/>
            <a:ext cx="2331720" cy="1783080"/>
          </a:xfrm>
          <a:prstGeom prst="roundRect">
            <a:avLst>
              <a:gd name="adj" fmla="val 615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5806440" y="1965960"/>
            <a:ext cx="594360" cy="594360"/>
          </a:xfrm>
          <a:prstGeom prst="ellipse">
            <a:avLst/>
          </a:prstGeom>
          <a:solidFill>
            <a:srgbClr val="0F766E"/>
          </a:solidFill>
          <a:ln w="12700">
            <a:solidFill>
              <a:srgbClr val="0F766E"/>
            </a:solidFill>
            <a:prstDash val="solid"/>
          </a:ln>
        </p:spPr>
      </p:sp>
      <p:pic>
        <p:nvPicPr>
          <p:cNvPr id="18" name="Image 2" descr="preencoded.png">    </p:cNvPr>
          <p:cNvPicPr>
            <a:picLocks noChangeAspect="1"/>
          </p:cNvPicPr>
          <p:nvPr/>
        </p:nvPicPr>
        <p:blipFill>
          <a:blip r:embed="rId3"/>
          <a:stretch>
            <a:fillRect/>
          </a:stretch>
        </p:blipFill>
        <p:spPr>
          <a:xfrm>
            <a:off x="5937199" y="2096719"/>
            <a:ext cx="332842" cy="332842"/>
          </a:xfrm>
          <a:prstGeom prst="rect">
            <a:avLst/>
          </a:prstGeom>
        </p:spPr>
      </p:pic>
      <p:sp>
        <p:nvSpPr>
          <p:cNvPr id="19" name="Text 14"/>
          <p:cNvSpPr txBox="1"/>
          <p:nvPr/>
        </p:nvSpPr>
        <p:spPr>
          <a:xfrm>
            <a:off x="7360920" y="1920240"/>
            <a:ext cx="411480" cy="411480"/>
          </a:xfrm>
          <a:prstGeom prst="rect">
            <a:avLst/>
          </a:prstGeom>
          <a:noFill/>
          <a:ln/>
        </p:spPr>
        <p:txBody>
          <a:bodyPr wrap="square" lIns="0" tIns="0" rIns="0" bIns="0" rtlCol="0" anchor="ctr"/>
          <a:lstStyle/>
          <a:p>
            <a:pPr algn="r" indent="0" marL="0">
              <a:buNone/>
            </a:pPr>
            <a:r>
              <a:rPr lang="en-US" sz="2000" b="1" dirty="0">
                <a:solidFill>
                  <a:srgbClr val="CBD5E1"/>
                </a:solidFill>
                <a:latin typeface="Cambria" pitchFamily="34" charset="0"/>
                <a:ea typeface="Cambria" pitchFamily="34" charset="-122"/>
                <a:cs typeface="Cambria" pitchFamily="34" charset="-120"/>
              </a:rPr>
              <a:t>3</a:t>
            </a:r>
            <a:endParaRPr lang="en-US" sz="2000" dirty="0"/>
          </a:p>
        </p:txBody>
      </p:sp>
      <p:sp>
        <p:nvSpPr>
          <p:cNvPr id="20" name="Text 15"/>
          <p:cNvSpPr txBox="1"/>
          <p:nvPr/>
        </p:nvSpPr>
        <p:spPr>
          <a:xfrm>
            <a:off x="5806440" y="2651760"/>
            <a:ext cx="1965960" cy="32004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Nhúng sự cố thật</a:t>
            </a:r>
            <a:endParaRPr lang="en-US" sz="1500" dirty="0"/>
          </a:p>
        </p:txBody>
      </p:sp>
      <p:sp>
        <p:nvSpPr>
          <p:cNvPr id="21" name="Text 16"/>
          <p:cNvSpPr txBox="1"/>
          <p:nvPr/>
        </p:nvSpPr>
        <p:spPr>
          <a:xfrm>
            <a:off x="5806440" y="2971800"/>
            <a:ext cx="196596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Điều chỉnh đỉnh STEL 0,3–4× ngưỡng</a:t>
            </a:r>
            <a:endParaRPr lang="en-US" sz="1200" dirty="0"/>
          </a:p>
        </p:txBody>
      </p:sp>
      <p:sp>
        <p:nvSpPr>
          <p:cNvPr id="22" name="Shape 17"/>
          <p:cNvSpPr/>
          <p:nvPr/>
        </p:nvSpPr>
        <p:spPr>
          <a:xfrm>
            <a:off x="548640" y="3749040"/>
            <a:ext cx="2331720" cy="1783080"/>
          </a:xfrm>
          <a:prstGeom prst="roundRect">
            <a:avLst>
              <a:gd name="adj" fmla="val 615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777240" y="3977640"/>
            <a:ext cx="594360" cy="594360"/>
          </a:xfrm>
          <a:prstGeom prst="ellipse">
            <a:avLst/>
          </a:prstGeom>
          <a:solidFill>
            <a:srgbClr val="0F766E"/>
          </a:solidFill>
          <a:ln w="12700">
            <a:solidFill>
              <a:srgbClr val="0F766E"/>
            </a:solidFill>
            <a:prstDash val="solid"/>
          </a:ln>
        </p:spPr>
      </p:sp>
      <p:pic>
        <p:nvPicPr>
          <p:cNvPr id="24" name="Image 3" descr="preencoded.png">    </p:cNvPr>
          <p:cNvPicPr>
            <a:picLocks noChangeAspect="1"/>
          </p:cNvPicPr>
          <p:nvPr/>
        </p:nvPicPr>
        <p:blipFill>
          <a:blip r:embed="rId4"/>
          <a:stretch>
            <a:fillRect/>
          </a:stretch>
        </p:blipFill>
        <p:spPr>
          <a:xfrm>
            <a:off x="907999" y="4108399"/>
            <a:ext cx="332842" cy="332842"/>
          </a:xfrm>
          <a:prstGeom prst="rect">
            <a:avLst/>
          </a:prstGeom>
        </p:spPr>
      </p:pic>
      <p:sp>
        <p:nvSpPr>
          <p:cNvPr id="25" name="Text 19"/>
          <p:cNvSpPr txBox="1"/>
          <p:nvPr/>
        </p:nvSpPr>
        <p:spPr>
          <a:xfrm>
            <a:off x="2331720" y="3931920"/>
            <a:ext cx="411480" cy="411480"/>
          </a:xfrm>
          <a:prstGeom prst="rect">
            <a:avLst/>
          </a:prstGeom>
          <a:noFill/>
          <a:ln/>
        </p:spPr>
        <p:txBody>
          <a:bodyPr wrap="square" lIns="0" tIns="0" rIns="0" bIns="0" rtlCol="0" anchor="ctr"/>
          <a:lstStyle/>
          <a:p>
            <a:pPr algn="r" indent="0" marL="0">
              <a:buNone/>
            </a:pPr>
            <a:r>
              <a:rPr lang="en-US" sz="2000" b="1" dirty="0">
                <a:solidFill>
                  <a:srgbClr val="CBD5E1"/>
                </a:solidFill>
                <a:latin typeface="Cambria" pitchFamily="34" charset="0"/>
                <a:ea typeface="Cambria" pitchFamily="34" charset="-122"/>
                <a:cs typeface="Cambria" pitchFamily="34" charset="-120"/>
              </a:rPr>
              <a:t>4</a:t>
            </a:r>
            <a:endParaRPr lang="en-US" sz="2000" dirty="0"/>
          </a:p>
        </p:txBody>
      </p:sp>
      <p:sp>
        <p:nvSpPr>
          <p:cNvPr id="26" name="Text 20"/>
          <p:cNvSpPr txBox="1"/>
          <p:nvPr/>
        </p:nvSpPr>
        <p:spPr>
          <a:xfrm>
            <a:off x="777240" y="4663440"/>
            <a:ext cx="1965960" cy="32004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Nhúng nhiễu chéo</a:t>
            </a:r>
            <a:endParaRPr lang="en-US" sz="1500" dirty="0"/>
          </a:p>
        </p:txBody>
      </p:sp>
      <p:sp>
        <p:nvSpPr>
          <p:cNvPr id="27" name="Text 21"/>
          <p:cNvSpPr txBox="1"/>
          <p:nvPr/>
        </p:nvSpPr>
        <p:spPr>
          <a:xfrm>
            <a:off x="777240" y="4983480"/>
            <a:ext cx="196596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Cồn, xịt khử mùi, keo xịt tóc</a:t>
            </a:r>
            <a:endParaRPr lang="en-US" sz="1200" dirty="0"/>
          </a:p>
        </p:txBody>
      </p:sp>
      <p:sp>
        <p:nvSpPr>
          <p:cNvPr id="28" name="Shape 22"/>
          <p:cNvSpPr/>
          <p:nvPr/>
        </p:nvSpPr>
        <p:spPr>
          <a:xfrm>
            <a:off x="3063240" y="3749040"/>
            <a:ext cx="2331720" cy="1783080"/>
          </a:xfrm>
          <a:prstGeom prst="roundRect">
            <a:avLst>
              <a:gd name="adj" fmla="val 615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9" name="Shape 23"/>
          <p:cNvSpPr/>
          <p:nvPr/>
        </p:nvSpPr>
        <p:spPr>
          <a:xfrm>
            <a:off x="3291840" y="3977640"/>
            <a:ext cx="594360" cy="594360"/>
          </a:xfrm>
          <a:prstGeom prst="ellipse">
            <a:avLst/>
          </a:prstGeom>
          <a:solidFill>
            <a:srgbClr val="0F766E"/>
          </a:solidFill>
          <a:ln w="12700">
            <a:solidFill>
              <a:srgbClr val="0F766E"/>
            </a:solidFill>
            <a:prstDash val="solid"/>
          </a:ln>
        </p:spPr>
      </p:sp>
      <p:pic>
        <p:nvPicPr>
          <p:cNvPr id="30" name="Image 4" descr="preencoded.png">    </p:cNvPr>
          <p:cNvPicPr>
            <a:picLocks noChangeAspect="1"/>
          </p:cNvPicPr>
          <p:nvPr/>
        </p:nvPicPr>
        <p:blipFill>
          <a:blip r:embed="rId5"/>
          <a:stretch>
            <a:fillRect/>
          </a:stretch>
        </p:blipFill>
        <p:spPr>
          <a:xfrm>
            <a:off x="3422599" y="4108399"/>
            <a:ext cx="332842" cy="332842"/>
          </a:xfrm>
          <a:prstGeom prst="rect">
            <a:avLst/>
          </a:prstGeom>
        </p:spPr>
      </p:pic>
      <p:sp>
        <p:nvSpPr>
          <p:cNvPr id="31" name="Text 24"/>
          <p:cNvSpPr txBox="1"/>
          <p:nvPr/>
        </p:nvSpPr>
        <p:spPr>
          <a:xfrm>
            <a:off x="4846320" y="3931920"/>
            <a:ext cx="411480" cy="411480"/>
          </a:xfrm>
          <a:prstGeom prst="rect">
            <a:avLst/>
          </a:prstGeom>
          <a:noFill/>
          <a:ln/>
        </p:spPr>
        <p:txBody>
          <a:bodyPr wrap="square" lIns="0" tIns="0" rIns="0" bIns="0" rtlCol="0" anchor="ctr"/>
          <a:lstStyle/>
          <a:p>
            <a:pPr algn="r" indent="0" marL="0">
              <a:buNone/>
            </a:pPr>
            <a:r>
              <a:rPr lang="en-US" sz="2000" b="1" dirty="0">
                <a:solidFill>
                  <a:srgbClr val="CBD5E1"/>
                </a:solidFill>
                <a:latin typeface="Cambria" pitchFamily="34" charset="0"/>
                <a:ea typeface="Cambria" pitchFamily="34" charset="-122"/>
                <a:cs typeface="Cambria" pitchFamily="34" charset="-120"/>
              </a:rPr>
              <a:t>5</a:t>
            </a:r>
            <a:endParaRPr lang="en-US" sz="2000" dirty="0"/>
          </a:p>
        </p:txBody>
      </p:sp>
      <p:sp>
        <p:nvSpPr>
          <p:cNvPr id="32" name="Text 25"/>
          <p:cNvSpPr txBox="1"/>
          <p:nvPr/>
        </p:nvSpPr>
        <p:spPr>
          <a:xfrm>
            <a:off x="3291840" y="4663440"/>
            <a:ext cx="1965960" cy="32004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Mô phỏng cảm biến</a:t>
            </a:r>
            <a:endParaRPr lang="en-US" sz="1500" dirty="0"/>
          </a:p>
        </p:txBody>
      </p:sp>
      <p:sp>
        <p:nvSpPr>
          <p:cNvPr id="33" name="Text 26"/>
          <p:cNvSpPr txBox="1"/>
          <p:nvPr/>
        </p:nvSpPr>
        <p:spPr>
          <a:xfrm>
            <a:off x="3291840" y="4983480"/>
            <a:ext cx="196596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Trễ, sai số, nhiễu, lượng tử hoá</a:t>
            </a:r>
            <a:endParaRPr lang="en-US" sz="1200" dirty="0"/>
          </a:p>
        </p:txBody>
      </p:sp>
      <p:sp>
        <p:nvSpPr>
          <p:cNvPr id="34" name="Shape 27"/>
          <p:cNvSpPr/>
          <p:nvPr/>
        </p:nvSpPr>
        <p:spPr>
          <a:xfrm>
            <a:off x="5577840" y="3749040"/>
            <a:ext cx="2331720" cy="1783080"/>
          </a:xfrm>
          <a:prstGeom prst="roundRect">
            <a:avLst>
              <a:gd name="adj" fmla="val 615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35" name="Shape 28"/>
          <p:cNvSpPr/>
          <p:nvPr/>
        </p:nvSpPr>
        <p:spPr>
          <a:xfrm>
            <a:off x="5806440" y="3977640"/>
            <a:ext cx="594360" cy="594360"/>
          </a:xfrm>
          <a:prstGeom prst="ellipse">
            <a:avLst/>
          </a:prstGeom>
          <a:solidFill>
            <a:srgbClr val="0F766E"/>
          </a:solidFill>
          <a:ln w="12700">
            <a:solidFill>
              <a:srgbClr val="0F766E"/>
            </a:solidFill>
            <a:prstDash val="solid"/>
          </a:ln>
        </p:spPr>
      </p:sp>
      <p:pic>
        <p:nvPicPr>
          <p:cNvPr id="36" name="Image 5" descr="preencoded.png">    </p:cNvPr>
          <p:cNvPicPr>
            <a:picLocks noChangeAspect="1"/>
          </p:cNvPicPr>
          <p:nvPr/>
        </p:nvPicPr>
        <p:blipFill>
          <a:blip r:embed="rId6"/>
          <a:stretch>
            <a:fillRect/>
          </a:stretch>
        </p:blipFill>
        <p:spPr>
          <a:xfrm>
            <a:off x="5937199" y="4108399"/>
            <a:ext cx="332842" cy="332842"/>
          </a:xfrm>
          <a:prstGeom prst="rect">
            <a:avLst/>
          </a:prstGeom>
        </p:spPr>
      </p:pic>
      <p:sp>
        <p:nvSpPr>
          <p:cNvPr id="37" name="Text 29"/>
          <p:cNvSpPr txBox="1"/>
          <p:nvPr/>
        </p:nvSpPr>
        <p:spPr>
          <a:xfrm>
            <a:off x="7360920" y="3931920"/>
            <a:ext cx="411480" cy="411480"/>
          </a:xfrm>
          <a:prstGeom prst="rect">
            <a:avLst/>
          </a:prstGeom>
          <a:noFill/>
          <a:ln/>
        </p:spPr>
        <p:txBody>
          <a:bodyPr wrap="square" lIns="0" tIns="0" rIns="0" bIns="0" rtlCol="0" anchor="ctr"/>
          <a:lstStyle/>
          <a:p>
            <a:pPr algn="r" indent="0" marL="0">
              <a:buNone/>
            </a:pPr>
            <a:r>
              <a:rPr lang="en-US" sz="2000" b="1" dirty="0">
                <a:solidFill>
                  <a:srgbClr val="CBD5E1"/>
                </a:solidFill>
                <a:latin typeface="Cambria" pitchFamily="34" charset="0"/>
                <a:ea typeface="Cambria" pitchFamily="34" charset="-122"/>
                <a:cs typeface="Cambria" pitchFamily="34" charset="-120"/>
              </a:rPr>
              <a:t>6</a:t>
            </a:r>
            <a:endParaRPr lang="en-US" sz="2000" dirty="0"/>
          </a:p>
        </p:txBody>
      </p:sp>
      <p:sp>
        <p:nvSpPr>
          <p:cNvPr id="38" name="Text 30"/>
          <p:cNvSpPr txBox="1"/>
          <p:nvPr/>
        </p:nvSpPr>
        <p:spPr>
          <a:xfrm>
            <a:off x="5806440" y="4663440"/>
            <a:ext cx="1965960" cy="320040"/>
          </a:xfrm>
          <a:prstGeom prst="rect">
            <a:avLst/>
          </a:prstGeom>
          <a:noFill/>
          <a:ln/>
        </p:spPr>
        <p:txBody>
          <a:bodyPr wrap="square" lIns="0" tIns="0" rIns="0" bIns="0" rtlCol="0" anchor="ctr"/>
          <a:lstStyle/>
          <a:p>
            <a:pPr indent="0" marL="0">
              <a:buNone/>
            </a:pPr>
            <a:r>
              <a:rPr lang="en-US" sz="1500" b="1" dirty="0">
                <a:solidFill>
                  <a:srgbClr val="1F2937"/>
                </a:solidFill>
                <a:latin typeface="Cambria" pitchFamily="34" charset="0"/>
                <a:ea typeface="Cambria" pitchFamily="34" charset="-122"/>
                <a:cs typeface="Cambria" pitchFamily="34" charset="-120"/>
              </a:rPr>
              <a:t>Gắn nhãn QCVN</a:t>
            </a:r>
            <a:endParaRPr lang="en-US" sz="1500" dirty="0"/>
          </a:p>
        </p:txBody>
      </p:sp>
      <p:sp>
        <p:nvSpPr>
          <p:cNvPr id="39" name="Text 31"/>
          <p:cNvSpPr txBox="1"/>
          <p:nvPr/>
        </p:nvSpPr>
        <p:spPr>
          <a:xfrm>
            <a:off x="5806440" y="4983480"/>
            <a:ext cx="1965960" cy="50292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STEL, TWA, sắp vượt trong 10 phút</a:t>
            </a:r>
            <a:endParaRPr lang="en-US" sz="1200" dirty="0"/>
          </a:p>
        </p:txBody>
      </p:sp>
      <p:sp>
        <p:nvSpPr>
          <p:cNvPr id="40" name="Shape 32"/>
          <p:cNvSpPr/>
          <p:nvPr/>
        </p:nvSpPr>
        <p:spPr>
          <a:xfrm>
            <a:off x="8275320" y="1737360"/>
            <a:ext cx="3337560" cy="3794760"/>
          </a:xfrm>
          <a:prstGeom prst="roundRect">
            <a:avLst>
              <a:gd name="adj" fmla="val 3288"/>
            </a:avLst>
          </a:prstGeom>
          <a:solidFill>
            <a:srgbClr val="0E3B43"/>
          </a:solidFill>
          <a:ln w="9525">
            <a:solidFill>
              <a:srgbClr val="0E3B43"/>
            </a:solidFill>
            <a:prstDash val="solid"/>
          </a:ln>
          <a:effectLst>
            <a:outerShdw sx="100000" sy="100000" kx="0" ky="0" algn="bl" rotWithShape="0" blurRad="76200" dist="25400" dir="5400000">
              <a:srgbClr val="000000">
                <a:alpha val="12000"/>
              </a:srgbClr>
            </a:outerShdw>
          </a:effectLst>
        </p:spPr>
      </p:sp>
      <p:sp>
        <p:nvSpPr>
          <p:cNvPr id="41" name="Text 33"/>
          <p:cNvSpPr txBox="1"/>
          <p:nvPr/>
        </p:nvSpPr>
        <p:spPr>
          <a:xfrm>
            <a:off x="8549640" y="1920240"/>
            <a:ext cx="2834640" cy="640080"/>
          </a:xfrm>
          <a:prstGeom prst="rect">
            <a:avLst/>
          </a:prstGeom>
          <a:noFill/>
          <a:ln/>
        </p:spPr>
        <p:txBody>
          <a:bodyPr wrap="square" lIns="0" tIns="0" rIns="0" bIns="0" rtlCol="0" anchor="ctr"/>
          <a:lstStyle/>
          <a:p>
            <a:pPr indent="0" marL="0">
              <a:buNone/>
            </a:pPr>
            <a:r>
              <a:rPr lang="en-US" sz="3600" b="1" dirty="0">
                <a:solidFill>
                  <a:srgbClr val="F59E0B"/>
                </a:solidFill>
                <a:latin typeface="Cambria" pitchFamily="34" charset="0"/>
                <a:ea typeface="Cambria" pitchFamily="34" charset="-122"/>
                <a:cs typeface="Cambria" pitchFamily="34" charset="-120"/>
              </a:rPr>
              <a:t>100</a:t>
            </a:r>
            <a:endParaRPr lang="en-US" sz="3600" dirty="0"/>
          </a:p>
        </p:txBody>
      </p:sp>
      <p:sp>
        <p:nvSpPr>
          <p:cNvPr id="42" name="Text 34"/>
          <p:cNvSpPr txBox="1"/>
          <p:nvPr/>
        </p:nvSpPr>
        <p:spPr>
          <a:xfrm>
            <a:off x="8549640" y="2560320"/>
            <a:ext cx="2834640" cy="365760"/>
          </a:xfrm>
          <a:prstGeom prst="rect">
            <a:avLst/>
          </a:prstGeom>
          <a:noFill/>
          <a:ln/>
        </p:spPr>
        <p:txBody>
          <a:bodyPr wrap="square" lIns="0" tIns="0" rIns="0" bIns="0" rtlCol="0" anchor="ctr"/>
          <a:lstStyle/>
          <a:p>
            <a:pPr indent="0" marL="0">
              <a:buNone/>
            </a:pPr>
            <a:r>
              <a:rPr lang="en-US" sz="1300" dirty="0">
                <a:solidFill>
                  <a:srgbClr val="CFE3E1"/>
                </a:solidFill>
                <a:latin typeface="Calibri" pitchFamily="34" charset="0"/>
                <a:ea typeface="Calibri" pitchFamily="34" charset="-122"/>
                <a:cs typeface="Calibri" pitchFamily="34" charset="-120"/>
              </a:rPr>
              <a:t>ngày dữ liệu, độ phân giải 5 giây</a:t>
            </a:r>
            <a:endParaRPr lang="en-US" sz="1300" dirty="0"/>
          </a:p>
        </p:txBody>
      </p:sp>
      <p:sp>
        <p:nvSpPr>
          <p:cNvPr id="43" name="Text 35"/>
          <p:cNvSpPr txBox="1"/>
          <p:nvPr/>
        </p:nvSpPr>
        <p:spPr>
          <a:xfrm>
            <a:off x="8549640" y="3108960"/>
            <a:ext cx="2834640" cy="640080"/>
          </a:xfrm>
          <a:prstGeom prst="rect">
            <a:avLst/>
          </a:prstGeom>
          <a:noFill/>
          <a:ln/>
        </p:spPr>
        <p:txBody>
          <a:bodyPr wrap="square" lIns="0" tIns="0" rIns="0" bIns="0" rtlCol="0" anchor="ctr"/>
          <a:lstStyle/>
          <a:p>
            <a:pPr indent="0" marL="0">
              <a:buNone/>
            </a:pPr>
            <a:r>
              <a:rPr lang="en-US" sz="3600" b="1" dirty="0">
                <a:solidFill>
                  <a:srgbClr val="F59E0B"/>
                </a:solidFill>
                <a:latin typeface="Cambria" pitchFamily="34" charset="0"/>
                <a:ea typeface="Cambria" pitchFamily="34" charset="-122"/>
                <a:cs typeface="Cambria" pitchFamily="34" charset="-120"/>
              </a:rPr>
              <a:t>259</a:t>
            </a:r>
            <a:endParaRPr lang="en-US" sz="3600" dirty="0"/>
          </a:p>
        </p:txBody>
      </p:sp>
      <p:sp>
        <p:nvSpPr>
          <p:cNvPr id="44" name="Text 36"/>
          <p:cNvSpPr txBox="1"/>
          <p:nvPr/>
        </p:nvSpPr>
        <p:spPr>
          <a:xfrm>
            <a:off x="8549640" y="3749040"/>
            <a:ext cx="2834640" cy="365760"/>
          </a:xfrm>
          <a:prstGeom prst="rect">
            <a:avLst/>
          </a:prstGeom>
          <a:noFill/>
          <a:ln/>
        </p:spPr>
        <p:txBody>
          <a:bodyPr wrap="square" lIns="0" tIns="0" rIns="0" bIns="0" rtlCol="0" anchor="ctr"/>
          <a:lstStyle/>
          <a:p>
            <a:pPr indent="0" marL="0">
              <a:buNone/>
            </a:pPr>
            <a:r>
              <a:rPr lang="en-US" sz="1300" dirty="0">
                <a:solidFill>
                  <a:srgbClr val="CFE3E1"/>
                </a:solidFill>
                <a:latin typeface="Calibri" pitchFamily="34" charset="0"/>
                <a:ea typeface="Calibri" pitchFamily="34" charset="-122"/>
                <a:cs typeface="Calibri" pitchFamily="34" charset="-120"/>
              </a:rPr>
              <a:t>sự cố CO và NO₂ được nhúng</a:t>
            </a:r>
            <a:endParaRPr lang="en-US" sz="1300" dirty="0"/>
          </a:p>
        </p:txBody>
      </p:sp>
      <p:sp>
        <p:nvSpPr>
          <p:cNvPr id="45" name="Text 37"/>
          <p:cNvSpPr txBox="1"/>
          <p:nvPr/>
        </p:nvSpPr>
        <p:spPr>
          <a:xfrm>
            <a:off x="8549640" y="4297680"/>
            <a:ext cx="2834640" cy="640080"/>
          </a:xfrm>
          <a:prstGeom prst="rect">
            <a:avLst/>
          </a:prstGeom>
          <a:noFill/>
          <a:ln/>
        </p:spPr>
        <p:txBody>
          <a:bodyPr wrap="square" lIns="0" tIns="0" rIns="0" bIns="0" rtlCol="0" anchor="ctr"/>
          <a:lstStyle/>
          <a:p>
            <a:pPr indent="0" marL="0">
              <a:buNone/>
            </a:pPr>
            <a:r>
              <a:rPr lang="en-US" sz="3600" b="1" dirty="0">
                <a:solidFill>
                  <a:srgbClr val="F59E0B"/>
                </a:solidFill>
                <a:latin typeface="Cambria" pitchFamily="34" charset="0"/>
                <a:ea typeface="Cambria" pitchFamily="34" charset="-122"/>
                <a:cs typeface="Cambria" pitchFamily="34" charset="-120"/>
              </a:rPr>
              <a:t>139</a:t>
            </a:r>
            <a:endParaRPr lang="en-US" sz="3600" dirty="0"/>
          </a:p>
        </p:txBody>
      </p:sp>
      <p:sp>
        <p:nvSpPr>
          <p:cNvPr id="46" name="Text 38"/>
          <p:cNvSpPr txBox="1"/>
          <p:nvPr/>
        </p:nvSpPr>
        <p:spPr>
          <a:xfrm>
            <a:off x="8549640" y="4937760"/>
            <a:ext cx="2834640" cy="365760"/>
          </a:xfrm>
          <a:prstGeom prst="rect">
            <a:avLst/>
          </a:prstGeom>
          <a:noFill/>
          <a:ln/>
        </p:spPr>
        <p:txBody>
          <a:bodyPr wrap="square" lIns="0" tIns="0" rIns="0" bIns="0" rtlCol="0" anchor="ctr"/>
          <a:lstStyle/>
          <a:p>
            <a:pPr indent="0" marL="0">
              <a:buNone/>
            </a:pPr>
            <a:r>
              <a:rPr lang="en-US" sz="1300" dirty="0">
                <a:solidFill>
                  <a:srgbClr val="CFE3E1"/>
                </a:solidFill>
                <a:latin typeface="Calibri" pitchFamily="34" charset="0"/>
                <a:ea typeface="Calibri" pitchFamily="34" charset="-122"/>
                <a:cs typeface="Calibri" pitchFamily="34" charset="-120"/>
              </a:rPr>
              <a:t>sự cố vượt ngưỡng QCVN</a:t>
            </a:r>
            <a:endParaRPr lang="en-US" sz="1300" dirty="0"/>
          </a:p>
        </p:txBody>
      </p:sp>
      <p:sp>
        <p:nvSpPr>
          <p:cNvPr id="47" name="Text 39"/>
          <p:cNvSpPr txBox="1"/>
          <p:nvPr/>
        </p:nvSpPr>
        <p:spPr>
          <a:xfrm>
            <a:off x="548640" y="5806440"/>
            <a:ext cx="11094415" cy="365760"/>
          </a:xfrm>
          <a:prstGeom prst="rect">
            <a:avLst/>
          </a:prstGeom>
          <a:noFill/>
          <a:ln/>
        </p:spPr>
        <p:txBody>
          <a:bodyPr wrap="square" lIns="0" tIns="0" rIns="0" bIns="0" rtlCol="0" anchor="ctr"/>
          <a:lstStyle/>
          <a:p>
            <a:pPr indent="0" marL="0">
              <a:buNone/>
            </a:pPr>
            <a:r>
              <a:rPr lang="en-US" sz="1400" i="1" dirty="0">
                <a:solidFill>
                  <a:srgbClr val="0F766E"/>
                </a:solidFill>
                <a:latin typeface="Calibri" pitchFamily="34" charset="0"/>
                <a:ea typeface="Calibri" pitchFamily="34" charset="-122"/>
                <a:cs typeface="Calibri" pitchFamily="34" charset="-120"/>
              </a:rPr>
              <a:t>C(ppm) = C(mg/m³) × 24,45 / M      M(CO) = 28,01   ·   M(NO₂) = 46,01 g/mol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Phương pháp đánh giá</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Các chỉ số phân loại chuẩn, ở hai cấp độ, kèm kiểm định thống kê</a:t>
            </a:r>
            <a:endParaRPr lang="en-US" sz="1600" dirty="0"/>
          </a:p>
        </p:txBody>
      </p:sp>
      <p:sp>
        <p:nvSpPr>
          <p:cNvPr id="4" name="Shape 2"/>
          <p:cNvSpPr/>
          <p:nvPr/>
        </p:nvSpPr>
        <p:spPr>
          <a:xfrm>
            <a:off x="548640" y="1737360"/>
            <a:ext cx="5394960" cy="2514600"/>
          </a:xfrm>
          <a:prstGeom prst="roundRect">
            <a:avLst>
              <a:gd name="adj" fmla="val 436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822960" y="1965960"/>
            <a:ext cx="685800" cy="68580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973836" y="2116836"/>
            <a:ext cx="384048" cy="384048"/>
          </a:xfrm>
          <a:prstGeom prst="rect">
            <a:avLst/>
          </a:prstGeom>
        </p:spPr>
      </p:pic>
      <p:sp>
        <p:nvSpPr>
          <p:cNvPr id="7" name="Text 4"/>
          <p:cNvSpPr txBox="1"/>
          <p:nvPr/>
        </p:nvSpPr>
        <p:spPr>
          <a:xfrm>
            <a:off x="1691640" y="2057400"/>
            <a:ext cx="4023360" cy="41148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Theo bước 10 giây</a:t>
            </a:r>
            <a:endParaRPr lang="en-US" sz="1900" dirty="0"/>
          </a:p>
        </p:txBody>
      </p:sp>
      <p:sp>
        <p:nvSpPr>
          <p:cNvPr id="8" name="Text 5"/>
          <p:cNvSpPr txBox="1"/>
          <p:nvPr/>
        </p:nvSpPr>
        <p:spPr>
          <a:xfrm>
            <a:off x="822960" y="2834640"/>
            <a:ext cx="4846320" cy="64008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Mỗi bước là một mẫu. Nhãn = STEL thật vượt ngưỡng trong 10 phút tới.</a:t>
            </a:r>
            <a:endParaRPr lang="en-US" sz="1400" dirty="0"/>
          </a:p>
        </p:txBody>
      </p:sp>
      <p:sp>
        <p:nvSpPr>
          <p:cNvPr id="9" name="Shape 6"/>
          <p:cNvSpPr/>
          <p:nvPr/>
        </p:nvSpPr>
        <p:spPr>
          <a:xfrm>
            <a:off x="822960" y="3520440"/>
            <a:ext cx="4846320" cy="548640"/>
          </a:xfrm>
          <a:prstGeom prst="roundRect">
            <a:avLst>
              <a:gd name="adj" fmla="val 13333"/>
            </a:avLst>
          </a:prstGeom>
          <a:solidFill>
            <a:srgbClr val="E3F1EF"/>
          </a:solidFill>
          <a:ln w="12700">
            <a:solidFill>
              <a:srgbClr val="E3F1EF"/>
            </a:solidFill>
            <a:prstDash val="solid"/>
          </a:ln>
        </p:spPr>
      </p:sp>
      <p:sp>
        <p:nvSpPr>
          <p:cNvPr id="10" name="Text 7"/>
          <p:cNvSpPr txBox="1"/>
          <p:nvPr/>
        </p:nvSpPr>
        <p:spPr>
          <a:xfrm>
            <a:off x="960120" y="3520440"/>
            <a:ext cx="4572000" cy="5486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Accuracy · Precision · Recall · F1 · MCC · AUROC · PR-AUC</a:t>
            </a:r>
            <a:endParaRPr lang="en-US" sz="1300" dirty="0"/>
          </a:p>
        </p:txBody>
      </p:sp>
      <p:sp>
        <p:nvSpPr>
          <p:cNvPr id="11" name="Shape 8"/>
          <p:cNvSpPr/>
          <p:nvPr/>
        </p:nvSpPr>
        <p:spPr>
          <a:xfrm>
            <a:off x="6217920" y="1737360"/>
            <a:ext cx="5394960" cy="2514600"/>
          </a:xfrm>
          <a:prstGeom prst="roundRect">
            <a:avLst>
              <a:gd name="adj" fmla="val 436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6492240" y="1965960"/>
            <a:ext cx="685800" cy="685800"/>
          </a:xfrm>
          <a:prstGeom prst="ellipse">
            <a:avLst/>
          </a:prstGeom>
          <a:solidFill>
            <a:srgbClr val="0F766E"/>
          </a:solidFill>
          <a:ln w="12700">
            <a:solidFill>
              <a:srgbClr val="0F766E"/>
            </a:solidFill>
            <a:prstDash val="solid"/>
          </a:ln>
        </p:spPr>
      </p:sp>
      <p:pic>
        <p:nvPicPr>
          <p:cNvPr id="13" name="Image 1" descr="preencoded.png">    </p:cNvPr>
          <p:cNvPicPr>
            <a:picLocks noChangeAspect="1"/>
          </p:cNvPicPr>
          <p:nvPr/>
        </p:nvPicPr>
        <p:blipFill>
          <a:blip r:embed="rId2"/>
          <a:stretch>
            <a:fillRect/>
          </a:stretch>
        </p:blipFill>
        <p:spPr>
          <a:xfrm>
            <a:off x="6643116" y="2116836"/>
            <a:ext cx="384048" cy="384048"/>
          </a:xfrm>
          <a:prstGeom prst="rect">
            <a:avLst/>
          </a:prstGeom>
        </p:spPr>
      </p:pic>
      <p:sp>
        <p:nvSpPr>
          <p:cNvPr id="14" name="Text 10"/>
          <p:cNvSpPr txBox="1"/>
          <p:nvPr/>
        </p:nvSpPr>
        <p:spPr>
          <a:xfrm>
            <a:off x="7360920" y="2057400"/>
            <a:ext cx="4023360" cy="411480"/>
          </a:xfrm>
          <a:prstGeom prst="rect">
            <a:avLst/>
          </a:prstGeom>
          <a:noFill/>
          <a:ln/>
        </p:spPr>
        <p:txBody>
          <a:bodyPr wrap="square" lIns="0" tIns="0" rIns="0" bIns="0" rtlCol="0" anchor="ctr"/>
          <a:lstStyle/>
          <a:p>
            <a:pPr indent="0" marL="0">
              <a:buNone/>
            </a:pPr>
            <a:r>
              <a:rPr lang="en-US" sz="1900" b="1" dirty="0">
                <a:solidFill>
                  <a:srgbClr val="1F2937"/>
                </a:solidFill>
                <a:latin typeface="Cambria" pitchFamily="34" charset="0"/>
                <a:ea typeface="Cambria" pitchFamily="34" charset="-122"/>
                <a:cs typeface="Cambria" pitchFamily="34" charset="-120"/>
              </a:rPr>
              <a:t>Theo đợt vượt ngưỡng</a:t>
            </a:r>
            <a:endParaRPr lang="en-US" sz="1900" dirty="0"/>
          </a:p>
        </p:txBody>
      </p:sp>
      <p:sp>
        <p:nvSpPr>
          <p:cNvPr id="15" name="Text 11"/>
          <p:cNvSpPr txBox="1"/>
          <p:nvPr/>
        </p:nvSpPr>
        <p:spPr>
          <a:xfrm>
            <a:off x="6492240" y="2834640"/>
            <a:ext cx="4846320" cy="640080"/>
          </a:xfrm>
          <a:prstGeom prst="rect">
            <a:avLst/>
          </a:prstGeom>
          <a:noFill/>
          <a:ln/>
        </p:spPr>
        <p:txBody>
          <a:bodyPr wrap="square" lIns="0" tIns="0" rIns="0" bIns="0" rtlCol="0" anchor="t"/>
          <a:lstStyle/>
          <a:p>
            <a:pPr indent="0" marL="0">
              <a:buNone/>
            </a:pPr>
            <a:r>
              <a:rPr lang="en-US" sz="1400" dirty="0">
                <a:solidFill>
                  <a:srgbClr val="64748B"/>
                </a:solidFill>
                <a:latin typeface="Calibri" pitchFamily="34" charset="0"/>
                <a:ea typeface="Calibri" pitchFamily="34" charset="-122"/>
                <a:cs typeface="Calibri" pitchFamily="34" charset="-120"/>
              </a:rPr>
              <a:t>Mỗi đợt nguy hiểm là một sự kiện — sát với trải nghiệm người dùng.</a:t>
            </a:r>
            <a:endParaRPr lang="en-US" sz="1400" dirty="0"/>
          </a:p>
        </p:txBody>
      </p:sp>
      <p:sp>
        <p:nvSpPr>
          <p:cNvPr id="16" name="Shape 12"/>
          <p:cNvSpPr/>
          <p:nvPr/>
        </p:nvSpPr>
        <p:spPr>
          <a:xfrm>
            <a:off x="6492240" y="3520440"/>
            <a:ext cx="4846320" cy="548640"/>
          </a:xfrm>
          <a:prstGeom prst="roundRect">
            <a:avLst>
              <a:gd name="adj" fmla="val 13333"/>
            </a:avLst>
          </a:prstGeom>
          <a:solidFill>
            <a:srgbClr val="E3F1EF"/>
          </a:solidFill>
          <a:ln w="12700">
            <a:solidFill>
              <a:srgbClr val="E3F1EF"/>
            </a:solidFill>
            <a:prstDash val="solid"/>
          </a:ln>
        </p:spPr>
      </p:sp>
      <p:sp>
        <p:nvSpPr>
          <p:cNvPr id="17" name="Text 13"/>
          <p:cNvSpPr txBox="1"/>
          <p:nvPr/>
        </p:nvSpPr>
        <p:spPr>
          <a:xfrm>
            <a:off x="6629400" y="3520440"/>
            <a:ext cx="4572000" cy="5486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Recall (báo trước) · Precision · F1 · Báo nhầm/ngày</a:t>
            </a:r>
            <a:endParaRPr lang="en-US" sz="1300" dirty="0"/>
          </a:p>
        </p:txBody>
      </p:sp>
      <p:sp>
        <p:nvSpPr>
          <p:cNvPr id="18" name="Shape 14"/>
          <p:cNvSpPr/>
          <p:nvPr/>
        </p:nvSpPr>
        <p:spPr>
          <a:xfrm>
            <a:off x="548640" y="4754880"/>
            <a:ext cx="594360" cy="594360"/>
          </a:xfrm>
          <a:prstGeom prst="ellipse">
            <a:avLst/>
          </a:prstGeom>
          <a:solidFill>
            <a:srgbClr val="F59E0B"/>
          </a:solidFill>
          <a:ln w="12700">
            <a:solidFill>
              <a:srgbClr val="F59E0B"/>
            </a:solidFill>
            <a:prstDash val="solid"/>
          </a:ln>
        </p:spPr>
      </p:sp>
      <p:pic>
        <p:nvPicPr>
          <p:cNvPr id="19" name="Image 2" descr="preencoded.png">    </p:cNvPr>
          <p:cNvPicPr>
            <a:picLocks noChangeAspect="1"/>
          </p:cNvPicPr>
          <p:nvPr/>
        </p:nvPicPr>
        <p:blipFill>
          <a:blip r:embed="rId3"/>
          <a:stretch>
            <a:fillRect/>
          </a:stretch>
        </p:blipFill>
        <p:spPr>
          <a:xfrm>
            <a:off x="679399" y="4885639"/>
            <a:ext cx="332842" cy="332842"/>
          </a:xfrm>
          <a:prstGeom prst="rect">
            <a:avLst/>
          </a:prstGeom>
        </p:spPr>
      </p:pic>
      <p:sp>
        <p:nvSpPr>
          <p:cNvPr id="20" name="Text 15"/>
          <p:cNvSpPr txBox="1"/>
          <p:nvPr/>
        </p:nvSpPr>
        <p:spPr>
          <a:xfrm>
            <a:off x="1325880" y="4709160"/>
            <a:ext cx="2834640"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Mô hình INT8</a:t>
            </a:r>
            <a:endParaRPr lang="en-US" sz="1600" dirty="0"/>
          </a:p>
        </p:txBody>
      </p:sp>
      <p:sp>
        <p:nvSpPr>
          <p:cNvPr id="21" name="Text 16"/>
          <p:cNvSpPr txBox="1"/>
          <p:nvPr/>
        </p:nvSpPr>
        <p:spPr>
          <a:xfrm>
            <a:off x="1325880" y="5074920"/>
            <a:ext cx="28346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Đánh giá đúng phiên bản chạy trên chip</a:t>
            </a:r>
            <a:endParaRPr lang="en-US" sz="1300" dirty="0"/>
          </a:p>
        </p:txBody>
      </p:sp>
      <p:sp>
        <p:nvSpPr>
          <p:cNvPr id="22" name="Shape 17"/>
          <p:cNvSpPr/>
          <p:nvPr/>
        </p:nvSpPr>
        <p:spPr>
          <a:xfrm>
            <a:off x="4297680" y="4754880"/>
            <a:ext cx="594360" cy="594360"/>
          </a:xfrm>
          <a:prstGeom prst="ellipse">
            <a:avLst/>
          </a:prstGeom>
          <a:solidFill>
            <a:srgbClr val="F59E0B"/>
          </a:solidFill>
          <a:ln w="12700">
            <a:solidFill>
              <a:srgbClr val="F59E0B"/>
            </a:solidFill>
            <a:prstDash val="solid"/>
          </a:ln>
        </p:spPr>
      </p:sp>
      <p:pic>
        <p:nvPicPr>
          <p:cNvPr id="23" name="Image 3" descr="preencoded.png">    </p:cNvPr>
          <p:cNvPicPr>
            <a:picLocks noChangeAspect="1"/>
          </p:cNvPicPr>
          <p:nvPr/>
        </p:nvPicPr>
        <p:blipFill>
          <a:blip r:embed="rId4"/>
          <a:stretch>
            <a:fillRect/>
          </a:stretch>
        </p:blipFill>
        <p:spPr>
          <a:xfrm>
            <a:off x="4428439" y="4885639"/>
            <a:ext cx="332842" cy="332842"/>
          </a:xfrm>
          <a:prstGeom prst="rect">
            <a:avLst/>
          </a:prstGeom>
        </p:spPr>
      </p:pic>
      <p:sp>
        <p:nvSpPr>
          <p:cNvPr id="24" name="Text 18"/>
          <p:cNvSpPr txBox="1"/>
          <p:nvPr/>
        </p:nvSpPr>
        <p:spPr>
          <a:xfrm>
            <a:off x="5074920" y="4709160"/>
            <a:ext cx="2834640"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Bootstrap 95%</a:t>
            </a:r>
            <a:endParaRPr lang="en-US" sz="1600" dirty="0"/>
          </a:p>
        </p:txBody>
      </p:sp>
      <p:sp>
        <p:nvSpPr>
          <p:cNvPr id="25" name="Text 19"/>
          <p:cNvSpPr txBox="1"/>
          <p:nvPr/>
        </p:nvSpPr>
        <p:spPr>
          <a:xfrm>
            <a:off x="5074920" y="5074920"/>
            <a:ext cx="28346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1.000 lần lấy mẫu lại theo ngày</a:t>
            </a:r>
            <a:endParaRPr lang="en-US" sz="1300" dirty="0"/>
          </a:p>
        </p:txBody>
      </p:sp>
      <p:sp>
        <p:nvSpPr>
          <p:cNvPr id="26" name="Shape 20"/>
          <p:cNvSpPr/>
          <p:nvPr/>
        </p:nvSpPr>
        <p:spPr>
          <a:xfrm>
            <a:off x="8046720" y="4754880"/>
            <a:ext cx="594360" cy="594360"/>
          </a:xfrm>
          <a:prstGeom prst="ellipse">
            <a:avLst/>
          </a:prstGeom>
          <a:solidFill>
            <a:srgbClr val="F59E0B"/>
          </a:solidFill>
          <a:ln w="12700">
            <a:solidFill>
              <a:srgbClr val="F59E0B"/>
            </a:solidFill>
            <a:prstDash val="solid"/>
          </a:ln>
        </p:spPr>
      </p:sp>
      <p:pic>
        <p:nvPicPr>
          <p:cNvPr id="27" name="Image 4" descr="preencoded.png">    </p:cNvPr>
          <p:cNvPicPr>
            <a:picLocks noChangeAspect="1"/>
          </p:cNvPicPr>
          <p:nvPr/>
        </p:nvPicPr>
        <p:blipFill>
          <a:blip r:embed="rId5"/>
          <a:stretch>
            <a:fillRect/>
          </a:stretch>
        </p:blipFill>
        <p:spPr>
          <a:xfrm>
            <a:off x="8177479" y="4885639"/>
            <a:ext cx="332842" cy="332842"/>
          </a:xfrm>
          <a:prstGeom prst="rect">
            <a:avLst/>
          </a:prstGeom>
        </p:spPr>
      </p:pic>
      <p:sp>
        <p:nvSpPr>
          <p:cNvPr id="28" name="Text 21"/>
          <p:cNvSpPr txBox="1"/>
          <p:nvPr/>
        </p:nvSpPr>
        <p:spPr>
          <a:xfrm>
            <a:off x="8823960" y="4709160"/>
            <a:ext cx="2834640" cy="347472"/>
          </a:xfrm>
          <a:prstGeom prst="rect">
            <a:avLst/>
          </a:prstGeom>
          <a:noFill/>
          <a:ln/>
        </p:spPr>
        <p:txBody>
          <a:bodyPr wrap="square" lIns="0" tIns="0" rIns="0" bIns="0" rtlCol="0" anchor="ctr"/>
          <a:lstStyle/>
          <a:p>
            <a:pPr indent="0" marL="0">
              <a:buNone/>
            </a:pPr>
            <a:r>
              <a:rPr lang="en-US" sz="1600" b="1" dirty="0">
                <a:solidFill>
                  <a:srgbClr val="1F2937"/>
                </a:solidFill>
                <a:latin typeface="Cambria" pitchFamily="34" charset="0"/>
                <a:ea typeface="Cambria" pitchFamily="34" charset="-122"/>
                <a:cs typeface="Cambria" pitchFamily="34" charset="-120"/>
              </a:rPr>
              <a:t>Kiểm định McNemar</a:t>
            </a:r>
            <a:endParaRPr lang="en-US" sz="1600" dirty="0"/>
          </a:p>
        </p:txBody>
      </p:sp>
      <p:sp>
        <p:nvSpPr>
          <p:cNvPr id="29" name="Text 22"/>
          <p:cNvSpPr txBox="1"/>
          <p:nvPr/>
        </p:nvSpPr>
        <p:spPr>
          <a:xfrm>
            <a:off x="8823960" y="5074920"/>
            <a:ext cx="283464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So sánh cặp AI và ngoại suy từng đợt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Kết quả trên tập kiểm tra (150 ngày)</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Mô hình phân biệt gần như hoàn hảo; hệ thống báo trước phần lớn các đợt</a:t>
            </a:r>
            <a:endParaRPr lang="en-US" sz="1600" dirty="0"/>
          </a:p>
        </p:txBody>
      </p:sp>
      <p:sp>
        <p:nvSpPr>
          <p:cNvPr id="4" name="Shape 2"/>
          <p:cNvSpPr/>
          <p:nvPr/>
        </p:nvSpPr>
        <p:spPr>
          <a:xfrm>
            <a:off x="548640" y="1691640"/>
            <a:ext cx="4114800" cy="1280160"/>
          </a:xfrm>
          <a:prstGeom prst="roundRect">
            <a:avLst>
              <a:gd name="adj" fmla="val 8571"/>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801368"/>
            <a:ext cx="3657600" cy="320040"/>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AUROC</a:t>
            </a:r>
            <a:endParaRPr lang="en-US" sz="1300" dirty="0"/>
          </a:p>
        </p:txBody>
      </p:sp>
      <p:sp>
        <p:nvSpPr>
          <p:cNvPr id="6" name="Text 4"/>
          <p:cNvSpPr txBox="1"/>
          <p:nvPr/>
        </p:nvSpPr>
        <p:spPr>
          <a:xfrm>
            <a:off x="777240" y="2148840"/>
            <a:ext cx="2011680" cy="640080"/>
          </a:xfrm>
          <a:prstGeom prst="rect">
            <a:avLst/>
          </a:prstGeom>
          <a:noFill/>
          <a:ln/>
        </p:spPr>
        <p:txBody>
          <a:bodyPr wrap="square" lIns="0" tIns="0" rIns="0" bIns="0" rtlCol="0" anchor="ctr"/>
          <a:lstStyle/>
          <a:p>
            <a:pPr indent="0" marL="0">
              <a:buNone/>
            </a:pPr>
            <a:r>
              <a:rPr lang="en-US" sz="2800" b="1" dirty="0">
                <a:solidFill>
                  <a:srgbClr val="0F766E"/>
                </a:solidFill>
                <a:latin typeface="Cambria" pitchFamily="34" charset="0"/>
                <a:ea typeface="Cambria" pitchFamily="34" charset="-122"/>
                <a:cs typeface="Cambria" pitchFamily="34" charset="-120"/>
              </a:rPr>
              <a:t>0,996</a:t>
            </a:r>
            <a:pPr indent="0" marL="0">
              <a:buNone/>
            </a:pPr>
            <a:r>
              <a:rPr lang="en-US" sz="1300" b="1" dirty="0">
                <a:solidFill>
                  <a:srgbClr val="64748B"/>
                </a:solidFill>
                <a:latin typeface="Cambria" pitchFamily="34" charset="0"/>
                <a:ea typeface="Cambria" pitchFamily="34" charset="-122"/>
                <a:cs typeface="Cambria" pitchFamily="34" charset="-120"/>
              </a:rPr>
              <a:t>  CO</a:t>
            </a:r>
            <a:endParaRPr lang="en-US" sz="2800" dirty="0"/>
          </a:p>
        </p:txBody>
      </p:sp>
      <p:sp>
        <p:nvSpPr>
          <p:cNvPr id="7" name="Text 5"/>
          <p:cNvSpPr txBox="1"/>
          <p:nvPr/>
        </p:nvSpPr>
        <p:spPr>
          <a:xfrm>
            <a:off x="2651760" y="2148840"/>
            <a:ext cx="2011680" cy="64008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0,993</a:t>
            </a:r>
            <a:pPr indent="0" marL="0">
              <a:buNone/>
            </a:pPr>
            <a:r>
              <a:rPr lang="en-US" sz="1300" b="1" dirty="0">
                <a:solidFill>
                  <a:srgbClr val="64748B"/>
                </a:solidFill>
                <a:latin typeface="Cambria" pitchFamily="34" charset="0"/>
                <a:ea typeface="Cambria" pitchFamily="34" charset="-122"/>
                <a:cs typeface="Cambria" pitchFamily="34" charset="-120"/>
              </a:rPr>
              <a:t>  NO₂</a:t>
            </a:r>
            <a:endParaRPr lang="en-US" sz="2800" dirty="0"/>
          </a:p>
        </p:txBody>
      </p:sp>
      <p:sp>
        <p:nvSpPr>
          <p:cNvPr id="8" name="Shape 6"/>
          <p:cNvSpPr/>
          <p:nvPr/>
        </p:nvSpPr>
        <p:spPr>
          <a:xfrm>
            <a:off x="548640" y="3154680"/>
            <a:ext cx="4114800" cy="1280160"/>
          </a:xfrm>
          <a:prstGeom prst="roundRect">
            <a:avLst>
              <a:gd name="adj" fmla="val 8571"/>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777240" y="3264408"/>
            <a:ext cx="3657600" cy="320040"/>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F1 mô hình</a:t>
            </a:r>
            <a:endParaRPr lang="en-US" sz="1300" dirty="0"/>
          </a:p>
        </p:txBody>
      </p:sp>
      <p:sp>
        <p:nvSpPr>
          <p:cNvPr id="10" name="Text 8"/>
          <p:cNvSpPr txBox="1"/>
          <p:nvPr/>
        </p:nvSpPr>
        <p:spPr>
          <a:xfrm>
            <a:off x="777240" y="3611880"/>
            <a:ext cx="2011680" cy="640080"/>
          </a:xfrm>
          <a:prstGeom prst="rect">
            <a:avLst/>
          </a:prstGeom>
          <a:noFill/>
          <a:ln/>
        </p:spPr>
        <p:txBody>
          <a:bodyPr wrap="square" lIns="0" tIns="0" rIns="0" bIns="0" rtlCol="0" anchor="ctr"/>
          <a:lstStyle/>
          <a:p>
            <a:pPr indent="0" marL="0">
              <a:buNone/>
            </a:pPr>
            <a:r>
              <a:rPr lang="en-US" sz="2800" b="1" dirty="0">
                <a:solidFill>
                  <a:srgbClr val="0F766E"/>
                </a:solidFill>
                <a:latin typeface="Cambria" pitchFamily="34" charset="0"/>
                <a:ea typeface="Cambria" pitchFamily="34" charset="-122"/>
                <a:cs typeface="Cambria" pitchFamily="34" charset="-120"/>
              </a:rPr>
              <a:t>94,3%</a:t>
            </a:r>
            <a:pPr indent="0" marL="0">
              <a:buNone/>
            </a:pPr>
            <a:r>
              <a:rPr lang="en-US" sz="1300" b="1" dirty="0">
                <a:solidFill>
                  <a:srgbClr val="64748B"/>
                </a:solidFill>
                <a:latin typeface="Cambria" pitchFamily="34" charset="0"/>
                <a:ea typeface="Cambria" pitchFamily="34" charset="-122"/>
                <a:cs typeface="Cambria" pitchFamily="34" charset="-120"/>
              </a:rPr>
              <a:t>  CO</a:t>
            </a:r>
            <a:endParaRPr lang="en-US" sz="2800" dirty="0"/>
          </a:p>
        </p:txBody>
      </p:sp>
      <p:sp>
        <p:nvSpPr>
          <p:cNvPr id="11" name="Text 9"/>
          <p:cNvSpPr txBox="1"/>
          <p:nvPr/>
        </p:nvSpPr>
        <p:spPr>
          <a:xfrm>
            <a:off x="2651760" y="3611880"/>
            <a:ext cx="2011680" cy="64008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84,3%</a:t>
            </a:r>
            <a:pPr indent="0" marL="0">
              <a:buNone/>
            </a:pPr>
            <a:r>
              <a:rPr lang="en-US" sz="1300" b="1" dirty="0">
                <a:solidFill>
                  <a:srgbClr val="64748B"/>
                </a:solidFill>
                <a:latin typeface="Cambria" pitchFamily="34" charset="0"/>
                <a:ea typeface="Cambria" pitchFamily="34" charset="-122"/>
                <a:cs typeface="Cambria" pitchFamily="34" charset="-120"/>
              </a:rPr>
              <a:t>  NO₂</a:t>
            </a:r>
            <a:endParaRPr lang="en-US" sz="2800" dirty="0"/>
          </a:p>
        </p:txBody>
      </p:sp>
      <p:sp>
        <p:nvSpPr>
          <p:cNvPr id="12" name="Shape 10"/>
          <p:cNvSpPr/>
          <p:nvPr/>
        </p:nvSpPr>
        <p:spPr>
          <a:xfrm>
            <a:off x="548640" y="4617720"/>
            <a:ext cx="4114800" cy="1280160"/>
          </a:xfrm>
          <a:prstGeom prst="roundRect">
            <a:avLst>
              <a:gd name="adj" fmla="val 8571"/>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4727448"/>
            <a:ext cx="3657600" cy="320040"/>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Báo trước</a:t>
            </a:r>
            <a:endParaRPr lang="en-US" sz="1300" dirty="0"/>
          </a:p>
        </p:txBody>
      </p:sp>
      <p:sp>
        <p:nvSpPr>
          <p:cNvPr id="14" name="Text 12"/>
          <p:cNvSpPr txBox="1"/>
          <p:nvPr/>
        </p:nvSpPr>
        <p:spPr>
          <a:xfrm>
            <a:off x="777240" y="5074920"/>
            <a:ext cx="2011680" cy="640080"/>
          </a:xfrm>
          <a:prstGeom prst="rect">
            <a:avLst/>
          </a:prstGeom>
          <a:noFill/>
          <a:ln/>
        </p:spPr>
        <p:txBody>
          <a:bodyPr wrap="square" lIns="0" tIns="0" rIns="0" bIns="0" rtlCol="0" anchor="ctr"/>
          <a:lstStyle/>
          <a:p>
            <a:pPr indent="0" marL="0">
              <a:buNone/>
            </a:pPr>
            <a:r>
              <a:rPr lang="en-US" sz="2800" b="1" dirty="0">
                <a:solidFill>
                  <a:srgbClr val="0F766E"/>
                </a:solidFill>
                <a:latin typeface="Cambria" pitchFamily="34" charset="0"/>
                <a:ea typeface="Cambria" pitchFamily="34" charset="-122"/>
                <a:cs typeface="Cambria" pitchFamily="34" charset="-120"/>
              </a:rPr>
              <a:t>91,9%</a:t>
            </a:r>
            <a:pPr indent="0" marL="0">
              <a:buNone/>
            </a:pPr>
            <a:r>
              <a:rPr lang="en-US" sz="1300" b="1" dirty="0">
                <a:solidFill>
                  <a:srgbClr val="64748B"/>
                </a:solidFill>
                <a:latin typeface="Cambria" pitchFamily="34" charset="0"/>
                <a:ea typeface="Cambria" pitchFamily="34" charset="-122"/>
                <a:cs typeface="Cambria" pitchFamily="34" charset="-120"/>
              </a:rPr>
              <a:t>  CO</a:t>
            </a:r>
            <a:endParaRPr lang="en-US" sz="2800" dirty="0"/>
          </a:p>
        </p:txBody>
      </p:sp>
      <p:sp>
        <p:nvSpPr>
          <p:cNvPr id="15" name="Text 13"/>
          <p:cNvSpPr txBox="1"/>
          <p:nvPr/>
        </p:nvSpPr>
        <p:spPr>
          <a:xfrm>
            <a:off x="2651760" y="5074920"/>
            <a:ext cx="2011680" cy="640080"/>
          </a:xfrm>
          <a:prstGeom prst="rect">
            <a:avLst/>
          </a:prstGeom>
          <a:noFill/>
          <a:ln/>
        </p:spPr>
        <p:txBody>
          <a:bodyPr wrap="square" lIns="0" tIns="0" rIns="0" bIns="0" rtlCol="0" anchor="ctr"/>
          <a:lstStyle/>
          <a:p>
            <a:pPr indent="0" marL="0">
              <a:buNone/>
            </a:pPr>
            <a:r>
              <a:rPr lang="en-US" sz="2800" b="1" dirty="0">
                <a:solidFill>
                  <a:srgbClr val="F59E0B"/>
                </a:solidFill>
                <a:latin typeface="Cambria" pitchFamily="34" charset="0"/>
                <a:ea typeface="Cambria" pitchFamily="34" charset="-122"/>
                <a:cs typeface="Cambria" pitchFamily="34" charset="-120"/>
              </a:rPr>
              <a:t>100%</a:t>
            </a:r>
            <a:pPr indent="0" marL="0">
              <a:buNone/>
            </a:pPr>
            <a:r>
              <a:rPr lang="en-US" sz="1300" b="1" dirty="0">
                <a:solidFill>
                  <a:srgbClr val="64748B"/>
                </a:solidFill>
                <a:latin typeface="Cambria" pitchFamily="34" charset="0"/>
                <a:ea typeface="Cambria" pitchFamily="34" charset="-122"/>
                <a:cs typeface="Cambria" pitchFamily="34" charset="-120"/>
              </a:rPr>
              <a:t>  NO₂</a:t>
            </a:r>
            <a:endParaRPr lang="en-US" sz="2800" dirty="0"/>
          </a:p>
        </p:txBody>
      </p:sp>
      <p:graphicFrame>
        <p:nvGraphicFramePr>
          <p:cNvPr id="16" name="Chart 0" descr=""/>
          <p:cNvGraphicFramePr/>
          <p:nvPr/>
        </p:nvGraphicFramePr>
        <p:xfrm>
          <a:off x="5029200" y="1645920"/>
          <a:ext cx="6583680" cy="45720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Kết quả trên bộ dữ liệu từ dataset đã công bố</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Sự cố khí thật, khí hậu khác dữ liệu huấn luyện — hệ thống vẫn giữ hiệu quả cao</a:t>
            </a:r>
            <a:endParaRPr lang="en-US" sz="1600" dirty="0"/>
          </a:p>
        </p:txBody>
      </p:sp>
      <p:graphicFrame>
        <p:nvGraphicFramePr>
          <p:cNvPr id="4" name="Chart 0" descr=""/>
          <p:cNvGraphicFramePr/>
          <p:nvPr/>
        </p:nvGraphicFramePr>
        <p:xfrm>
          <a:off x="548640" y="1645920"/>
          <a:ext cx="60350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783080"/>
            <a:ext cx="2194560" cy="19202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132320" y="2057400"/>
            <a:ext cx="1874520" cy="73152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94,2%</a:t>
            </a:r>
            <a:endParaRPr lang="en-US" sz="3400" dirty="0"/>
          </a:p>
        </p:txBody>
      </p:sp>
      <p:sp>
        <p:nvSpPr>
          <p:cNvPr id="7" name="Text 4"/>
          <p:cNvSpPr txBox="1"/>
          <p:nvPr/>
        </p:nvSpPr>
        <p:spPr>
          <a:xfrm>
            <a:off x="7132320" y="2788920"/>
            <a:ext cx="187452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đợt CO được báo trước</a:t>
            </a:r>
            <a:endParaRPr lang="en-US" sz="1300" dirty="0"/>
          </a:p>
        </p:txBody>
      </p:sp>
      <p:sp>
        <p:nvSpPr>
          <p:cNvPr id="8" name="Shape 5"/>
          <p:cNvSpPr/>
          <p:nvPr/>
        </p:nvSpPr>
        <p:spPr>
          <a:xfrm>
            <a:off x="9326880" y="1783080"/>
            <a:ext cx="2194560" cy="19202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9509760" y="2057400"/>
            <a:ext cx="1874520" cy="73152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88,2%</a:t>
            </a:r>
            <a:endParaRPr lang="en-US" sz="3400" dirty="0"/>
          </a:p>
        </p:txBody>
      </p:sp>
      <p:sp>
        <p:nvSpPr>
          <p:cNvPr id="10" name="Text 7"/>
          <p:cNvSpPr txBox="1"/>
          <p:nvPr/>
        </p:nvSpPr>
        <p:spPr>
          <a:xfrm>
            <a:off x="9509760" y="2788920"/>
            <a:ext cx="187452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F1-score theo đợt với CO</a:t>
            </a:r>
            <a:endParaRPr lang="en-US" sz="1300" dirty="0"/>
          </a:p>
        </p:txBody>
      </p:sp>
      <p:sp>
        <p:nvSpPr>
          <p:cNvPr id="11" name="Shape 8"/>
          <p:cNvSpPr/>
          <p:nvPr/>
        </p:nvSpPr>
        <p:spPr>
          <a:xfrm>
            <a:off x="6949440" y="3931920"/>
            <a:ext cx="2194560" cy="19202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7132320" y="4206240"/>
            <a:ext cx="1874520" cy="731520"/>
          </a:xfrm>
          <a:prstGeom prst="rect">
            <a:avLst/>
          </a:prstGeom>
          <a:noFill/>
          <a:ln/>
        </p:spPr>
        <p:txBody>
          <a:bodyPr wrap="square" lIns="0" tIns="0" rIns="0" bIns="0" rtlCol="0" anchor="ctr"/>
          <a:lstStyle/>
          <a:p>
            <a:pPr indent="0" marL="0">
              <a:buNone/>
            </a:pPr>
            <a:r>
              <a:rPr lang="en-US" sz="3400" b="1" dirty="0">
                <a:solidFill>
                  <a:srgbClr val="F59E0B"/>
                </a:solidFill>
                <a:latin typeface="Cambria" pitchFamily="34" charset="0"/>
                <a:ea typeface="Cambria" pitchFamily="34" charset="-122"/>
                <a:cs typeface="Cambria" pitchFamily="34" charset="-120"/>
              </a:rPr>
              <a:t>100%</a:t>
            </a:r>
            <a:endParaRPr lang="en-US" sz="3400" dirty="0"/>
          </a:p>
        </p:txBody>
      </p:sp>
      <p:sp>
        <p:nvSpPr>
          <p:cNvPr id="13" name="Text 10"/>
          <p:cNvSpPr txBox="1"/>
          <p:nvPr/>
        </p:nvSpPr>
        <p:spPr>
          <a:xfrm>
            <a:off x="7132320" y="4937760"/>
            <a:ext cx="187452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đợt NO₂ được báo trước — không bỏ sót</a:t>
            </a:r>
            <a:endParaRPr lang="en-US" sz="1300" dirty="0"/>
          </a:p>
        </p:txBody>
      </p:sp>
      <p:sp>
        <p:nvSpPr>
          <p:cNvPr id="14" name="Shape 11"/>
          <p:cNvSpPr/>
          <p:nvPr/>
        </p:nvSpPr>
        <p:spPr>
          <a:xfrm>
            <a:off x="9326880" y="3931920"/>
            <a:ext cx="2194560" cy="1920240"/>
          </a:xfrm>
          <a:prstGeom prst="roundRect">
            <a:avLst>
              <a:gd name="adj" fmla="val 5714"/>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9509760" y="4206240"/>
            <a:ext cx="1874520" cy="731520"/>
          </a:xfrm>
          <a:prstGeom prst="rect">
            <a:avLst/>
          </a:prstGeom>
          <a:noFill/>
          <a:ln/>
        </p:spPr>
        <p:txBody>
          <a:bodyPr wrap="square" lIns="0" tIns="0" rIns="0" bIns="0" rtlCol="0" anchor="ctr"/>
          <a:lstStyle/>
          <a:p>
            <a:pPr indent="0" marL="0">
              <a:buNone/>
            </a:pPr>
            <a:r>
              <a:rPr lang="en-US" sz="3400" b="1" dirty="0">
                <a:solidFill>
                  <a:srgbClr val="F59E0B"/>
                </a:solidFill>
                <a:latin typeface="Cambria" pitchFamily="34" charset="0"/>
                <a:ea typeface="Cambria" pitchFamily="34" charset="-122"/>
                <a:cs typeface="Cambria" pitchFamily="34" charset="-120"/>
              </a:rPr>
              <a:t>×7,0</a:t>
            </a:r>
            <a:endParaRPr lang="en-US" sz="3400" dirty="0"/>
          </a:p>
        </p:txBody>
      </p:sp>
      <p:sp>
        <p:nvSpPr>
          <p:cNvPr id="16" name="Text 13"/>
          <p:cNvSpPr txBox="1"/>
          <p:nvPr/>
        </p:nvSpPr>
        <p:spPr>
          <a:xfrm>
            <a:off x="9509760" y="4937760"/>
            <a:ext cx="1874520" cy="54864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số đợt CO báo trước so với luật truyền thống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AI mang lại giá trị có ý nghĩa thống kê</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So sánh cặp từng đợt CO giữa mô hình AI và phương pháp ngoại suy (kiểm định McNemar)</a:t>
            </a:r>
            <a:endParaRPr lang="en-US" sz="1600" dirty="0"/>
          </a:p>
        </p:txBody>
      </p:sp>
      <p:sp>
        <p:nvSpPr>
          <p:cNvPr id="4" name="Shape 2"/>
          <p:cNvSpPr/>
          <p:nvPr/>
        </p:nvSpPr>
        <p:spPr>
          <a:xfrm>
            <a:off x="548640" y="1737360"/>
            <a:ext cx="3383280" cy="3840480"/>
          </a:xfrm>
          <a:prstGeom prst="roundRect">
            <a:avLst>
              <a:gd name="adj" fmla="val 3243"/>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920240"/>
            <a:ext cx="2834640" cy="365760"/>
          </a:xfrm>
          <a:prstGeom prst="rect">
            <a:avLst/>
          </a:prstGeom>
          <a:noFill/>
          <a:ln/>
        </p:spPr>
        <p:txBody>
          <a:bodyPr wrap="square" lIns="0" tIns="0" rIns="0" bIns="0" rtlCol="0" anchor="ctr"/>
          <a:lstStyle/>
          <a:p>
            <a:pPr indent="0" marL="0">
              <a:buNone/>
            </a:pPr>
            <a:r>
              <a:rPr lang="en-US" sz="1800" b="1" dirty="0">
                <a:solidFill>
                  <a:srgbClr val="1F2937"/>
                </a:solidFill>
                <a:latin typeface="Cambria" pitchFamily="34" charset="0"/>
                <a:ea typeface="Cambria" pitchFamily="34" charset="-122"/>
                <a:cs typeface="Cambria" pitchFamily="34" charset="-120"/>
              </a:rPr>
              <a:t>Tập kiểm tra</a:t>
            </a:r>
            <a:endParaRPr lang="en-US" sz="1800" dirty="0"/>
          </a:p>
        </p:txBody>
      </p:sp>
      <p:sp>
        <p:nvSpPr>
          <p:cNvPr id="6" name="Text 4"/>
          <p:cNvSpPr txBox="1"/>
          <p:nvPr/>
        </p:nvSpPr>
        <p:spPr>
          <a:xfrm>
            <a:off x="822960" y="2423160"/>
            <a:ext cx="1371600" cy="868680"/>
          </a:xfrm>
          <a:prstGeom prst="rect">
            <a:avLst/>
          </a:prstGeom>
          <a:noFill/>
          <a:ln/>
        </p:spPr>
        <p:txBody>
          <a:bodyPr wrap="square" lIns="0" tIns="0" rIns="0" bIns="0" rtlCol="0" anchor="ctr"/>
          <a:lstStyle/>
          <a:p>
            <a:pPr indent="0" marL="0">
              <a:buNone/>
            </a:pPr>
            <a:r>
              <a:rPr lang="en-US" sz="5400" b="1" dirty="0">
                <a:solidFill>
                  <a:srgbClr val="0F766E"/>
                </a:solidFill>
                <a:latin typeface="Cambria" pitchFamily="34" charset="0"/>
                <a:ea typeface="Cambria" pitchFamily="34" charset="-122"/>
                <a:cs typeface="Cambria" pitchFamily="34" charset="-120"/>
              </a:rPr>
              <a:t>21</a:t>
            </a:r>
            <a:endParaRPr lang="en-US" sz="5400" dirty="0"/>
          </a:p>
        </p:txBody>
      </p:sp>
      <p:sp>
        <p:nvSpPr>
          <p:cNvPr id="7" name="Text 5"/>
          <p:cNvSpPr txBox="1"/>
          <p:nvPr/>
        </p:nvSpPr>
        <p:spPr>
          <a:xfrm>
            <a:off x="822960" y="3291840"/>
            <a:ext cx="146304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đợt chỉ AI báo trước</a:t>
            </a:r>
            <a:endParaRPr lang="en-US" sz="1200" dirty="0"/>
          </a:p>
        </p:txBody>
      </p:sp>
      <p:sp>
        <p:nvSpPr>
          <p:cNvPr id="8" name="Text 6"/>
          <p:cNvSpPr txBox="1"/>
          <p:nvPr/>
        </p:nvSpPr>
        <p:spPr>
          <a:xfrm>
            <a:off x="2377440" y="2423160"/>
            <a:ext cx="1371600" cy="868680"/>
          </a:xfrm>
          <a:prstGeom prst="rect">
            <a:avLst/>
          </a:prstGeom>
          <a:noFill/>
          <a:ln/>
        </p:spPr>
        <p:txBody>
          <a:bodyPr wrap="square" lIns="0" tIns="0" rIns="0" bIns="0" rtlCol="0" anchor="ctr"/>
          <a:lstStyle/>
          <a:p>
            <a:pPr indent="0" marL="0">
              <a:buNone/>
            </a:pPr>
            <a:r>
              <a:rPr lang="en-US" sz="5400" b="1" dirty="0">
                <a:solidFill>
                  <a:srgbClr val="94A3B8"/>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2377440" y="3291840"/>
            <a:ext cx="146304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đợt chỉ ngoại suy báo trước</a:t>
            </a:r>
            <a:endParaRPr lang="en-US" sz="1200" dirty="0"/>
          </a:p>
        </p:txBody>
      </p:sp>
      <p:sp>
        <p:nvSpPr>
          <p:cNvPr id="10" name="Shape 8"/>
          <p:cNvSpPr/>
          <p:nvPr/>
        </p:nvSpPr>
        <p:spPr>
          <a:xfrm>
            <a:off x="822960" y="4160520"/>
            <a:ext cx="2834640" cy="685800"/>
          </a:xfrm>
          <a:prstGeom prst="roundRect">
            <a:avLst>
              <a:gd name="adj" fmla="val 10667"/>
            </a:avLst>
          </a:prstGeom>
          <a:solidFill>
            <a:srgbClr val="FEF3C7"/>
          </a:solidFill>
          <a:ln w="12700">
            <a:solidFill>
              <a:srgbClr val="FEF3C7"/>
            </a:solidFill>
            <a:prstDash val="solid"/>
          </a:ln>
        </p:spPr>
      </p:sp>
      <p:sp>
        <p:nvSpPr>
          <p:cNvPr id="11" name="Text 9"/>
          <p:cNvSpPr txBox="1"/>
          <p:nvPr/>
        </p:nvSpPr>
        <p:spPr>
          <a:xfrm>
            <a:off x="822960" y="4160520"/>
            <a:ext cx="2834640" cy="685800"/>
          </a:xfrm>
          <a:prstGeom prst="rect">
            <a:avLst/>
          </a:prstGeom>
          <a:noFill/>
          <a:ln/>
        </p:spPr>
        <p:txBody>
          <a:bodyPr wrap="square" lIns="0" tIns="0" rIns="0" bIns="0" rtlCol="0" anchor="ctr"/>
          <a:lstStyle/>
          <a:p>
            <a:pPr algn="ctr" indent="0" marL="0">
              <a:buNone/>
            </a:pPr>
            <a:r>
              <a:rPr lang="en-US" sz="2200" b="1" dirty="0">
                <a:solidFill>
                  <a:srgbClr val="B45309"/>
                </a:solidFill>
                <a:latin typeface="Cambria" pitchFamily="34" charset="0"/>
                <a:ea typeface="Cambria" pitchFamily="34" charset="-122"/>
                <a:cs typeface="Cambria" pitchFamily="34" charset="-120"/>
              </a:rPr>
              <a:t>p = 6,6·10⁻⁵</a:t>
            </a:r>
            <a:endParaRPr lang="en-US" sz="2200" dirty="0"/>
          </a:p>
        </p:txBody>
      </p:sp>
      <p:sp>
        <p:nvSpPr>
          <p:cNvPr id="12" name="Text 10"/>
          <p:cNvSpPr txBox="1"/>
          <p:nvPr/>
        </p:nvSpPr>
        <p:spPr>
          <a:xfrm>
            <a:off x="822960" y="4983480"/>
            <a:ext cx="2834640" cy="36576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p &lt; 0,001: khác biệt có ý nghĩa</a:t>
            </a:r>
            <a:endParaRPr lang="en-US" sz="1200" dirty="0"/>
          </a:p>
        </p:txBody>
      </p:sp>
      <p:sp>
        <p:nvSpPr>
          <p:cNvPr id="13" name="Shape 11"/>
          <p:cNvSpPr/>
          <p:nvPr/>
        </p:nvSpPr>
        <p:spPr>
          <a:xfrm>
            <a:off x="4206240" y="1737360"/>
            <a:ext cx="3383280" cy="3840480"/>
          </a:xfrm>
          <a:prstGeom prst="roundRect">
            <a:avLst>
              <a:gd name="adj" fmla="val 3243"/>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4480560" y="1920240"/>
            <a:ext cx="2834640" cy="365760"/>
          </a:xfrm>
          <a:prstGeom prst="rect">
            <a:avLst/>
          </a:prstGeom>
          <a:noFill/>
          <a:ln/>
        </p:spPr>
        <p:txBody>
          <a:bodyPr wrap="square" lIns="0" tIns="0" rIns="0" bIns="0" rtlCol="0" anchor="ctr"/>
          <a:lstStyle/>
          <a:p>
            <a:pPr indent="0" marL="0">
              <a:buNone/>
            </a:pPr>
            <a:r>
              <a:rPr lang="en-US" sz="1800" b="1" dirty="0">
                <a:solidFill>
                  <a:srgbClr val="1F2937"/>
                </a:solidFill>
                <a:latin typeface="Cambria" pitchFamily="34" charset="0"/>
                <a:ea typeface="Cambria" pitchFamily="34" charset="-122"/>
                <a:cs typeface="Cambria" pitchFamily="34" charset="-120"/>
              </a:rPr>
              <a:t>Nguồn khí mới (OOD)</a:t>
            </a:r>
            <a:endParaRPr lang="en-US" sz="1800" dirty="0"/>
          </a:p>
        </p:txBody>
      </p:sp>
      <p:sp>
        <p:nvSpPr>
          <p:cNvPr id="15" name="Text 13"/>
          <p:cNvSpPr txBox="1"/>
          <p:nvPr/>
        </p:nvSpPr>
        <p:spPr>
          <a:xfrm>
            <a:off x="4480560" y="2423160"/>
            <a:ext cx="1371600" cy="868680"/>
          </a:xfrm>
          <a:prstGeom prst="rect">
            <a:avLst/>
          </a:prstGeom>
          <a:noFill/>
          <a:ln/>
        </p:spPr>
        <p:txBody>
          <a:bodyPr wrap="square" lIns="0" tIns="0" rIns="0" bIns="0" rtlCol="0" anchor="ctr"/>
          <a:lstStyle/>
          <a:p>
            <a:pPr indent="0" marL="0">
              <a:buNone/>
            </a:pPr>
            <a:r>
              <a:rPr lang="en-US" sz="5400" b="1" dirty="0">
                <a:solidFill>
                  <a:srgbClr val="0F766E"/>
                </a:solidFill>
                <a:latin typeface="Cambria" pitchFamily="34" charset="0"/>
                <a:ea typeface="Cambria" pitchFamily="34" charset="-122"/>
                <a:cs typeface="Cambria" pitchFamily="34" charset="-120"/>
              </a:rPr>
              <a:t>17</a:t>
            </a:r>
            <a:endParaRPr lang="en-US" sz="5400" dirty="0"/>
          </a:p>
        </p:txBody>
      </p:sp>
      <p:sp>
        <p:nvSpPr>
          <p:cNvPr id="16" name="Text 14"/>
          <p:cNvSpPr txBox="1"/>
          <p:nvPr/>
        </p:nvSpPr>
        <p:spPr>
          <a:xfrm>
            <a:off x="4480560" y="3291840"/>
            <a:ext cx="146304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đợt chỉ AI báo trước</a:t>
            </a:r>
            <a:endParaRPr lang="en-US" sz="1200" dirty="0"/>
          </a:p>
        </p:txBody>
      </p:sp>
      <p:sp>
        <p:nvSpPr>
          <p:cNvPr id="17" name="Text 15"/>
          <p:cNvSpPr txBox="1"/>
          <p:nvPr/>
        </p:nvSpPr>
        <p:spPr>
          <a:xfrm>
            <a:off x="6035040" y="2423160"/>
            <a:ext cx="1371600" cy="868680"/>
          </a:xfrm>
          <a:prstGeom prst="rect">
            <a:avLst/>
          </a:prstGeom>
          <a:noFill/>
          <a:ln/>
        </p:spPr>
        <p:txBody>
          <a:bodyPr wrap="square" lIns="0" tIns="0" rIns="0" bIns="0" rtlCol="0" anchor="ctr"/>
          <a:lstStyle/>
          <a:p>
            <a:pPr indent="0" marL="0">
              <a:buNone/>
            </a:pPr>
            <a:r>
              <a:rPr lang="en-US" sz="5400" b="1" dirty="0">
                <a:solidFill>
                  <a:srgbClr val="94A3B8"/>
                </a:solidFill>
                <a:latin typeface="Cambria" pitchFamily="34" charset="0"/>
                <a:ea typeface="Cambria" pitchFamily="34" charset="-122"/>
                <a:cs typeface="Cambria" pitchFamily="34" charset="-120"/>
              </a:rPr>
              <a:t>1</a:t>
            </a:r>
            <a:endParaRPr lang="en-US" sz="5400" dirty="0"/>
          </a:p>
        </p:txBody>
      </p:sp>
      <p:sp>
        <p:nvSpPr>
          <p:cNvPr id="18" name="Text 16"/>
          <p:cNvSpPr txBox="1"/>
          <p:nvPr/>
        </p:nvSpPr>
        <p:spPr>
          <a:xfrm>
            <a:off x="6035040" y="3291840"/>
            <a:ext cx="146304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đợt chỉ ngoại suy báo trước</a:t>
            </a:r>
            <a:endParaRPr lang="en-US" sz="1200" dirty="0"/>
          </a:p>
        </p:txBody>
      </p:sp>
      <p:sp>
        <p:nvSpPr>
          <p:cNvPr id="19" name="Shape 17"/>
          <p:cNvSpPr/>
          <p:nvPr/>
        </p:nvSpPr>
        <p:spPr>
          <a:xfrm>
            <a:off x="4480560" y="4160520"/>
            <a:ext cx="2834640" cy="685800"/>
          </a:xfrm>
          <a:prstGeom prst="roundRect">
            <a:avLst>
              <a:gd name="adj" fmla="val 10667"/>
            </a:avLst>
          </a:prstGeom>
          <a:solidFill>
            <a:srgbClr val="FEF3C7"/>
          </a:solidFill>
          <a:ln w="12700">
            <a:solidFill>
              <a:srgbClr val="FEF3C7"/>
            </a:solidFill>
            <a:prstDash val="solid"/>
          </a:ln>
        </p:spPr>
      </p:sp>
      <p:sp>
        <p:nvSpPr>
          <p:cNvPr id="20" name="Text 18"/>
          <p:cNvSpPr txBox="1"/>
          <p:nvPr/>
        </p:nvSpPr>
        <p:spPr>
          <a:xfrm>
            <a:off x="4480560" y="4160520"/>
            <a:ext cx="2834640" cy="685800"/>
          </a:xfrm>
          <a:prstGeom prst="rect">
            <a:avLst/>
          </a:prstGeom>
          <a:noFill/>
          <a:ln/>
        </p:spPr>
        <p:txBody>
          <a:bodyPr wrap="square" lIns="0" tIns="0" rIns="0" bIns="0" rtlCol="0" anchor="ctr"/>
          <a:lstStyle/>
          <a:p>
            <a:pPr algn="ctr" indent="0" marL="0">
              <a:buNone/>
            </a:pPr>
            <a:r>
              <a:rPr lang="en-US" sz="2200" b="1" dirty="0">
                <a:solidFill>
                  <a:srgbClr val="B45309"/>
                </a:solidFill>
                <a:latin typeface="Cambria" pitchFamily="34" charset="0"/>
                <a:ea typeface="Cambria" pitchFamily="34" charset="-122"/>
                <a:cs typeface="Cambria" pitchFamily="34" charset="-120"/>
              </a:rPr>
              <a:t>p = 1,4·10⁻⁴</a:t>
            </a:r>
            <a:endParaRPr lang="en-US" sz="2200" dirty="0"/>
          </a:p>
        </p:txBody>
      </p:sp>
      <p:sp>
        <p:nvSpPr>
          <p:cNvPr id="21" name="Text 19"/>
          <p:cNvSpPr txBox="1"/>
          <p:nvPr/>
        </p:nvSpPr>
        <p:spPr>
          <a:xfrm>
            <a:off x="4480560" y="4983480"/>
            <a:ext cx="2834640" cy="365760"/>
          </a:xfrm>
          <a:prstGeom prst="rect">
            <a:avLst/>
          </a:prstGeom>
          <a:noFill/>
          <a:ln/>
        </p:spPr>
        <p:txBody>
          <a:bodyPr wrap="square" lIns="0" tIns="0" rIns="0" bIns="0"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p &lt; 0,001: khác biệt có ý nghĩa</a:t>
            </a:r>
            <a:endParaRPr lang="en-US" sz="1200" dirty="0"/>
          </a:p>
        </p:txBody>
      </p:sp>
      <p:sp>
        <p:nvSpPr>
          <p:cNvPr id="22" name="Shape 20"/>
          <p:cNvSpPr/>
          <p:nvPr/>
        </p:nvSpPr>
        <p:spPr>
          <a:xfrm>
            <a:off x="7863840" y="1737360"/>
            <a:ext cx="3749040" cy="3840480"/>
          </a:xfrm>
          <a:prstGeom prst="roundRect">
            <a:avLst>
              <a:gd name="adj" fmla="val 2927"/>
            </a:avLst>
          </a:prstGeom>
          <a:solidFill>
            <a:srgbClr val="0E3B43"/>
          </a:solidFill>
          <a:ln w="9525">
            <a:solidFill>
              <a:srgbClr val="0E3B43"/>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8138160" y="1920240"/>
            <a:ext cx="320040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Kết hợp tối ưu</a:t>
            </a:r>
            <a:endParaRPr lang="en-US" sz="1800" dirty="0"/>
          </a:p>
        </p:txBody>
      </p:sp>
      <p:sp>
        <p:nvSpPr>
          <p:cNvPr id="24" name="Text 22"/>
          <p:cNvSpPr txBox="1"/>
          <p:nvPr/>
        </p:nvSpPr>
        <p:spPr>
          <a:xfrm>
            <a:off x="8138160" y="2331720"/>
            <a:ext cx="3200400" cy="914400"/>
          </a:xfrm>
          <a:prstGeom prst="rect">
            <a:avLst/>
          </a:prstGeom>
          <a:noFill/>
          <a:ln/>
        </p:spPr>
        <p:txBody>
          <a:bodyPr wrap="square" lIns="0" tIns="0" rIns="0" bIns="0" rtlCol="0" anchor="t"/>
          <a:lstStyle/>
          <a:p>
            <a:pPr indent="0" marL="0">
              <a:buNone/>
            </a:pPr>
            <a:r>
              <a:rPr lang="en-US" sz="1300" dirty="0">
                <a:solidFill>
                  <a:srgbClr val="CFE3E1"/>
                </a:solidFill>
                <a:latin typeface="Calibri" pitchFamily="34" charset="0"/>
                <a:ea typeface="Calibri" pitchFamily="34" charset="-122"/>
                <a:cs typeface="Calibri" pitchFamily="34" charset="-120"/>
              </a:rPr>
              <a:t>AI và ngoại suy phát hiện những nhóm đợt khác nhau. Kết hợp cả hai trên dataset công bố:</a:t>
            </a:r>
            <a:endParaRPr lang="en-US" sz="1300" dirty="0"/>
          </a:p>
        </p:txBody>
      </p:sp>
      <p:sp>
        <p:nvSpPr>
          <p:cNvPr id="25" name="Text 23"/>
          <p:cNvSpPr txBox="1"/>
          <p:nvPr/>
        </p:nvSpPr>
        <p:spPr>
          <a:xfrm>
            <a:off x="8138160" y="3383280"/>
            <a:ext cx="3200400" cy="548640"/>
          </a:xfrm>
          <a:prstGeom prst="rect">
            <a:avLst/>
          </a:prstGeom>
          <a:noFill/>
          <a:ln/>
        </p:spPr>
        <p:txBody>
          <a:bodyPr wrap="square" lIns="0" tIns="0" rIns="0" bIns="0" rtlCol="0" anchor="ctr"/>
          <a:lstStyle/>
          <a:p>
            <a:pPr indent="0" marL="0">
              <a:buNone/>
            </a:pPr>
            <a:r>
              <a:rPr lang="en-US" sz="3000" b="1" dirty="0">
                <a:solidFill>
                  <a:srgbClr val="94A3B8"/>
                </a:solidFill>
                <a:latin typeface="Cambria" pitchFamily="34" charset="0"/>
                <a:ea typeface="Cambria" pitchFamily="34" charset="-122"/>
                <a:cs typeface="Cambria" pitchFamily="34" charset="-120"/>
              </a:rPr>
              <a:t>78,8%</a:t>
            </a:r>
            <a:endParaRPr lang="en-US" sz="3000" dirty="0"/>
          </a:p>
        </p:txBody>
      </p:sp>
      <p:sp>
        <p:nvSpPr>
          <p:cNvPr id="26" name="Text 24"/>
          <p:cNvSpPr txBox="1"/>
          <p:nvPr/>
        </p:nvSpPr>
        <p:spPr>
          <a:xfrm>
            <a:off x="8138160" y="3886200"/>
            <a:ext cx="3200400" cy="274320"/>
          </a:xfrm>
          <a:prstGeom prst="rect">
            <a:avLst/>
          </a:prstGeom>
          <a:noFill/>
          <a:ln/>
        </p:spPr>
        <p:txBody>
          <a:bodyPr wrap="square" lIns="0" tIns="0" rIns="0" bIns="0" rtlCol="0" anchor="ctr"/>
          <a:lstStyle/>
          <a:p>
            <a:pPr indent="0" marL="0">
              <a:buNone/>
            </a:pPr>
            <a:r>
              <a:rPr lang="en-US" sz="1200" dirty="0">
                <a:solidFill>
                  <a:srgbClr val="CFE3E1"/>
                </a:solidFill>
                <a:latin typeface="Calibri" pitchFamily="34" charset="0"/>
                <a:ea typeface="Calibri" pitchFamily="34" charset="-122"/>
                <a:cs typeface="Calibri" pitchFamily="34" charset="-120"/>
              </a:rPr>
              <a:t>chỉ ngoại suy</a:t>
            </a:r>
            <a:endParaRPr lang="en-US" sz="1200" dirty="0"/>
          </a:p>
        </p:txBody>
      </p:sp>
      <p:sp>
        <p:nvSpPr>
          <p:cNvPr id="27" name="Text 25"/>
          <p:cNvSpPr txBox="1"/>
          <p:nvPr/>
        </p:nvSpPr>
        <p:spPr>
          <a:xfrm>
            <a:off x="8138160" y="4297680"/>
            <a:ext cx="3200400" cy="640080"/>
          </a:xfrm>
          <a:prstGeom prst="rect">
            <a:avLst/>
          </a:prstGeom>
          <a:noFill/>
          <a:ln/>
        </p:spPr>
        <p:txBody>
          <a:bodyPr wrap="square" lIns="0" tIns="0" rIns="0" bIns="0" rtlCol="0" anchor="ctr"/>
          <a:lstStyle/>
          <a:p>
            <a:pPr indent="0" marL="0">
              <a:buNone/>
            </a:pPr>
            <a:r>
              <a:rPr lang="en-US" sz="4000" b="1" dirty="0">
                <a:solidFill>
                  <a:srgbClr val="F59E0B"/>
                </a:solidFill>
                <a:latin typeface="Cambria" pitchFamily="34" charset="0"/>
                <a:ea typeface="Cambria" pitchFamily="34" charset="-122"/>
                <a:cs typeface="Cambria" pitchFamily="34" charset="-120"/>
              </a:rPr>
              <a:t>94,2%</a:t>
            </a:r>
            <a:endParaRPr lang="en-US" sz="4000" dirty="0"/>
          </a:p>
        </p:txBody>
      </p:sp>
      <p:sp>
        <p:nvSpPr>
          <p:cNvPr id="28" name="Text 26"/>
          <p:cNvSpPr txBox="1"/>
          <p:nvPr/>
        </p:nvSpPr>
        <p:spPr>
          <a:xfrm>
            <a:off x="8138160" y="4937760"/>
            <a:ext cx="3200400" cy="274320"/>
          </a:xfrm>
          <a:prstGeom prst="rect">
            <a:avLst/>
          </a:prstGeom>
          <a:noFill/>
          <a:ln/>
        </p:spPr>
        <p:txBody>
          <a:bodyPr wrap="square" lIns="0" tIns="0" rIns="0" bIns="0" rtlCol="0" anchor="ctr"/>
          <a:lstStyle/>
          <a:p>
            <a:pPr indent="0" marL="0">
              <a:buNone/>
            </a:pPr>
            <a:r>
              <a:rPr lang="en-US" sz="1200" dirty="0">
                <a:solidFill>
                  <a:srgbClr val="CFE3E1"/>
                </a:solidFill>
                <a:latin typeface="Calibri" pitchFamily="34" charset="0"/>
                <a:ea typeface="Calibri" pitchFamily="34" charset="-122"/>
                <a:cs typeface="Calibri" pitchFamily="34" charset="-120"/>
              </a:rPr>
              <a:t>AI + ngoại suy + luật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685800"/>
          </a:xfrm>
          <a:prstGeom prst="rect">
            <a:avLst/>
          </a:prstGeom>
          <a:noFill/>
          <a:ln/>
        </p:spPr>
        <p:txBody>
          <a:bodyPr wrap="square" lIns="0" tIns="0" rIns="0" bIns="0" rtlCol="0" anchor="ctr"/>
          <a:lstStyle/>
          <a:p>
            <a:pPr indent="0" marL="0">
              <a:buNone/>
            </a:pPr>
            <a:r>
              <a:rPr lang="en-US" sz="3200" b="1" dirty="0">
                <a:solidFill>
                  <a:srgbClr val="0E3B43"/>
                </a:solidFill>
                <a:latin typeface="Cambria" pitchFamily="34" charset="0"/>
                <a:ea typeface="Cambria" pitchFamily="34" charset="-122"/>
                <a:cs typeface="Cambria" pitchFamily="34" charset="-120"/>
              </a:rPr>
              <a:t>Triển khai trên ESP32-S3</a:t>
            </a:r>
            <a:endParaRPr lang="en-US" sz="3200" dirty="0"/>
          </a:p>
        </p:txBody>
      </p:sp>
      <p:sp>
        <p:nvSpPr>
          <p:cNvPr id="3" name="Text 1"/>
          <p:cNvSpPr txBox="1"/>
          <p:nvPr/>
        </p:nvSpPr>
        <p:spPr>
          <a:xfrm>
            <a:off x="548640" y="1024128"/>
            <a:ext cx="11094415" cy="365760"/>
          </a:xfrm>
          <a:prstGeom prst="rect">
            <a:avLst/>
          </a:prstGeom>
          <a:noFill/>
          <a:ln/>
        </p:spPr>
        <p:txBody>
          <a:bodyPr wrap="square" lIns="0" tIns="0" rIns="0" bIns="0" rtlCol="0" anchor="ctr"/>
          <a:lstStyle/>
          <a:p>
            <a:pPr indent="0" marL="0">
              <a:buNone/>
            </a:pPr>
            <a:r>
              <a:rPr lang="en-US" sz="1600" dirty="0">
                <a:solidFill>
                  <a:srgbClr val="64748B"/>
                </a:solidFill>
                <a:latin typeface="Calibri" pitchFamily="34" charset="0"/>
                <a:ea typeface="Calibri" pitchFamily="34" charset="-122"/>
                <a:cs typeface="Calibri" pitchFamily="34" charset="-120"/>
              </a:rPr>
              <a:t>Kiểm chứng trên bo mạch thật: kết quả trùng khớp mô hình gốc</a:t>
            </a:r>
            <a:endParaRPr lang="en-US" sz="1600" dirty="0"/>
          </a:p>
        </p:txBody>
      </p:sp>
      <p:sp>
        <p:nvSpPr>
          <p:cNvPr id="4" name="Shape 2"/>
          <p:cNvSpPr/>
          <p:nvPr/>
        </p:nvSpPr>
        <p:spPr>
          <a:xfrm>
            <a:off x="548640" y="1691640"/>
            <a:ext cx="2606040" cy="1188720"/>
          </a:xfrm>
          <a:prstGeom prst="roundRect">
            <a:avLst>
              <a:gd name="adj" fmla="val 9231"/>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920240"/>
            <a:ext cx="640080" cy="640080"/>
          </a:xfrm>
          <a:prstGeom prst="ellipse">
            <a:avLst/>
          </a:prstGeom>
          <a:solidFill>
            <a:srgbClr val="0F766E"/>
          </a:solidFill>
          <a:ln w="12700">
            <a:solidFill>
              <a:srgbClr val="0F766E"/>
            </a:solidFill>
            <a:prstDash val="solid"/>
          </a:ln>
        </p:spPr>
      </p:sp>
      <p:pic>
        <p:nvPicPr>
          <p:cNvPr id="6" name="Image 0" descr="preencoded.png">    </p:cNvPr>
          <p:cNvPicPr>
            <a:picLocks noChangeAspect="1"/>
          </p:cNvPicPr>
          <p:nvPr/>
        </p:nvPicPr>
        <p:blipFill>
          <a:blip r:embed="rId1"/>
          <a:stretch>
            <a:fillRect/>
          </a:stretch>
        </p:blipFill>
        <p:spPr>
          <a:xfrm>
            <a:off x="918058" y="2061058"/>
            <a:ext cx="358445" cy="358445"/>
          </a:xfrm>
          <a:prstGeom prst="rect">
            <a:avLst/>
          </a:prstGeom>
        </p:spPr>
      </p:pic>
      <p:sp>
        <p:nvSpPr>
          <p:cNvPr id="7" name="Text 4"/>
          <p:cNvSpPr txBox="1"/>
          <p:nvPr/>
        </p:nvSpPr>
        <p:spPr>
          <a:xfrm>
            <a:off x="1554480" y="1828800"/>
            <a:ext cx="1554480" cy="59436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20,9 KB</a:t>
            </a:r>
            <a:endParaRPr lang="en-US" sz="2800" dirty="0"/>
          </a:p>
        </p:txBody>
      </p:sp>
      <p:sp>
        <p:nvSpPr>
          <p:cNvPr id="8" name="Text 5"/>
          <p:cNvSpPr txBox="1"/>
          <p:nvPr/>
        </p:nvSpPr>
        <p:spPr>
          <a:xfrm>
            <a:off x="1554480" y="2423160"/>
            <a:ext cx="155448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mô hình INT8</a:t>
            </a:r>
            <a:endParaRPr lang="en-US" sz="1200" dirty="0"/>
          </a:p>
        </p:txBody>
      </p:sp>
      <p:sp>
        <p:nvSpPr>
          <p:cNvPr id="9" name="Shape 6"/>
          <p:cNvSpPr/>
          <p:nvPr/>
        </p:nvSpPr>
        <p:spPr>
          <a:xfrm>
            <a:off x="3355848" y="1691640"/>
            <a:ext cx="2606040" cy="1188720"/>
          </a:xfrm>
          <a:prstGeom prst="roundRect">
            <a:avLst>
              <a:gd name="adj" fmla="val 9231"/>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584448" y="1920240"/>
            <a:ext cx="640080" cy="640080"/>
          </a:xfrm>
          <a:prstGeom prst="ellipse">
            <a:avLst/>
          </a:prstGeom>
          <a:solidFill>
            <a:srgbClr val="0F766E"/>
          </a:solidFill>
          <a:ln w="12700">
            <a:solidFill>
              <a:srgbClr val="0F766E"/>
            </a:solidFill>
            <a:prstDash val="solid"/>
          </a:ln>
        </p:spPr>
      </p:sp>
      <p:pic>
        <p:nvPicPr>
          <p:cNvPr id="11" name="Image 1" descr="preencoded.png">    </p:cNvPr>
          <p:cNvPicPr>
            <a:picLocks noChangeAspect="1"/>
          </p:cNvPicPr>
          <p:nvPr/>
        </p:nvPicPr>
        <p:blipFill>
          <a:blip r:embed="rId2"/>
          <a:stretch>
            <a:fillRect/>
          </a:stretch>
        </p:blipFill>
        <p:spPr>
          <a:xfrm>
            <a:off x="3725266" y="2061058"/>
            <a:ext cx="358445" cy="358445"/>
          </a:xfrm>
          <a:prstGeom prst="rect">
            <a:avLst/>
          </a:prstGeom>
        </p:spPr>
      </p:pic>
      <p:sp>
        <p:nvSpPr>
          <p:cNvPr id="12" name="Text 8"/>
          <p:cNvSpPr txBox="1"/>
          <p:nvPr/>
        </p:nvSpPr>
        <p:spPr>
          <a:xfrm>
            <a:off x="4361688" y="1828800"/>
            <a:ext cx="1554480" cy="59436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 4 ms</a:t>
            </a:r>
            <a:endParaRPr lang="en-US" sz="2800" dirty="0"/>
          </a:p>
        </p:txBody>
      </p:sp>
      <p:sp>
        <p:nvSpPr>
          <p:cNvPr id="13" name="Text 9"/>
          <p:cNvSpPr txBox="1"/>
          <p:nvPr/>
        </p:nvSpPr>
        <p:spPr>
          <a:xfrm>
            <a:off x="4361688" y="2423160"/>
            <a:ext cx="155448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mỗi lần suy luận</a:t>
            </a:r>
            <a:endParaRPr lang="en-US" sz="1200" dirty="0"/>
          </a:p>
        </p:txBody>
      </p:sp>
      <p:sp>
        <p:nvSpPr>
          <p:cNvPr id="14" name="Shape 10"/>
          <p:cNvSpPr/>
          <p:nvPr/>
        </p:nvSpPr>
        <p:spPr>
          <a:xfrm>
            <a:off x="6163056" y="1691640"/>
            <a:ext cx="2606040" cy="1188720"/>
          </a:xfrm>
          <a:prstGeom prst="roundRect">
            <a:avLst>
              <a:gd name="adj" fmla="val 9231"/>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6391656" y="1920240"/>
            <a:ext cx="640080" cy="640080"/>
          </a:xfrm>
          <a:prstGeom prst="ellipse">
            <a:avLst/>
          </a:prstGeom>
          <a:solidFill>
            <a:srgbClr val="0F766E"/>
          </a:solidFill>
          <a:ln w="12700">
            <a:solidFill>
              <a:srgbClr val="0F766E"/>
            </a:solidFill>
            <a:prstDash val="solid"/>
          </a:ln>
        </p:spPr>
      </p:sp>
      <p:pic>
        <p:nvPicPr>
          <p:cNvPr id="16" name="Image 2" descr="preencoded.png">    </p:cNvPr>
          <p:cNvPicPr>
            <a:picLocks noChangeAspect="1"/>
          </p:cNvPicPr>
          <p:nvPr/>
        </p:nvPicPr>
        <p:blipFill>
          <a:blip r:embed="rId3"/>
          <a:stretch>
            <a:fillRect/>
          </a:stretch>
        </p:blipFill>
        <p:spPr>
          <a:xfrm>
            <a:off x="6532474" y="2061058"/>
            <a:ext cx="358445" cy="358445"/>
          </a:xfrm>
          <a:prstGeom prst="rect">
            <a:avLst/>
          </a:prstGeom>
        </p:spPr>
      </p:pic>
      <p:sp>
        <p:nvSpPr>
          <p:cNvPr id="17" name="Text 12"/>
          <p:cNvSpPr txBox="1"/>
          <p:nvPr/>
        </p:nvSpPr>
        <p:spPr>
          <a:xfrm>
            <a:off x="7168896" y="1828800"/>
            <a:ext cx="1554480" cy="59436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7,7 KB</a:t>
            </a:r>
            <a:endParaRPr lang="en-US" sz="2800" dirty="0"/>
          </a:p>
        </p:txBody>
      </p:sp>
      <p:sp>
        <p:nvSpPr>
          <p:cNvPr id="18" name="Text 13"/>
          <p:cNvSpPr txBox="1"/>
          <p:nvPr/>
        </p:nvSpPr>
        <p:spPr>
          <a:xfrm>
            <a:off x="7168896" y="2423160"/>
            <a:ext cx="155448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bộ nhớ tính toán</a:t>
            </a:r>
            <a:endParaRPr lang="en-US" sz="1200" dirty="0"/>
          </a:p>
        </p:txBody>
      </p:sp>
      <p:sp>
        <p:nvSpPr>
          <p:cNvPr id="19" name="Shape 14"/>
          <p:cNvSpPr/>
          <p:nvPr/>
        </p:nvSpPr>
        <p:spPr>
          <a:xfrm>
            <a:off x="8970264" y="1691640"/>
            <a:ext cx="2606040" cy="1188720"/>
          </a:xfrm>
          <a:prstGeom prst="roundRect">
            <a:avLst>
              <a:gd name="adj" fmla="val 9231"/>
            </a:avLst>
          </a:prstGeom>
          <a:solidFill>
            <a:srgbClr val="FFFFFF"/>
          </a:solidFill>
          <a:ln w="9525">
            <a:solidFill>
              <a:srgbClr val="CBD5E1"/>
            </a:solidFill>
            <a:prstDash val="solid"/>
          </a:ln>
          <a:effectLst>
            <a:outerShdw sx="100000" sy="100000" kx="0" ky="0" algn="bl" rotWithShape="0" blurRad="76200" dist="25400" dir="5400000">
              <a:srgbClr val="000000">
                <a:alpha val="12000"/>
              </a:srgbClr>
            </a:outerShdw>
          </a:effectLst>
        </p:spPr>
      </p:sp>
      <p:sp>
        <p:nvSpPr>
          <p:cNvPr id="20" name="Shape 15"/>
          <p:cNvSpPr/>
          <p:nvPr/>
        </p:nvSpPr>
        <p:spPr>
          <a:xfrm>
            <a:off x="9198864" y="1920240"/>
            <a:ext cx="640080" cy="640080"/>
          </a:xfrm>
          <a:prstGeom prst="ellipse">
            <a:avLst/>
          </a:prstGeom>
          <a:solidFill>
            <a:srgbClr val="F59E0B"/>
          </a:solidFill>
          <a:ln w="12700">
            <a:solidFill>
              <a:srgbClr val="F59E0B"/>
            </a:solidFill>
            <a:prstDash val="solid"/>
          </a:ln>
        </p:spPr>
      </p:sp>
      <p:pic>
        <p:nvPicPr>
          <p:cNvPr id="21" name="Image 3" descr="preencoded.png">    </p:cNvPr>
          <p:cNvPicPr>
            <a:picLocks noChangeAspect="1"/>
          </p:cNvPicPr>
          <p:nvPr/>
        </p:nvPicPr>
        <p:blipFill>
          <a:blip r:embed="rId4"/>
          <a:stretch>
            <a:fillRect/>
          </a:stretch>
        </p:blipFill>
        <p:spPr>
          <a:xfrm>
            <a:off x="9339682" y="2061058"/>
            <a:ext cx="358445" cy="358445"/>
          </a:xfrm>
          <a:prstGeom prst="rect">
            <a:avLst/>
          </a:prstGeom>
        </p:spPr>
      </p:pic>
      <p:sp>
        <p:nvSpPr>
          <p:cNvPr id="22" name="Text 16"/>
          <p:cNvSpPr txBox="1"/>
          <p:nvPr/>
        </p:nvSpPr>
        <p:spPr>
          <a:xfrm>
            <a:off x="9976104" y="1828800"/>
            <a:ext cx="1554480" cy="59436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100%</a:t>
            </a:r>
            <a:endParaRPr lang="en-US" sz="2800" dirty="0"/>
          </a:p>
        </p:txBody>
      </p:sp>
      <p:sp>
        <p:nvSpPr>
          <p:cNvPr id="23" name="Text 17"/>
          <p:cNvSpPr txBox="1"/>
          <p:nvPr/>
        </p:nvSpPr>
        <p:spPr>
          <a:xfrm>
            <a:off x="9976104" y="2423160"/>
            <a:ext cx="1554480" cy="548640"/>
          </a:xfrm>
          <a:prstGeom prst="rect">
            <a:avLst/>
          </a:prstGeom>
          <a:noFill/>
          <a:ln/>
        </p:spPr>
        <p:txBody>
          <a:bodyPr wrap="square" lIns="0" tIns="0" rIns="0" bIns="0" rtlCol="0" anchor="t"/>
          <a:lstStyle/>
          <a:p>
            <a:pPr indent="0" marL="0">
              <a:buNone/>
            </a:pPr>
            <a:r>
              <a:rPr lang="en-US" sz="1200" dirty="0">
                <a:solidFill>
                  <a:srgbClr val="64748B"/>
                </a:solidFill>
                <a:latin typeface="Calibri" pitchFamily="34" charset="0"/>
                <a:ea typeface="Calibri" pitchFamily="34" charset="-122"/>
                <a:cs typeface="Calibri" pitchFamily="34" charset="-120"/>
              </a:rPr>
              <a:t>mức cảnh báo khớp</a:t>
            </a:r>
            <a:endParaRPr lang="en-US" sz="1200" dirty="0"/>
          </a:p>
        </p:txBody>
      </p:sp>
      <p:sp>
        <p:nvSpPr>
          <p:cNvPr id="24" name="Text 18"/>
          <p:cNvSpPr txBox="1"/>
          <p:nvPr/>
        </p:nvSpPr>
        <p:spPr>
          <a:xfrm>
            <a:off x="548640" y="3429000"/>
            <a:ext cx="8229600" cy="365760"/>
          </a:xfrm>
          <a:prstGeom prst="rect">
            <a:avLst/>
          </a:prstGeom>
          <a:noFill/>
          <a:ln/>
        </p:spPr>
        <p:txBody>
          <a:bodyPr wrap="square" lIns="0" tIns="0" rIns="0" bIns="0" rtlCol="0" anchor="ctr"/>
          <a:lstStyle/>
          <a:p>
            <a:pPr indent="0" marL="0">
              <a:buNone/>
            </a:pPr>
            <a:r>
              <a:rPr lang="en-US" sz="1700" b="1" dirty="0">
                <a:solidFill>
                  <a:srgbClr val="1F2937"/>
                </a:solidFill>
                <a:latin typeface="Cambria" pitchFamily="34" charset="0"/>
                <a:ea typeface="Cambria" pitchFamily="34" charset="-122"/>
                <a:cs typeface="Cambria" pitchFamily="34" charset="-120"/>
              </a:rPr>
              <a:t>Kịch bản CO chạy trên bo mạch (433/433 bước khớp mô hình gốc)</a:t>
            </a:r>
            <a:endParaRPr lang="en-US" sz="1700" dirty="0"/>
          </a:p>
        </p:txBody>
      </p:sp>
      <p:sp>
        <p:nvSpPr>
          <p:cNvPr id="25" name="Shape 19"/>
          <p:cNvSpPr/>
          <p:nvPr/>
        </p:nvSpPr>
        <p:spPr>
          <a:xfrm>
            <a:off x="822960" y="4846320"/>
            <a:ext cx="10545775" cy="0"/>
          </a:xfrm>
          <a:prstGeom prst="line">
            <a:avLst/>
          </a:prstGeom>
          <a:noFill/>
          <a:ln w="38100">
            <a:solidFill>
              <a:srgbClr val="CBD5E1"/>
            </a:solidFill>
            <a:prstDash val="solid"/>
          </a:ln>
        </p:spPr>
      </p:sp>
      <p:sp>
        <p:nvSpPr>
          <p:cNvPr id="26" name="Shape 20"/>
          <p:cNvSpPr/>
          <p:nvPr/>
        </p:nvSpPr>
        <p:spPr>
          <a:xfrm>
            <a:off x="6681724" y="4791456"/>
            <a:ext cx="1073619" cy="109728"/>
          </a:xfrm>
          <a:prstGeom prst="rect">
            <a:avLst/>
          </a:prstGeom>
          <a:solidFill>
            <a:srgbClr val="F59E0B"/>
          </a:solidFill>
          <a:ln w="12700">
            <a:solidFill>
              <a:srgbClr val="F59E0B"/>
            </a:solidFill>
            <a:prstDash val="solid"/>
          </a:ln>
        </p:spPr>
      </p:sp>
      <p:sp>
        <p:nvSpPr>
          <p:cNvPr id="27" name="Shape 21"/>
          <p:cNvSpPr/>
          <p:nvPr/>
        </p:nvSpPr>
        <p:spPr>
          <a:xfrm>
            <a:off x="694944" y="4718304"/>
            <a:ext cx="256032" cy="256032"/>
          </a:xfrm>
          <a:prstGeom prst="ellipse">
            <a:avLst/>
          </a:prstGeom>
          <a:solidFill>
            <a:srgbClr val="64748B"/>
          </a:solidFill>
          <a:ln w="19050">
            <a:solidFill>
              <a:srgbClr val="FFFFFF"/>
            </a:solidFill>
            <a:prstDash val="solid"/>
          </a:ln>
        </p:spPr>
      </p:sp>
      <p:sp>
        <p:nvSpPr>
          <p:cNvPr id="28" name="Text 22"/>
          <p:cNvSpPr txBox="1"/>
          <p:nvPr/>
        </p:nvSpPr>
        <p:spPr>
          <a:xfrm>
            <a:off x="91440" y="4279392"/>
            <a:ext cx="1463040" cy="320040"/>
          </a:xfrm>
          <a:prstGeom prst="rect">
            <a:avLst/>
          </a:prstGeom>
          <a:noFill/>
          <a:ln/>
        </p:spPr>
        <p:txBody>
          <a:bodyPr wrap="square" lIns="0" tIns="0" rIns="0" bIns="0" rtlCol="0" anchor="ctr"/>
          <a:lstStyle/>
          <a:p>
            <a:pPr algn="ctr" indent="0" marL="0">
              <a:buNone/>
            </a:pPr>
            <a:r>
              <a:rPr lang="en-US" sz="1400" b="1" dirty="0">
                <a:solidFill>
                  <a:srgbClr val="64748B"/>
                </a:solidFill>
                <a:latin typeface="Cambria" pitchFamily="34" charset="0"/>
                <a:ea typeface="Cambria" pitchFamily="34" charset="-122"/>
                <a:cs typeface="Cambria" pitchFamily="34" charset="-120"/>
              </a:rPr>
              <a:t>0:00</a:t>
            </a:r>
            <a:endParaRPr lang="en-US" sz="1400" dirty="0"/>
          </a:p>
        </p:txBody>
      </p:sp>
      <p:sp>
        <p:nvSpPr>
          <p:cNvPr id="29" name="Text 23"/>
          <p:cNvSpPr txBox="1"/>
          <p:nvPr/>
        </p:nvSpPr>
        <p:spPr>
          <a:xfrm>
            <a:off x="0" y="5074920"/>
            <a:ext cx="1645920" cy="3200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Bắt đầu</a:t>
            </a:r>
            <a:endParaRPr lang="en-US" sz="1200" dirty="0"/>
          </a:p>
        </p:txBody>
      </p:sp>
      <p:sp>
        <p:nvSpPr>
          <p:cNvPr id="30" name="Shape 24"/>
          <p:cNvSpPr/>
          <p:nvPr/>
        </p:nvSpPr>
        <p:spPr>
          <a:xfrm>
            <a:off x="5089017" y="4718304"/>
            <a:ext cx="256032" cy="256032"/>
          </a:xfrm>
          <a:prstGeom prst="ellipse">
            <a:avLst/>
          </a:prstGeom>
          <a:solidFill>
            <a:srgbClr val="0F766E"/>
          </a:solidFill>
          <a:ln w="19050">
            <a:solidFill>
              <a:srgbClr val="FFFFFF"/>
            </a:solidFill>
            <a:prstDash val="solid"/>
          </a:ln>
        </p:spPr>
      </p:sp>
      <p:sp>
        <p:nvSpPr>
          <p:cNvPr id="31" name="Text 25"/>
          <p:cNvSpPr txBox="1"/>
          <p:nvPr/>
        </p:nvSpPr>
        <p:spPr>
          <a:xfrm>
            <a:off x="4485513" y="4279392"/>
            <a:ext cx="1463040" cy="320040"/>
          </a:xfrm>
          <a:prstGeom prst="rect">
            <a:avLst/>
          </a:prstGeom>
          <a:noFill/>
          <a:ln/>
        </p:spPr>
        <p:txBody>
          <a:bodyPr wrap="square" lIns="0" tIns="0" rIns="0" bIns="0" rtlCol="0" anchor="ctr"/>
          <a:lstStyle/>
          <a:p>
            <a:pPr algn="ctr" indent="0" marL="0">
              <a:buNone/>
            </a:pPr>
            <a:r>
              <a:rPr lang="en-US" sz="1400" b="1" dirty="0">
                <a:solidFill>
                  <a:srgbClr val="0F766E"/>
                </a:solidFill>
                <a:latin typeface="Cambria" pitchFamily="34" charset="0"/>
                <a:ea typeface="Cambria" pitchFamily="34" charset="-122"/>
                <a:cs typeface="Cambria" pitchFamily="34" charset="-120"/>
              </a:rPr>
              <a:t>30:00</a:t>
            </a:r>
            <a:endParaRPr lang="en-US" sz="1400" dirty="0"/>
          </a:p>
        </p:txBody>
      </p:sp>
      <p:sp>
        <p:nvSpPr>
          <p:cNvPr id="32" name="Text 26"/>
          <p:cNvSpPr txBox="1"/>
          <p:nvPr/>
        </p:nvSpPr>
        <p:spPr>
          <a:xfrm>
            <a:off x="4394073" y="5074920"/>
            <a:ext cx="1645920" cy="3200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AI bắt đầu chạy</a:t>
            </a:r>
            <a:endParaRPr lang="en-US" sz="1200" dirty="0"/>
          </a:p>
        </p:txBody>
      </p:sp>
      <p:sp>
        <p:nvSpPr>
          <p:cNvPr id="33" name="Shape 27"/>
          <p:cNvSpPr/>
          <p:nvPr/>
        </p:nvSpPr>
        <p:spPr>
          <a:xfrm>
            <a:off x="6553708" y="4718304"/>
            <a:ext cx="256032" cy="256032"/>
          </a:xfrm>
          <a:prstGeom prst="ellipse">
            <a:avLst/>
          </a:prstGeom>
          <a:solidFill>
            <a:srgbClr val="F59E0B"/>
          </a:solidFill>
          <a:ln w="19050">
            <a:solidFill>
              <a:srgbClr val="FFFFFF"/>
            </a:solidFill>
            <a:prstDash val="solid"/>
          </a:ln>
        </p:spPr>
      </p:sp>
      <p:sp>
        <p:nvSpPr>
          <p:cNvPr id="34" name="Text 28"/>
          <p:cNvSpPr txBox="1"/>
          <p:nvPr/>
        </p:nvSpPr>
        <p:spPr>
          <a:xfrm>
            <a:off x="5950204" y="4279392"/>
            <a:ext cx="1463040" cy="320040"/>
          </a:xfrm>
          <a:prstGeom prst="rect">
            <a:avLst/>
          </a:prstGeom>
          <a:noFill/>
          <a:ln/>
        </p:spPr>
        <p:txBody>
          <a:bodyPr wrap="square" lIns="0" tIns="0" rIns="0" bIns="0" rtlCol="0" anchor="ctr"/>
          <a:lstStyle/>
          <a:p>
            <a:pPr algn="ctr" indent="0" marL="0">
              <a:buNone/>
            </a:pPr>
            <a:r>
              <a:rPr lang="en-US" sz="1400" b="1" dirty="0">
                <a:solidFill>
                  <a:srgbClr val="F59E0B"/>
                </a:solidFill>
                <a:latin typeface="Cambria" pitchFamily="34" charset="0"/>
                <a:ea typeface="Cambria" pitchFamily="34" charset="-122"/>
                <a:cs typeface="Cambria" pitchFamily="34" charset="-120"/>
              </a:rPr>
              <a:t>40:00</a:t>
            </a:r>
            <a:endParaRPr lang="en-US" sz="1400" dirty="0"/>
          </a:p>
        </p:txBody>
      </p:sp>
      <p:sp>
        <p:nvSpPr>
          <p:cNvPr id="35" name="Text 29"/>
          <p:cNvSpPr txBox="1"/>
          <p:nvPr/>
        </p:nvSpPr>
        <p:spPr>
          <a:xfrm>
            <a:off x="5858764" y="5074920"/>
            <a:ext cx="1645920" cy="3200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Cảnh báo sớm</a:t>
            </a:r>
            <a:endParaRPr lang="en-US" sz="1200" dirty="0"/>
          </a:p>
        </p:txBody>
      </p:sp>
      <p:sp>
        <p:nvSpPr>
          <p:cNvPr id="36" name="Shape 30"/>
          <p:cNvSpPr/>
          <p:nvPr/>
        </p:nvSpPr>
        <p:spPr>
          <a:xfrm>
            <a:off x="7627327" y="4718304"/>
            <a:ext cx="256032" cy="256032"/>
          </a:xfrm>
          <a:prstGeom prst="ellipse">
            <a:avLst/>
          </a:prstGeom>
          <a:solidFill>
            <a:srgbClr val="DC2626"/>
          </a:solidFill>
          <a:ln w="19050">
            <a:solidFill>
              <a:srgbClr val="FFFFFF"/>
            </a:solidFill>
            <a:prstDash val="solid"/>
          </a:ln>
        </p:spPr>
      </p:sp>
      <p:sp>
        <p:nvSpPr>
          <p:cNvPr id="37" name="Text 31"/>
          <p:cNvSpPr txBox="1"/>
          <p:nvPr/>
        </p:nvSpPr>
        <p:spPr>
          <a:xfrm>
            <a:off x="7023823" y="4279392"/>
            <a:ext cx="1463040" cy="320040"/>
          </a:xfrm>
          <a:prstGeom prst="rect">
            <a:avLst/>
          </a:prstGeom>
          <a:noFill/>
          <a:ln/>
        </p:spPr>
        <p:txBody>
          <a:bodyPr wrap="square" lIns="0" tIns="0" rIns="0" bIns="0" rtlCol="0" anchor="ctr"/>
          <a:lstStyle/>
          <a:p>
            <a:pPr algn="ctr" indent="0" marL="0">
              <a:buNone/>
            </a:pPr>
            <a:r>
              <a:rPr lang="en-US" sz="1400" b="1" dirty="0">
                <a:solidFill>
                  <a:srgbClr val="DC2626"/>
                </a:solidFill>
                <a:latin typeface="Cambria" pitchFamily="34" charset="0"/>
                <a:ea typeface="Cambria" pitchFamily="34" charset="-122"/>
                <a:cs typeface="Cambria" pitchFamily="34" charset="-120"/>
              </a:rPr>
              <a:t>47:20</a:t>
            </a:r>
            <a:endParaRPr lang="en-US" sz="1400" dirty="0"/>
          </a:p>
        </p:txBody>
      </p:sp>
      <p:sp>
        <p:nvSpPr>
          <p:cNvPr id="38" name="Text 32"/>
          <p:cNvSpPr txBox="1"/>
          <p:nvPr/>
        </p:nvSpPr>
        <p:spPr>
          <a:xfrm>
            <a:off x="6932383" y="5074920"/>
            <a:ext cx="1645920" cy="3200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Vượt ngưỡng</a:t>
            </a:r>
            <a:endParaRPr lang="en-US" sz="1200" dirty="0"/>
          </a:p>
        </p:txBody>
      </p:sp>
      <p:sp>
        <p:nvSpPr>
          <p:cNvPr id="39" name="Shape 33"/>
          <p:cNvSpPr/>
          <p:nvPr/>
        </p:nvSpPr>
        <p:spPr>
          <a:xfrm>
            <a:off x="11240719" y="4718304"/>
            <a:ext cx="256032" cy="256032"/>
          </a:xfrm>
          <a:prstGeom prst="ellipse">
            <a:avLst/>
          </a:prstGeom>
          <a:solidFill>
            <a:srgbClr val="64748B"/>
          </a:solidFill>
          <a:ln w="19050">
            <a:solidFill>
              <a:srgbClr val="FFFFFF"/>
            </a:solidFill>
            <a:prstDash val="solid"/>
          </a:ln>
        </p:spPr>
      </p:sp>
      <p:sp>
        <p:nvSpPr>
          <p:cNvPr id="40" name="Text 34"/>
          <p:cNvSpPr txBox="1"/>
          <p:nvPr/>
        </p:nvSpPr>
        <p:spPr>
          <a:xfrm>
            <a:off x="10637215" y="4279392"/>
            <a:ext cx="1463040" cy="320040"/>
          </a:xfrm>
          <a:prstGeom prst="rect">
            <a:avLst/>
          </a:prstGeom>
          <a:noFill/>
          <a:ln/>
        </p:spPr>
        <p:txBody>
          <a:bodyPr wrap="square" lIns="0" tIns="0" rIns="0" bIns="0" rtlCol="0" anchor="ctr"/>
          <a:lstStyle/>
          <a:p>
            <a:pPr algn="ctr" indent="0" marL="0">
              <a:buNone/>
            </a:pPr>
            <a:r>
              <a:rPr lang="en-US" sz="1400" b="1" dirty="0">
                <a:solidFill>
                  <a:srgbClr val="64748B"/>
                </a:solidFill>
                <a:latin typeface="Cambria" pitchFamily="34" charset="0"/>
                <a:ea typeface="Cambria" pitchFamily="34" charset="-122"/>
                <a:cs typeface="Cambria" pitchFamily="34" charset="-120"/>
              </a:rPr>
              <a:t>72:00</a:t>
            </a:r>
            <a:endParaRPr lang="en-US" sz="1400" dirty="0"/>
          </a:p>
        </p:txBody>
      </p:sp>
      <p:sp>
        <p:nvSpPr>
          <p:cNvPr id="41" name="Text 35"/>
          <p:cNvSpPr txBox="1"/>
          <p:nvPr/>
        </p:nvSpPr>
        <p:spPr>
          <a:xfrm>
            <a:off x="10545775" y="5074920"/>
            <a:ext cx="1645920" cy="320040"/>
          </a:xfrm>
          <a:prstGeom prst="rect">
            <a:avLst/>
          </a:prstGeom>
          <a:noFill/>
          <a:ln/>
        </p:spPr>
        <p:txBody>
          <a:bodyPr wrap="square" lIns="0" tIns="0" rIns="0" bIns="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Kết thúc</a:t>
            </a:r>
            <a:endParaRPr lang="en-US" sz="1200" dirty="0"/>
          </a:p>
        </p:txBody>
      </p:sp>
      <p:sp>
        <p:nvSpPr>
          <p:cNvPr id="42" name="Text 36"/>
          <p:cNvSpPr txBox="1"/>
          <p:nvPr/>
        </p:nvSpPr>
        <p:spPr>
          <a:xfrm>
            <a:off x="548640" y="5760720"/>
            <a:ext cx="11094415" cy="411480"/>
          </a:xfrm>
          <a:prstGeom prst="rect">
            <a:avLst/>
          </a:prstGeom>
          <a:noFill/>
          <a:ln/>
        </p:spPr>
        <p:txBody>
          <a:bodyPr wrap="square" lIns="0" tIns="0" rIns="0" bIns="0" rtlCol="0" anchor="ctr"/>
          <a:lstStyle/>
          <a:p>
            <a:pPr algn="ctr" indent="0" marL="0">
              <a:buNone/>
            </a:pPr>
            <a:r>
              <a:rPr lang="en-US" sz="1500" i="1" dirty="0">
                <a:solidFill>
                  <a:srgbClr val="B45309"/>
                </a:solidFill>
                <a:latin typeface="Calibri" pitchFamily="34" charset="0"/>
                <a:ea typeface="Calibri" pitchFamily="34" charset="-122"/>
                <a:cs typeface="Calibri" pitchFamily="34" charset="-120"/>
              </a:rPr>
              <a:t>Báo trước 7 phút 20 giây — lúc cảnh báo, STEL mới đạt 40% ngưỡng và luật truyền thống vẫn báo "an toàn"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3B43"/>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Kết luận</a:t>
            </a:r>
            <a:endParaRPr lang="en-US" sz="3800" dirty="0"/>
          </a:p>
        </p:txBody>
      </p:sp>
      <p:sp>
        <p:nvSpPr>
          <p:cNvPr id="3" name="Shape 1"/>
          <p:cNvSpPr/>
          <p:nvPr/>
        </p:nvSpPr>
        <p:spPr>
          <a:xfrm>
            <a:off x="548640" y="1645920"/>
            <a:ext cx="502920" cy="502920"/>
          </a:xfrm>
          <a:prstGeom prst="ellipse">
            <a:avLst/>
          </a:prstGeom>
          <a:solidFill>
            <a:srgbClr val="0F766E"/>
          </a:solidFill>
          <a:ln w="12700">
            <a:solidFill>
              <a:srgbClr val="0F766E"/>
            </a:solidFill>
            <a:prstDash val="solid"/>
          </a:ln>
        </p:spPr>
      </p:sp>
      <p:pic>
        <p:nvPicPr>
          <p:cNvPr id="4" name="Image 0" descr="preencoded.png">    </p:cNvPr>
          <p:cNvPicPr>
            <a:picLocks noChangeAspect="1"/>
          </p:cNvPicPr>
          <p:nvPr/>
        </p:nvPicPr>
        <p:blipFill>
          <a:blip r:embed="rId1"/>
          <a:stretch>
            <a:fillRect/>
          </a:stretch>
        </p:blipFill>
        <p:spPr>
          <a:xfrm>
            <a:off x="659282" y="1756562"/>
            <a:ext cx="281635" cy="281635"/>
          </a:xfrm>
          <a:prstGeom prst="rect">
            <a:avLst/>
          </a:prstGeom>
        </p:spPr>
      </p:pic>
      <p:sp>
        <p:nvSpPr>
          <p:cNvPr id="5" name="Text 2"/>
          <p:cNvSpPr txBox="1"/>
          <p:nvPr/>
        </p:nvSpPr>
        <p:spPr>
          <a:xfrm>
            <a:off x="1280160" y="1645920"/>
            <a:ext cx="64008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Hệ thống cảnh báo sớm CO/NO₂ theo QCVN 03:2019/BYT chạy hoàn toàn trên ESP32-S3</a:t>
            </a:r>
            <a:endParaRPr lang="en-US" sz="1600" dirty="0"/>
          </a:p>
        </p:txBody>
      </p:sp>
      <p:sp>
        <p:nvSpPr>
          <p:cNvPr id="6" name="Shape 3"/>
          <p:cNvSpPr/>
          <p:nvPr/>
        </p:nvSpPr>
        <p:spPr>
          <a:xfrm>
            <a:off x="548640" y="2514600"/>
            <a:ext cx="502920" cy="502920"/>
          </a:xfrm>
          <a:prstGeom prst="ellipse">
            <a:avLst/>
          </a:prstGeom>
          <a:solidFill>
            <a:srgbClr val="0F766E"/>
          </a:solidFill>
          <a:ln w="12700">
            <a:solidFill>
              <a:srgbClr val="0F766E"/>
            </a:solidFill>
            <a:prstDash val="solid"/>
          </a:ln>
        </p:spPr>
      </p:sp>
      <p:pic>
        <p:nvPicPr>
          <p:cNvPr id="7" name="Image 1" descr="preencoded.png">    </p:cNvPr>
          <p:cNvPicPr>
            <a:picLocks noChangeAspect="1"/>
          </p:cNvPicPr>
          <p:nvPr/>
        </p:nvPicPr>
        <p:blipFill>
          <a:blip r:embed="rId2"/>
          <a:stretch>
            <a:fillRect/>
          </a:stretch>
        </p:blipFill>
        <p:spPr>
          <a:xfrm>
            <a:off x="659282" y="2625242"/>
            <a:ext cx="281635" cy="281635"/>
          </a:xfrm>
          <a:prstGeom prst="rect">
            <a:avLst/>
          </a:prstGeom>
        </p:spPr>
      </p:pic>
      <p:sp>
        <p:nvSpPr>
          <p:cNvPr id="8" name="Text 4"/>
          <p:cNvSpPr txBox="1"/>
          <p:nvPr/>
        </p:nvSpPr>
        <p:spPr>
          <a:xfrm>
            <a:off x="1280160" y="2514600"/>
            <a:ext cx="64008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AUROC 0,996 (CO) và 0,993 (NO₂); AI cải thiện có ý nghĩa thống kê (p &lt; 0,001)</a:t>
            </a:r>
            <a:endParaRPr lang="en-US" sz="1600" dirty="0"/>
          </a:p>
        </p:txBody>
      </p:sp>
      <p:sp>
        <p:nvSpPr>
          <p:cNvPr id="9" name="Shape 5"/>
          <p:cNvSpPr/>
          <p:nvPr/>
        </p:nvSpPr>
        <p:spPr>
          <a:xfrm>
            <a:off x="548640" y="3383280"/>
            <a:ext cx="502920" cy="502920"/>
          </a:xfrm>
          <a:prstGeom prst="ellipse">
            <a:avLst/>
          </a:prstGeom>
          <a:solidFill>
            <a:srgbClr val="0F766E"/>
          </a:solidFill>
          <a:ln w="12700">
            <a:solidFill>
              <a:srgbClr val="0F766E"/>
            </a:solidFill>
            <a:prstDash val="solid"/>
          </a:ln>
        </p:spPr>
      </p:sp>
      <p:pic>
        <p:nvPicPr>
          <p:cNvPr id="10" name="Image 2" descr="preencoded.png">    </p:cNvPr>
          <p:cNvPicPr>
            <a:picLocks noChangeAspect="1"/>
          </p:cNvPicPr>
          <p:nvPr/>
        </p:nvPicPr>
        <p:blipFill>
          <a:blip r:embed="rId3"/>
          <a:stretch>
            <a:fillRect/>
          </a:stretch>
        </p:blipFill>
        <p:spPr>
          <a:xfrm>
            <a:off x="659282" y="3493922"/>
            <a:ext cx="281635" cy="281635"/>
          </a:xfrm>
          <a:prstGeom prst="rect">
            <a:avLst/>
          </a:prstGeom>
        </p:spPr>
      </p:pic>
      <p:sp>
        <p:nvSpPr>
          <p:cNvPr id="11" name="Text 6"/>
          <p:cNvSpPr txBox="1"/>
          <p:nvPr/>
        </p:nvSpPr>
        <p:spPr>
          <a:xfrm>
            <a:off x="1280160" y="3383280"/>
            <a:ext cx="64008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Trên dataset công bố: báo trước 94,2% đợt CO và 100% đợt NO₂</a:t>
            </a:r>
            <a:endParaRPr lang="en-US" sz="1600" dirty="0"/>
          </a:p>
        </p:txBody>
      </p:sp>
      <p:sp>
        <p:nvSpPr>
          <p:cNvPr id="12" name="Shape 7"/>
          <p:cNvSpPr/>
          <p:nvPr/>
        </p:nvSpPr>
        <p:spPr>
          <a:xfrm>
            <a:off x="548640" y="4251960"/>
            <a:ext cx="502920" cy="502920"/>
          </a:xfrm>
          <a:prstGeom prst="ellipse">
            <a:avLst/>
          </a:prstGeom>
          <a:solidFill>
            <a:srgbClr val="0F766E"/>
          </a:solidFill>
          <a:ln w="12700">
            <a:solidFill>
              <a:srgbClr val="0F766E"/>
            </a:solidFill>
            <a:prstDash val="solid"/>
          </a:ln>
        </p:spPr>
      </p:sp>
      <p:pic>
        <p:nvPicPr>
          <p:cNvPr id="13" name="Image 3" descr="preencoded.png">    </p:cNvPr>
          <p:cNvPicPr>
            <a:picLocks noChangeAspect="1"/>
          </p:cNvPicPr>
          <p:nvPr/>
        </p:nvPicPr>
        <p:blipFill>
          <a:blip r:embed="rId4"/>
          <a:stretch>
            <a:fillRect/>
          </a:stretch>
        </p:blipFill>
        <p:spPr>
          <a:xfrm>
            <a:off x="659282" y="4362602"/>
            <a:ext cx="281635" cy="281635"/>
          </a:xfrm>
          <a:prstGeom prst="rect">
            <a:avLst/>
          </a:prstGeom>
        </p:spPr>
      </p:pic>
      <p:sp>
        <p:nvSpPr>
          <p:cNvPr id="14" name="Text 8"/>
          <p:cNvSpPr txBox="1"/>
          <p:nvPr/>
        </p:nvSpPr>
        <p:spPr>
          <a:xfrm>
            <a:off x="1280160" y="4251960"/>
            <a:ext cx="6400800"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20,9 KB, 4 ms/lần suy luận, kiểm chứng trùng khớp trên bo mạch thật</a:t>
            </a:r>
            <a:endParaRPr lang="en-US" sz="1600" dirty="0"/>
          </a:p>
        </p:txBody>
      </p:sp>
      <p:sp>
        <p:nvSpPr>
          <p:cNvPr id="15" name="Shape 9"/>
          <p:cNvSpPr/>
          <p:nvPr/>
        </p:nvSpPr>
        <p:spPr>
          <a:xfrm>
            <a:off x="7955280" y="1554480"/>
            <a:ext cx="3657600" cy="4206240"/>
          </a:xfrm>
          <a:prstGeom prst="roundRect">
            <a:avLst>
              <a:gd name="adj" fmla="val 3750"/>
            </a:avLst>
          </a:prstGeom>
          <a:solidFill>
            <a:srgbClr val="134B55"/>
          </a:solidFill>
          <a:ln w="12700">
            <a:solidFill>
              <a:srgbClr val="1D6470"/>
            </a:solidFill>
            <a:prstDash val="solid"/>
          </a:ln>
        </p:spPr>
      </p:sp>
      <p:sp>
        <p:nvSpPr>
          <p:cNvPr id="16" name="Text 10"/>
          <p:cNvSpPr txBox="1"/>
          <p:nvPr/>
        </p:nvSpPr>
        <p:spPr>
          <a:xfrm>
            <a:off x="8229600" y="1783080"/>
            <a:ext cx="3200400" cy="411480"/>
          </a:xfrm>
          <a:prstGeom prst="rect">
            <a:avLst/>
          </a:prstGeom>
          <a:noFill/>
          <a:ln/>
        </p:spPr>
        <p:txBody>
          <a:bodyPr wrap="square" lIns="0" tIns="0" rIns="0" bIns="0" rtlCol="0" anchor="ctr"/>
          <a:lstStyle/>
          <a:p>
            <a:pPr indent="0" marL="0">
              <a:buNone/>
            </a:pPr>
            <a:r>
              <a:rPr lang="en-US" sz="1900" b="1" dirty="0">
                <a:solidFill>
                  <a:srgbClr val="F59E0B"/>
                </a:solidFill>
                <a:latin typeface="Cambria" pitchFamily="34" charset="0"/>
                <a:ea typeface="Cambria" pitchFamily="34" charset="-122"/>
                <a:cs typeface="Cambria" pitchFamily="34" charset="-120"/>
              </a:rPr>
              <a:t>Hướng phát triển</a:t>
            </a:r>
            <a:endParaRPr lang="en-US" sz="1900" dirty="0"/>
          </a:p>
        </p:txBody>
      </p:sp>
      <p:sp>
        <p:nvSpPr>
          <p:cNvPr id="17" name="Text 11"/>
          <p:cNvSpPr txBox="1"/>
          <p:nvPr/>
        </p:nvSpPr>
        <p:spPr>
          <a:xfrm>
            <a:off x="8229600" y="2331720"/>
            <a:ext cx="3200400" cy="32004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Thí nghiệm thực địa với khí chuẩn và máy đo tham chiếu</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Tinh chỉnh ngưỡng NO₂ theo dữ liệu vận hành</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Mở rộng dữ liệu huấn luyện cho khí hậu điều hoà, mùa khô</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Lưu trạng thái cảnh báo lên máy chủ để theo dõi dài hạn</a:t>
            </a:r>
            <a:endParaRPr lang="en-US" sz="1400" dirty="0"/>
          </a:p>
        </p:txBody>
      </p:sp>
      <p:sp>
        <p:nvSpPr>
          <p:cNvPr id="18" name="Text 12"/>
          <p:cNvSpPr txBox="1"/>
          <p:nvPr/>
        </p:nvSpPr>
        <p:spPr>
          <a:xfrm>
            <a:off x="548640" y="5852160"/>
            <a:ext cx="7315200" cy="457200"/>
          </a:xfrm>
          <a:prstGeom prst="rect">
            <a:avLst/>
          </a:prstGeom>
          <a:noFill/>
          <a:ln/>
        </p:spPr>
        <p:txBody>
          <a:bodyPr wrap="square" lIns="0" tIns="0" rIns="0" bIns="0" rtlCol="0" anchor="ctr"/>
          <a:lstStyle/>
          <a:p>
            <a:pPr indent="0" marL="0">
              <a:buNone/>
            </a:pPr>
            <a:r>
              <a:rPr lang="en-US" sz="1800" i="1" dirty="0">
                <a:solidFill>
                  <a:srgbClr val="9FC2BF"/>
                </a:solidFill>
                <a:latin typeface="Cambria" pitchFamily="34" charset="0"/>
                <a:ea typeface="Cambria" pitchFamily="34" charset="-122"/>
                <a:cs typeface="Cambria" pitchFamily="34" charset="-120"/>
              </a:rPr>
              <a:t>Cảm ơn thầy cô và các bạn đã lắng nghe!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Cảnh báo sớm CO/NO₂ bằng Edge AI</dc:title>
  <dc:subject>PptxGenJS Presentation</dc:subject>
  <dc:creator>PptxGenJS</dc:creator>
  <cp:lastModifiedBy>PptxGenJS</cp:lastModifiedBy>
  <cp:revision>1</cp:revision>
  <dcterms:created xsi:type="dcterms:W3CDTF">2026-09-28T02:21:22Z</dcterms:created>
  <dcterms:modified xsi:type="dcterms:W3CDTF">2026-09-28T02:21:22Z</dcterms:modified>
</cp:coreProperties>
</file>